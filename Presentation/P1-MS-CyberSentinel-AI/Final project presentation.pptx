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6" r:id="rId6"/>
    <p:sldId id="260" r:id="rId7"/>
    <p:sldId id="261" r:id="rId8"/>
    <p:sldId id="269" r:id="rId9"/>
    <p:sldId id="262" r:id="rId10"/>
    <p:sldId id="263" r:id="rId11"/>
    <p:sldId id="267" r:id="rId12"/>
    <p:sldId id="264" r:id="rId13"/>
    <p:sldId id="265" r:id="rId14"/>
    <p:sldId id="268" r:id="rId15"/>
  </p:sldIdLst>
  <p:sldSz cx="14630400" cy="8229600"/>
  <p:notesSz cx="8229600" cy="146304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מקטע ברירת מחדל" id="{3E900C0B-7B1C-DA47-A856-AAFE9C916C6A}">
          <p14:sldIdLst>
            <p14:sldId id="256"/>
            <p14:sldId id="257"/>
            <p14:sldId id="258"/>
          </p14:sldIdLst>
        </p14:section>
        <p14:section name="בר" id="{41DDEEF6-4D41-2846-B511-5CB642695BDB}">
          <p14:sldIdLst>
            <p14:sldId id="259"/>
            <p14:sldId id="266"/>
            <p14:sldId id="260"/>
            <p14:sldId id="261"/>
          </p14:sldIdLst>
        </p14:section>
        <p14:section name="סהר" id="{EFA5804D-B443-0D42-948E-9A6C7F429823}">
          <p14:sldIdLst>
            <p14:sldId id="269"/>
            <p14:sldId id="262"/>
            <p14:sldId id="263"/>
            <p14:sldId id="267"/>
          </p14:sldIdLst>
        </p14:section>
        <p14:section name="ביחד" id="{38EC97DD-A330-474D-81EC-D1CB1B29DD2A}">
          <p14:sldIdLst>
            <p14:sldId id="264"/>
            <p14:sldId id="265"/>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15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981"/>
    <p:restoredTop sz="94610"/>
  </p:normalViewPr>
  <p:slideViewPr>
    <p:cSldViewPr snapToGrid="0" snapToObjects="1">
      <p:cViewPr>
        <p:scale>
          <a:sx n="90" d="100"/>
          <a:sy n="90" d="100"/>
        </p:scale>
        <p:origin x="400"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13229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4E00B-16F2-D66A-F872-8242210115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364A4-A9F1-8C68-9877-FEA28631C1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25DB46-4896-ADA4-3CAD-CDE54315CC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C46182-DFD7-EE86-B823-22967E0478B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0249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C0965-2FD0-DFD2-048F-C8221E8EF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C5C98-7D61-A012-2A26-8158753C4A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EBB4D-8429-DB0F-726E-EBF15CA3D5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98AA7D-B1BC-D8A9-9EED-3C5D4F82EE5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21905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D2A76-2BB7-4E76-337D-9C51B2E29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44009-244B-C620-1CE8-ADDE558389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DF9F7-654F-0759-B2D5-DD036EA44B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9EA833-1E12-974B-0D1C-23D86C9A951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46398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1BAEC-B63D-7738-8712-08366A0E1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B9967-3AAC-38FD-A52A-75F376614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4CAF4-89D6-F448-61F4-F049E77811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06072D-72FF-FEEE-E072-F042E4E7647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847095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linkedin.com/in/sahar-haim-yaccov-a3a6ba306/" TargetMode="External"/><Relationship Id="rId5" Type="http://schemas.openxmlformats.org/officeDocument/2006/relationships/hyperlink" Target="https://www.linkedin.com/in/bar--cohen-/" TargetMode="Externa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hyperlink" Target="https://www.linkedin.com/in/bar--cohen-/" TargetMode="External"/><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hyperlink" Target="https://www.linkedin.com/in/sahar-haim-yaccov-a3a6ba306/"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hyperlink" Target="https://www.linkedin.com/in/sahar-haim-yaccov-a3a6ba306/" TargetMode="External"/><Relationship Id="rId5" Type="http://schemas.openxmlformats.org/officeDocument/2006/relationships/hyperlink" Target="https://www.linkedin.com/in/bar--cohen-/"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hyperlink" Target="https://www.linkedin.com/in/sahar-haim-yaccov-a3a6ba306/" TargetMode="External"/><Relationship Id="rId5" Type="http://schemas.openxmlformats.org/officeDocument/2006/relationships/hyperlink" Target="https://www.linkedin.com/in/bar--cohen-/"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hyperlink" Target="https://www.linkedin.com/in/sahar-haim-yaccov-a3a6ba306/" TargetMode="External"/><Relationship Id="rId3" Type="http://schemas.openxmlformats.org/officeDocument/2006/relationships/image" Target="../media/image10.png"/><Relationship Id="rId7" Type="http://schemas.openxmlformats.org/officeDocument/2006/relationships/hyperlink" Target="https://www.linkedin.com/in/bar--cohen-/"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5.png"/><Relationship Id="rId4" Type="http://schemas.microsoft.com/office/2007/relationships/hdphoto" Target="../media/hdphoto1.wdp"/><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hyperlink" Target="https://www.linkedin.com/in/sahar-haim-yaccov-a3a6ba306/"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hyperlink" Target="https://www.linkedin.com/in/bar--cohen-/" TargetMode="External"/><Relationship Id="rId5" Type="http://schemas.openxmlformats.org/officeDocument/2006/relationships/image" Target="../media/image4.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hyperlink" Target="https://www.linkedin.com/in/sahar-haim-yaccov-a3a6ba306/" TargetMode="External"/><Relationship Id="rId5" Type="http://schemas.openxmlformats.org/officeDocument/2006/relationships/hyperlink" Target="https://www.linkedin.com/in/bar--cohen-/" TargetMode="Externa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www.linkedin.com/in/sahar-haim-yaccov-a3a6ba306/" TargetMode="External"/><Relationship Id="rId5" Type="http://schemas.openxmlformats.org/officeDocument/2006/relationships/hyperlink" Target="https://www.linkedin.com/in/bar--cohen-/" TargetMode="External"/><Relationship Id="rId4" Type="http://schemas.openxmlformats.org/officeDocument/2006/relationships/image" Target="../media/image4.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4.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png"/><Relationship Id="rId11" Type="http://schemas.openxmlformats.org/officeDocument/2006/relationships/image" Target="../media/image6.png"/><Relationship Id="rId5" Type="http://schemas.openxmlformats.org/officeDocument/2006/relationships/image" Target="../media/image16.png"/><Relationship Id="rId10" Type="http://schemas.openxmlformats.org/officeDocument/2006/relationships/hyperlink" Target="https://www.linkedin.com/in/sahar-haim-yaccov-a3a6ba306/" TargetMode="External"/><Relationship Id="rId4" Type="http://schemas.openxmlformats.org/officeDocument/2006/relationships/image" Target="../media/image15.png"/><Relationship Id="rId9" Type="http://schemas.openxmlformats.org/officeDocument/2006/relationships/hyperlink" Target="https://www.linkedin.com/in/bar--cohen-/"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hyperlink" Target="https://www.linkedin.com/in/sahar-haim-yaccov-a3a6ba306/"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hyperlink" Target="https://www.linkedin.com/in/bar--cohen-/" TargetMode="External"/><Relationship Id="rId5" Type="http://schemas.openxmlformats.org/officeDocument/2006/relationships/image" Target="../media/image4.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png"/><Relationship Id="rId7" Type="http://schemas.openxmlformats.org/officeDocument/2006/relationships/hyperlink" Target="https://www.linkedin.com/in/sahar-haim-yaccov-a3a6ba306/" TargetMode="External"/><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hyperlink" Target="https://www.linkedin.com/in/bar--cohen-/" TargetMode="External"/><Relationship Id="rId5"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23.png"/><Relationship Id="rId11" Type="http://schemas.openxmlformats.org/officeDocument/2006/relationships/image" Target="../media/image6.png"/><Relationship Id="rId5" Type="http://schemas.openxmlformats.org/officeDocument/2006/relationships/image" Target="../media/image22.png"/><Relationship Id="rId10" Type="http://schemas.openxmlformats.org/officeDocument/2006/relationships/hyperlink" Target="https://www.linkedin.com/in/sahar-haim-yaccov-a3a6ba306/" TargetMode="External"/><Relationship Id="rId4" Type="http://schemas.openxmlformats.org/officeDocument/2006/relationships/image" Target="../media/image21.png"/><Relationship Id="rId9" Type="http://schemas.openxmlformats.org/officeDocument/2006/relationships/hyperlink" Target="https://www.linkedin.com/in/bar--cohen-/"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www.linkedin.com/in/sahar-haim-yaccov-a3a6ba306/" TargetMode="External"/><Relationship Id="rId3" Type="http://schemas.openxmlformats.org/officeDocument/2006/relationships/image" Target="../media/image5.png"/><Relationship Id="rId7" Type="http://schemas.openxmlformats.org/officeDocument/2006/relationships/hyperlink" Target="https://www.linkedin.com/in/bar--cohen-/"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hyperlink" Target="https://public.tableau.com/app/profile/bar.cohen4006/viz/Book1_17535246082780/Dashboard1" TargetMode="External"/><Relationship Id="rId18" Type="http://schemas.openxmlformats.org/officeDocument/2006/relationships/image" Target="../media/image6.png"/><Relationship Id="rId3" Type="http://schemas.openxmlformats.org/officeDocument/2006/relationships/image" Target="../media/image26.png"/><Relationship Id="rId7" Type="http://schemas.openxmlformats.org/officeDocument/2006/relationships/image" Target="../media/image27.png"/><Relationship Id="rId12" Type="http://schemas.openxmlformats.org/officeDocument/2006/relationships/image" Target="../media/image4.png"/><Relationship Id="rId17" Type="http://schemas.openxmlformats.org/officeDocument/2006/relationships/hyperlink" Target="https://www.linkedin.com/in/sahar-haim-yaccov-a3a6ba306/" TargetMode="External"/><Relationship Id="rId2" Type="http://schemas.openxmlformats.org/officeDocument/2006/relationships/notesSlide" Target="../notesSlides/notesSlide14.xml"/><Relationship Id="rId16" Type="http://schemas.openxmlformats.org/officeDocument/2006/relationships/hyperlink" Target="https://www.linkedin.com/in/bar--cohen-/" TargetMode="External"/><Relationship Id="rId1" Type="http://schemas.openxmlformats.org/officeDocument/2006/relationships/slideLayout" Target="../slideLayouts/slideLayout11.xml"/><Relationship Id="rId6" Type="http://schemas.openxmlformats.org/officeDocument/2006/relationships/hyperlink" Target="https://huggingface.co/spaces/sahar-yaccov/Microsoft-Attack" TargetMode="External"/><Relationship Id="rId11" Type="http://schemas.openxmlformats.org/officeDocument/2006/relationships/image" Target="../media/image5.png"/><Relationship Id="rId5" Type="http://schemas.openxmlformats.org/officeDocument/2006/relationships/hyperlink" Target="https://github.com/ss331144/FinalProject-MSFT-AttackAnalysis" TargetMode="External"/><Relationship Id="rId15" Type="http://schemas.openxmlformats.org/officeDocument/2006/relationships/hyperlink" Target="https://public.tableau.com/app/profile/sahar.yacoov/viz/_19_7/Dashboard1" TargetMode="External"/><Relationship Id="rId10" Type="http://schemas.openxmlformats.org/officeDocument/2006/relationships/image" Target="../media/image29.png"/><Relationship Id="rId4" Type="http://schemas.openxmlformats.org/officeDocument/2006/relationships/hyperlink" Target="https://colab.research.google.com/drive/1_VcG-HvtXihENWJ1fWx-U91AwFp6KmUR" TargetMode="External"/><Relationship Id="rId9" Type="http://schemas.openxmlformats.org/officeDocument/2006/relationships/hyperlink" Target="https://huggingface.co/spaces/sahar-yaccov/microsoft-cyber-attack" TargetMode="External"/><Relationship Id="rId1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9" name="תמונה 8">
            <a:extLst>
              <a:ext uri="{FF2B5EF4-FFF2-40B4-BE49-F238E27FC236}">
                <a16:creationId xmlns:a16="http://schemas.microsoft.com/office/drawing/2014/main" id="{44607DE9-49FB-B140-9123-52DEBE774048}"/>
              </a:ext>
            </a:extLst>
          </p:cNvPr>
          <p:cNvPicPr>
            <a:picLocks noChangeAspect="1"/>
          </p:cNvPicPr>
          <p:nvPr/>
        </p:nvPicPr>
        <p:blipFill>
          <a:blip r:embed="rId3"/>
          <a:srcRect l="45045" r="1604"/>
          <a:stretch>
            <a:fillRect/>
          </a:stretch>
        </p:blipFill>
        <p:spPr>
          <a:xfrm>
            <a:off x="0" y="23157"/>
            <a:ext cx="5552689" cy="8206443"/>
          </a:xfrm>
          <a:prstGeom prst="rect">
            <a:avLst/>
          </a:prstGeom>
          <a:ln>
            <a:noFill/>
          </a:ln>
          <a:effectLst>
            <a:softEdge rad="112500"/>
          </a:effectLst>
        </p:spPr>
      </p:pic>
      <p:sp>
        <p:nvSpPr>
          <p:cNvPr id="3" name="Text 0"/>
          <p:cNvSpPr/>
          <p:nvPr/>
        </p:nvSpPr>
        <p:spPr>
          <a:xfrm>
            <a:off x="5329238" y="917753"/>
            <a:ext cx="9301162" cy="1349692"/>
          </a:xfrm>
          <a:prstGeom prst="rect">
            <a:avLst/>
          </a:prstGeom>
          <a:noFill/>
          <a:ln/>
        </p:spPr>
        <p:txBody>
          <a:bodyPr wrap="square" lIns="0" tIns="0" rIns="0" bIns="0" rtlCol="0" anchor="t"/>
          <a:lstStyle/>
          <a:p>
            <a:pPr algn="ctr">
              <a:lnSpc>
                <a:spcPts val="5300"/>
              </a:lnSpc>
            </a:pPr>
            <a:r>
              <a:rPr lang="en-US" sz="5400" b="1" i="1" dirty="0">
                <a:solidFill>
                  <a:schemeClr val="bg1"/>
                </a:solidFill>
                <a:latin typeface="Arial" panose="020B0604020202020204" pitchFamily="34" charset="0"/>
                <a:cs typeface="Arial" panose="020B0604020202020204" pitchFamily="34" charset="0"/>
                <a:sym typeface="Wingdings" pitchFamily="2" charset="2"/>
              </a:rPr>
              <a:t>Final Project</a:t>
            </a:r>
            <a:br>
              <a:rPr lang="en-US" sz="5400" b="1" i="1" dirty="0">
                <a:solidFill>
                  <a:schemeClr val="bg1"/>
                </a:solidFill>
                <a:latin typeface="Arial" panose="020B0604020202020204" pitchFamily="34" charset="0"/>
                <a:cs typeface="Arial" panose="020B0604020202020204" pitchFamily="34" charset="0"/>
                <a:sym typeface="Wingdings" pitchFamily="2" charset="2"/>
              </a:rPr>
            </a:br>
            <a:r>
              <a:rPr lang="he-IL" sz="5400" b="1" i="1" dirty="0">
                <a:solidFill>
                  <a:schemeClr val="bg1"/>
                </a:solidFill>
                <a:latin typeface="Arial" panose="020B0604020202020204" pitchFamily="34" charset="0"/>
                <a:cs typeface="Arial" panose="020B0604020202020204" pitchFamily="34" charset="0"/>
              </a:rPr>
              <a:t>חיזוי התקפות סייבר במיקרוסופט</a:t>
            </a:r>
            <a:endParaRPr lang="en-US" sz="5400" b="1" i="1" dirty="0">
              <a:solidFill>
                <a:schemeClr val="bg1"/>
              </a:solidFill>
              <a:latin typeface="Arial" panose="020B0604020202020204" pitchFamily="34" charset="0"/>
              <a:cs typeface="Arial" panose="020B0604020202020204" pitchFamily="34" charset="0"/>
            </a:endParaRPr>
          </a:p>
        </p:txBody>
      </p:sp>
      <p:sp>
        <p:nvSpPr>
          <p:cNvPr id="4" name="Text 1"/>
          <p:cNvSpPr/>
          <p:nvPr/>
        </p:nvSpPr>
        <p:spPr>
          <a:xfrm>
            <a:off x="5552689" y="2622047"/>
            <a:ext cx="8867056" cy="3941947"/>
          </a:xfrm>
          <a:prstGeom prst="rect">
            <a:avLst/>
          </a:prstGeom>
          <a:noFill/>
          <a:ln/>
        </p:spPr>
        <p:txBody>
          <a:bodyPr wrap="square" lIns="0" tIns="0" rIns="0" bIns="0" rtlCol="0" anchor="t"/>
          <a:lstStyle/>
          <a:p>
            <a:pPr marL="342900" indent="-342900">
              <a:lnSpc>
                <a:spcPts val="2700"/>
              </a:lnSpc>
              <a:buClr>
                <a:schemeClr val="bg1"/>
              </a:buClr>
              <a:buFont typeface="Wingdings" pitchFamily="2" charset="2"/>
              <a:buChar char="§"/>
            </a:pPr>
            <a:r>
              <a:rPr lang="he-IL" sz="2000" b="1" dirty="0">
                <a:solidFill>
                  <a:schemeClr val="bg1"/>
                </a:solidFill>
                <a:latin typeface="Arial" panose="020B0604020202020204" pitchFamily="34" charset="0"/>
                <a:cs typeface="Arial" panose="020B0604020202020204" pitchFamily="34" charset="0"/>
              </a:rPr>
              <a:t>שמות מגישים : בר כהן וסהר חיים יעקב </a:t>
            </a:r>
            <a:br>
              <a:rPr lang="en-US" sz="2000" b="1" dirty="0">
                <a:solidFill>
                  <a:schemeClr val="bg1"/>
                </a:solidFill>
                <a:latin typeface="Arial" panose="020B0604020202020204" pitchFamily="34" charset="0"/>
                <a:cs typeface="Arial" panose="020B0604020202020204" pitchFamily="34" charset="0"/>
              </a:rPr>
            </a:br>
            <a:endParaRPr lang="he-IL" sz="2000" b="1" dirty="0">
              <a:solidFill>
                <a:schemeClr val="bg1"/>
              </a:solidFill>
              <a:latin typeface="Arial" panose="020B0604020202020204" pitchFamily="34" charset="0"/>
              <a:cs typeface="Arial" panose="020B0604020202020204" pitchFamily="34" charset="0"/>
            </a:endParaRPr>
          </a:p>
          <a:p>
            <a:pPr marL="342900" indent="-342900">
              <a:lnSpc>
                <a:spcPts val="2700"/>
              </a:lnSpc>
              <a:buClr>
                <a:schemeClr val="bg1"/>
              </a:buClr>
              <a:buFont typeface="Wingdings" pitchFamily="2" charset="2"/>
              <a:buChar char="§"/>
            </a:pPr>
            <a:r>
              <a:rPr lang="he-IL" sz="2000" b="1" dirty="0">
                <a:solidFill>
                  <a:schemeClr val="bg1"/>
                </a:solidFill>
                <a:latin typeface="Arial" panose="020B0604020202020204" pitchFamily="34" charset="0"/>
                <a:cs typeface="Arial" panose="020B0604020202020204" pitchFamily="34" charset="0"/>
              </a:rPr>
              <a:t>מוגש ל : מר אבי זכאי </a:t>
            </a:r>
            <a:br>
              <a:rPr lang="en-US" sz="2000" b="1" dirty="0">
                <a:solidFill>
                  <a:schemeClr val="bg1"/>
                </a:solidFill>
                <a:latin typeface="Arial" panose="020B0604020202020204" pitchFamily="34" charset="0"/>
                <a:cs typeface="Arial" panose="020B0604020202020204" pitchFamily="34" charset="0"/>
              </a:rPr>
            </a:br>
            <a:endParaRPr lang="he-IL" sz="2000" b="1" dirty="0">
              <a:solidFill>
                <a:schemeClr val="bg1"/>
              </a:solidFill>
              <a:latin typeface="Arial" panose="020B0604020202020204" pitchFamily="34" charset="0"/>
              <a:cs typeface="Arial" panose="020B0604020202020204" pitchFamily="34" charset="0"/>
            </a:endParaRPr>
          </a:p>
          <a:p>
            <a:pPr marL="342900" indent="-342900">
              <a:lnSpc>
                <a:spcPts val="2700"/>
              </a:lnSpc>
              <a:buClr>
                <a:schemeClr val="bg1"/>
              </a:buClr>
              <a:buFont typeface="Wingdings" pitchFamily="2" charset="2"/>
              <a:buChar char="§"/>
            </a:pPr>
            <a:r>
              <a:rPr lang="he-IL" sz="2000" b="1" dirty="0">
                <a:solidFill>
                  <a:schemeClr val="bg1"/>
                </a:solidFill>
                <a:latin typeface="Arial" panose="020B0604020202020204" pitchFamily="34" charset="0"/>
                <a:cs typeface="Arial" panose="020B0604020202020204" pitchFamily="34" charset="0"/>
              </a:rPr>
              <a:t>מנחה : מר חנן לב </a:t>
            </a:r>
            <a:br>
              <a:rPr lang="en-US" sz="2000" b="1" dirty="0">
                <a:solidFill>
                  <a:schemeClr val="bg1"/>
                </a:solidFill>
                <a:latin typeface="Arial" panose="020B0604020202020204" pitchFamily="34" charset="0"/>
                <a:cs typeface="Arial" panose="020B0604020202020204" pitchFamily="34" charset="0"/>
              </a:rPr>
            </a:br>
            <a:endParaRPr lang="he-IL" sz="2000" b="1" dirty="0">
              <a:solidFill>
                <a:schemeClr val="bg1"/>
              </a:solidFill>
              <a:latin typeface="Arial" panose="020B0604020202020204" pitchFamily="34" charset="0"/>
              <a:cs typeface="Arial" panose="020B0604020202020204" pitchFamily="34" charset="0"/>
            </a:endParaRPr>
          </a:p>
          <a:p>
            <a:pPr marL="342900" indent="-342900">
              <a:lnSpc>
                <a:spcPts val="2700"/>
              </a:lnSpc>
              <a:buClr>
                <a:schemeClr val="bg1"/>
              </a:buClr>
              <a:buFont typeface="Wingdings" pitchFamily="2" charset="2"/>
              <a:buChar char="§"/>
            </a:pPr>
            <a:r>
              <a:rPr lang="he-IL" sz="2000" b="1" dirty="0">
                <a:solidFill>
                  <a:schemeClr val="bg1"/>
                </a:solidFill>
                <a:latin typeface="Arial" panose="020B0604020202020204" pitchFamily="34" charset="0"/>
                <a:cs typeface="Arial" panose="020B0604020202020204" pitchFamily="34" charset="0"/>
              </a:rPr>
              <a:t>ממכללת עמק יזרעאל ע"ש מקס שטרן</a:t>
            </a:r>
            <a:br>
              <a:rPr lang="en-US" sz="2000" b="1" dirty="0">
                <a:solidFill>
                  <a:schemeClr val="bg1"/>
                </a:solidFill>
                <a:latin typeface="Arial" panose="020B0604020202020204" pitchFamily="34" charset="0"/>
                <a:cs typeface="Arial" panose="020B0604020202020204" pitchFamily="34" charset="0"/>
              </a:rPr>
            </a:br>
            <a:endParaRPr lang="he-IL" sz="2000" b="1" dirty="0">
              <a:solidFill>
                <a:schemeClr val="bg1"/>
              </a:solidFill>
              <a:latin typeface="Arial" panose="020B0604020202020204" pitchFamily="34" charset="0"/>
              <a:cs typeface="Arial" panose="020B0604020202020204" pitchFamily="34" charset="0"/>
            </a:endParaRPr>
          </a:p>
          <a:p>
            <a:pPr>
              <a:lnSpc>
                <a:spcPts val="2700"/>
              </a:lnSpc>
              <a:buClr>
                <a:schemeClr val="bg1"/>
              </a:buClr>
            </a:pPr>
            <a:r>
              <a:rPr lang="he-IL" sz="2000" b="1" dirty="0">
                <a:solidFill>
                  <a:schemeClr val="bg1"/>
                </a:solidFill>
                <a:latin typeface="Arial" panose="020B0604020202020204" pitchFamily="34" charset="0"/>
                <a:cs typeface="Arial" panose="020B0604020202020204" pitchFamily="34" charset="0"/>
              </a:rPr>
              <a:t>הפרויקט עונה על הצורך הקריטי בחיזוי מוקדם של אירועי סייבר המכוונים למערכות מיקרוסופט. על ידי מינוף טכניקות מדעי הנתונים, אנו שואפים לפתח מודל חיזוי חזק כדי לשפר את מצב אבטחת הסייבר ולאפשר קבלת החלטות יזומה לארגונים.</a:t>
            </a:r>
            <a:endParaRPr lang="en-US" sz="2000" b="1" dirty="0">
              <a:solidFill>
                <a:schemeClr val="bg1"/>
              </a:solidFill>
              <a:latin typeface="Arial" panose="020B0604020202020204" pitchFamily="34" charset="0"/>
              <a:cs typeface="Arial" panose="020B0604020202020204" pitchFamily="34" charset="0"/>
            </a:endParaRPr>
          </a:p>
        </p:txBody>
      </p:sp>
      <p:pic>
        <p:nvPicPr>
          <p:cNvPr id="6" name="תמונה 5"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AB5BED9A-BD58-648B-312B-BED83E4174DC}"/>
              </a:ext>
            </a:extLst>
          </p:cNvPr>
          <p:cNvPicPr>
            <a:picLocks noChangeAspect="1"/>
          </p:cNvPicPr>
          <p:nvPr/>
        </p:nvPicPr>
        <p:blipFill>
          <a:blip r:embed="rId4"/>
          <a:stretch>
            <a:fillRect/>
          </a:stretch>
        </p:blipFill>
        <p:spPr>
          <a:xfrm>
            <a:off x="13228320" y="23157"/>
            <a:ext cx="1402079" cy="660980"/>
          </a:xfrm>
          <a:prstGeom prst="rect">
            <a:avLst/>
          </a:prstGeom>
        </p:spPr>
      </p:pic>
      <p:sp>
        <p:nvSpPr>
          <p:cNvPr id="12" name="תיבת טקסט 11">
            <a:extLst>
              <a:ext uri="{FF2B5EF4-FFF2-40B4-BE49-F238E27FC236}">
                <a16:creationId xmlns:a16="http://schemas.microsoft.com/office/drawing/2014/main" id="{03FBF2E8-D20E-9D1E-9388-8B2C58BA8542}"/>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15" name="תיבת טקסט 14">
            <a:extLst>
              <a:ext uri="{FF2B5EF4-FFF2-40B4-BE49-F238E27FC236}">
                <a16:creationId xmlns:a16="http://schemas.microsoft.com/office/drawing/2014/main" id="{31587F96-6D15-6716-D070-2E4FFF5E92E6}"/>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5"/>
              </a:rPr>
              <a:t>Bar Cohen</a:t>
            </a:r>
            <a:endParaRPr lang="he-IL" b="1" dirty="0"/>
          </a:p>
        </p:txBody>
      </p:sp>
      <p:sp>
        <p:nvSpPr>
          <p:cNvPr id="16" name="תיבת טקסט 15">
            <a:extLst>
              <a:ext uri="{FF2B5EF4-FFF2-40B4-BE49-F238E27FC236}">
                <a16:creationId xmlns:a16="http://schemas.microsoft.com/office/drawing/2014/main" id="{216B7A37-80A0-6A9E-EA3B-8EACAD31273B}"/>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6"/>
              </a:rPr>
              <a:t>Sahar haim Yaccov</a:t>
            </a:r>
          </a:p>
          <a:p>
            <a:r>
              <a:rPr lang="en" b="1" dirty="0">
                <a:hlinkClick r:id="rId6"/>
              </a:rPr>
              <a:t> </a:t>
            </a:r>
            <a:endParaRPr lang="he-IL" dirty="0"/>
          </a:p>
        </p:txBody>
      </p:sp>
      <p:pic>
        <p:nvPicPr>
          <p:cNvPr id="17" name="תמונה 16">
            <a:extLst>
              <a:ext uri="{FF2B5EF4-FFF2-40B4-BE49-F238E27FC236}">
                <a16:creationId xmlns:a16="http://schemas.microsoft.com/office/drawing/2014/main" id="{09CAB7BC-0F91-6D7B-4041-832D2841F735}"/>
              </a:ext>
            </a:extLst>
          </p:cNvPr>
          <p:cNvPicPr>
            <a:picLocks noChangeAspect="1"/>
          </p:cNvPicPr>
          <p:nvPr/>
        </p:nvPicPr>
        <p:blipFill>
          <a:blip r:embed="rId7"/>
          <a:stretch>
            <a:fillRect/>
          </a:stretch>
        </p:blipFill>
        <p:spPr>
          <a:xfrm>
            <a:off x="12777537" y="7549434"/>
            <a:ext cx="1852865" cy="666518"/>
          </a:xfrm>
          <a:prstGeom prst="rect">
            <a:avLst/>
          </a:prstGeom>
          <a:ln>
            <a:noFill/>
          </a:ln>
          <a:effectLst>
            <a:softEdge rad="112500"/>
          </a:effectLst>
        </p:spPr>
      </p:pic>
      <p:pic>
        <p:nvPicPr>
          <p:cNvPr id="18" name="תמונה 17" descr="תמונה שמכילה טקסט, צילום מסך, גרפיקה, סמל&#10;&#10;תוכן בינה מלאכותית גנרטיבית עשוי להיות שגוי.">
            <a:extLst>
              <a:ext uri="{FF2B5EF4-FFF2-40B4-BE49-F238E27FC236}">
                <a16:creationId xmlns:a16="http://schemas.microsoft.com/office/drawing/2014/main" id="{B5082BBA-CDD9-D161-B8FB-8F905143D67A}"/>
              </a:ext>
            </a:extLst>
          </p:cNvPr>
          <p:cNvPicPr>
            <a:picLocks noChangeAspect="1"/>
          </p:cNvPicPr>
          <p:nvPr/>
        </p:nvPicPr>
        <p:blipFill>
          <a:blip r:embed="rId8"/>
          <a:stretch>
            <a:fillRect/>
          </a:stretch>
        </p:blipFill>
        <p:spPr>
          <a:xfrm>
            <a:off x="10580509" y="7621427"/>
            <a:ext cx="307504" cy="225346"/>
          </a:xfrm>
          <a:prstGeom prst="rect">
            <a:avLst/>
          </a:prstGeom>
        </p:spPr>
      </p:pic>
      <p:pic>
        <p:nvPicPr>
          <p:cNvPr id="19" name="תמונה 18" descr="תמונה שמכילה טקסט, צילום מסך, גרפיקה, סמל&#10;&#10;תוכן בינה מלאכותית גנרטיבית עשוי להיות שגוי.">
            <a:extLst>
              <a:ext uri="{FF2B5EF4-FFF2-40B4-BE49-F238E27FC236}">
                <a16:creationId xmlns:a16="http://schemas.microsoft.com/office/drawing/2014/main" id="{71DFDBAA-77BC-84B2-E388-EE495D767199}"/>
              </a:ext>
            </a:extLst>
          </p:cNvPr>
          <p:cNvPicPr>
            <a:picLocks noChangeAspect="1"/>
          </p:cNvPicPr>
          <p:nvPr/>
        </p:nvPicPr>
        <p:blipFill>
          <a:blip r:embed="rId8"/>
          <a:stretch>
            <a:fillRect/>
          </a:stretch>
        </p:blipFill>
        <p:spPr>
          <a:xfrm>
            <a:off x="10580509" y="7938840"/>
            <a:ext cx="307504" cy="22534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616342" y="1323642"/>
            <a:ext cx="6235838" cy="674846"/>
          </a:xfrm>
          <a:prstGeom prst="rect">
            <a:avLst/>
          </a:prstGeom>
          <a:noFill/>
          <a:ln/>
        </p:spPr>
        <p:txBody>
          <a:bodyPr wrap="none" lIns="0" tIns="0" rIns="0" bIns="0" rtlCol="0" anchor="t"/>
          <a:lstStyle/>
          <a:p>
            <a:pPr>
              <a:lnSpc>
                <a:spcPts val="5300"/>
              </a:lnSpc>
            </a:pPr>
            <a:r>
              <a:rPr lang="he-IL" sz="4400" b="1" u="sng" dirty="0">
                <a:solidFill>
                  <a:schemeClr val="bg1"/>
                </a:solidFill>
                <a:latin typeface="Arial" panose="020B0604020202020204" pitchFamily="34" charset="0"/>
                <a:cs typeface="Arial" panose="020B0604020202020204" pitchFamily="34" charset="0"/>
              </a:rPr>
              <a:t>נוף האיומים ההולך וגובר</a:t>
            </a:r>
            <a:endParaRPr lang="en-US" sz="8000" b="1" u="sng"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863798" y="2214349"/>
            <a:ext cx="12902803" cy="2043634"/>
          </a:xfrm>
          <a:prstGeom prst="rect">
            <a:avLst/>
          </a:prstGeom>
          <a:noFill/>
          <a:ln/>
        </p:spPr>
        <p:txBody>
          <a:bodyPr wrap="square" lIns="0" tIns="0" rIns="0" bIns="0" rtlCol="0" anchor="t"/>
          <a:lstStyle/>
          <a:p>
            <a:pPr rtl="1">
              <a:buNone/>
            </a:pPr>
            <a:r>
              <a:rPr lang="he-IL" sz="2800" b="0" dirty="0">
                <a:solidFill>
                  <a:schemeClr val="bg1"/>
                </a:solidFill>
                <a:effectLst/>
                <a:latin typeface="Arial" panose="020B0604020202020204" pitchFamily="34" charset="0"/>
                <a:cs typeface="Arial" panose="020B0604020202020204" pitchFamily="34" charset="0"/>
              </a:rPr>
              <a:t>התדירות הגוברת של מתקפות סייבר מחייבות יכולות חיזוי מתקדמות. הפרויקט שלנו מתמודד עם </a:t>
            </a:r>
            <a:r>
              <a:rPr lang="he-IL" sz="2800" dirty="0">
                <a:solidFill>
                  <a:schemeClr val="bg1"/>
                </a:solidFill>
                <a:latin typeface="Arial" panose="020B0604020202020204" pitchFamily="34" charset="0"/>
                <a:cs typeface="Arial" panose="020B0604020202020204" pitchFamily="34" charset="0"/>
              </a:rPr>
              <a:t>אתגרים אלו</a:t>
            </a:r>
            <a:r>
              <a:rPr lang="he-IL" sz="2800" b="0" dirty="0">
                <a:solidFill>
                  <a:schemeClr val="bg1"/>
                </a:solidFill>
                <a:effectLst/>
                <a:latin typeface="Arial" panose="020B0604020202020204" pitchFamily="34" charset="0"/>
                <a:cs typeface="Arial" panose="020B0604020202020204" pitchFamily="34" charset="0"/>
              </a:rPr>
              <a:t> על ידי התמקדות בנתוני מערכות מיקרוסופט , הידועה כמטרה נפוצה לפעולות זדוניות. מטרת הליבה היא לחזות אירועי סייבר באמצעות נתוני אבטחה בהם 23 אלף תצפיות , ובכך לאבטח את מערכות הארגונים ולמזער נזקים פוטנציאליים ולייעל את אסטרטגיות האבטחה שלהם.</a:t>
            </a:r>
          </a:p>
          <a:p>
            <a:pPr>
              <a:buNone/>
            </a:pPr>
            <a:br>
              <a:rPr lang="he-IL" sz="2800" dirty="0">
                <a:solidFill>
                  <a:schemeClr val="bg1"/>
                </a:solidFill>
                <a:effectLst/>
                <a:latin typeface="Arial" panose="020B0604020202020204" pitchFamily="34" charset="0"/>
                <a:cs typeface="Arial" panose="020B0604020202020204" pitchFamily="34" charset="0"/>
              </a:rPr>
            </a:br>
            <a:endParaRPr lang="he-IL" sz="2800" dirty="0">
              <a:solidFill>
                <a:schemeClr val="bg1"/>
              </a:solidFill>
              <a:effectLst/>
              <a:latin typeface="Arial" panose="020B0604020202020204" pitchFamily="34" charset="0"/>
              <a:cs typeface="Arial" panose="020B0604020202020204" pitchFamily="34" charset="0"/>
            </a:endParaRPr>
          </a:p>
        </p:txBody>
      </p:sp>
      <p:grpSp>
        <p:nvGrpSpPr>
          <p:cNvPr id="22" name="קבוצה 21">
            <a:extLst>
              <a:ext uri="{FF2B5EF4-FFF2-40B4-BE49-F238E27FC236}">
                <a16:creationId xmlns:a16="http://schemas.microsoft.com/office/drawing/2014/main" id="{D8245FF9-E5AA-B0A2-2E6C-DE76CC614E89}"/>
              </a:ext>
            </a:extLst>
          </p:cNvPr>
          <p:cNvGrpSpPr/>
          <p:nvPr/>
        </p:nvGrpSpPr>
        <p:grpSpPr>
          <a:xfrm>
            <a:off x="863798" y="4669447"/>
            <a:ext cx="12902803" cy="2468523"/>
            <a:chOff x="863798" y="4328252"/>
            <a:chExt cx="12902803" cy="2468523"/>
          </a:xfrm>
        </p:grpSpPr>
        <p:sp>
          <p:nvSpPr>
            <p:cNvPr id="4" name="Shape 2"/>
            <p:cNvSpPr/>
            <p:nvPr/>
          </p:nvSpPr>
          <p:spPr>
            <a:xfrm>
              <a:off x="863798" y="4328252"/>
              <a:ext cx="4156948" cy="2468523"/>
            </a:xfrm>
            <a:prstGeom prst="roundRect">
              <a:avLst>
                <a:gd name="adj" fmla="val 3675"/>
              </a:avLst>
            </a:prstGeom>
            <a:solidFill>
              <a:schemeClr val="accent6">
                <a:lumMod val="75000"/>
              </a:schemeClr>
            </a:solidFill>
            <a:ln w="7620">
              <a:solidFill>
                <a:schemeClr val="tx1"/>
              </a:solidFill>
              <a:prstDash val="solid"/>
            </a:ln>
          </p:spPr>
          <p:txBody>
            <a:bodyPr/>
            <a:lstStyle/>
            <a:p>
              <a:endParaRPr lang="he-IL">
                <a:latin typeface="Arial" panose="020B0604020202020204" pitchFamily="34" charset="0"/>
                <a:cs typeface="Arial" panose="020B0604020202020204" pitchFamily="34" charset="0"/>
              </a:endParaRPr>
            </a:p>
          </p:txBody>
        </p:sp>
        <p:sp>
          <p:nvSpPr>
            <p:cNvPr id="5" name="Shape 3"/>
            <p:cNvSpPr/>
            <p:nvPr/>
          </p:nvSpPr>
          <p:spPr>
            <a:xfrm>
              <a:off x="1087279" y="4469844"/>
              <a:ext cx="647819" cy="647819"/>
            </a:xfrm>
            <a:prstGeom prst="roundRect">
              <a:avLst>
                <a:gd name="adj" fmla="val 14113642"/>
              </a:avLst>
            </a:prstGeom>
            <a:solidFill>
              <a:schemeClr val="accent6">
                <a:lumMod val="20000"/>
                <a:lumOff val="80000"/>
              </a:schemeClr>
            </a:solidFill>
            <a:ln/>
          </p:spPr>
          <p:txBody>
            <a:bodyPr/>
            <a:lstStyle/>
            <a:p>
              <a:endParaRPr lang="he-IL">
                <a:latin typeface="Arial" panose="020B0604020202020204" pitchFamily="34" charset="0"/>
                <a:cs typeface="Arial" panose="020B0604020202020204" pitchFamily="34" charset="0"/>
              </a:endParaRPr>
            </a:p>
          </p:txBody>
        </p:sp>
        <p:pic>
          <p:nvPicPr>
            <p:cNvPr id="6" name="Image 0" descr="preencoded.png"/>
            <p:cNvPicPr>
              <a:picLocks noChangeAspect="1"/>
            </p:cNvPicPr>
            <p:nvPr/>
          </p:nvPicPr>
          <p:blipFill>
            <a:blip r:embed="rId3"/>
            <a:stretch>
              <a:fillRect/>
            </a:stretch>
          </p:blipFill>
          <p:spPr>
            <a:xfrm>
              <a:off x="1265396" y="4611529"/>
              <a:ext cx="291465" cy="364450"/>
            </a:xfrm>
            <a:prstGeom prst="rect">
              <a:avLst/>
            </a:prstGeom>
          </p:spPr>
        </p:pic>
        <p:sp>
          <p:nvSpPr>
            <p:cNvPr id="7" name="Text 4"/>
            <p:cNvSpPr/>
            <p:nvPr/>
          </p:nvSpPr>
          <p:spPr>
            <a:xfrm>
              <a:off x="1087279" y="5333524"/>
              <a:ext cx="3332440" cy="337304"/>
            </a:xfrm>
            <a:prstGeom prst="rect">
              <a:avLst/>
            </a:prstGeom>
            <a:noFill/>
            <a:ln/>
          </p:spPr>
          <p:txBody>
            <a:bodyPr wrap="none" lIns="0" tIns="0" rIns="0" bIns="0" rtlCol="0" anchor="t"/>
            <a:lstStyle/>
            <a:p>
              <a:pPr marL="0" indent="0">
                <a:lnSpc>
                  <a:spcPts val="2650"/>
                </a:lnSpc>
                <a:buNone/>
              </a:pPr>
              <a:r>
                <a:rPr lang="he-IL" sz="2100" dirty="0">
                  <a:solidFill>
                    <a:srgbClr val="E2E6E9"/>
                  </a:solidFill>
                  <a:latin typeface="Arial" panose="020B0604020202020204" pitchFamily="34" charset="0"/>
                  <a:ea typeface="Merriweather" pitchFamily="34" charset="-122"/>
                  <a:cs typeface="Arial" panose="020B0604020202020204" pitchFamily="34" charset="0"/>
                </a:rPr>
                <a:t>שיפור אבטחה</a:t>
              </a:r>
              <a:endParaRPr lang="en-US" sz="2100" dirty="0">
                <a:latin typeface="Arial" panose="020B0604020202020204" pitchFamily="34" charset="0"/>
                <a:cs typeface="Arial" panose="020B0604020202020204" pitchFamily="34" charset="0"/>
              </a:endParaRPr>
            </a:p>
          </p:txBody>
        </p:sp>
        <p:sp>
          <p:nvSpPr>
            <p:cNvPr id="8" name="Text 5"/>
            <p:cNvSpPr/>
            <p:nvPr/>
          </p:nvSpPr>
          <p:spPr>
            <a:xfrm>
              <a:off x="1087279" y="5800368"/>
              <a:ext cx="3709988" cy="691039"/>
            </a:xfrm>
            <a:prstGeom prst="rect">
              <a:avLst/>
            </a:prstGeom>
            <a:noFill/>
            <a:ln/>
          </p:spPr>
          <p:txBody>
            <a:bodyPr wrap="square" lIns="0" tIns="0" rIns="0" bIns="0" rtlCol="0" anchor="t"/>
            <a:lstStyle/>
            <a:p>
              <a:pPr marL="0" indent="0">
                <a:lnSpc>
                  <a:spcPts val="2700"/>
                </a:lnSpc>
                <a:buNone/>
              </a:pPr>
              <a:r>
                <a:rPr lang="he-IL" sz="1700" dirty="0">
                  <a:solidFill>
                    <a:srgbClr val="E2E6E9"/>
                  </a:solidFill>
                  <a:latin typeface="Arial" panose="020B0604020202020204" pitchFamily="34" charset="0"/>
                  <a:cs typeface="Arial" panose="020B0604020202020204" pitchFamily="34" charset="0"/>
                </a:rPr>
                <a:t>שיפור הגנות מפני איומים </a:t>
              </a:r>
              <a:endParaRPr lang="en-US" sz="1700" dirty="0">
                <a:latin typeface="Arial" panose="020B0604020202020204" pitchFamily="34" charset="0"/>
                <a:cs typeface="Arial" panose="020B0604020202020204" pitchFamily="34" charset="0"/>
              </a:endParaRPr>
            </a:p>
          </p:txBody>
        </p:sp>
        <p:sp>
          <p:nvSpPr>
            <p:cNvPr id="9" name="Shape 6"/>
            <p:cNvSpPr/>
            <p:nvPr/>
          </p:nvSpPr>
          <p:spPr>
            <a:xfrm>
              <a:off x="5236607" y="4328252"/>
              <a:ext cx="4157067" cy="2468523"/>
            </a:xfrm>
            <a:prstGeom prst="roundRect">
              <a:avLst>
                <a:gd name="adj" fmla="val 3675"/>
              </a:avLst>
            </a:prstGeom>
            <a:solidFill>
              <a:schemeClr val="accent4"/>
            </a:solidFill>
            <a:ln w="7620">
              <a:solidFill>
                <a:schemeClr val="tx1"/>
              </a:solidFill>
              <a:prstDash val="solid"/>
            </a:ln>
          </p:spPr>
          <p:txBody>
            <a:bodyPr/>
            <a:lstStyle/>
            <a:p>
              <a:pPr marL="0" defTabSz="914400" eaLnBrk="1" latinLnBrk="0" hangingPunct="1"/>
              <a:endParaRPr lang="he-IL">
                <a:latin typeface="Arial" panose="020B0604020202020204" pitchFamily="34" charset="0"/>
                <a:cs typeface="Arial" panose="020B0604020202020204" pitchFamily="34" charset="0"/>
              </a:endParaRPr>
            </a:p>
          </p:txBody>
        </p:sp>
        <p:sp>
          <p:nvSpPr>
            <p:cNvPr id="10" name="Shape 7"/>
            <p:cNvSpPr/>
            <p:nvPr/>
          </p:nvSpPr>
          <p:spPr>
            <a:xfrm>
              <a:off x="5460087" y="4469844"/>
              <a:ext cx="647819" cy="647819"/>
            </a:xfrm>
            <a:prstGeom prst="roundRect">
              <a:avLst>
                <a:gd name="adj" fmla="val 14113642"/>
              </a:avLst>
            </a:prstGeom>
            <a:solidFill>
              <a:schemeClr val="accent4">
                <a:lumMod val="20000"/>
                <a:lumOff val="80000"/>
              </a:schemeClr>
            </a:solidFill>
            <a:ln/>
          </p:spPr>
          <p:txBody>
            <a:bodyPr/>
            <a:lstStyle/>
            <a:p>
              <a:endParaRPr lang="he-IL">
                <a:latin typeface="Arial" panose="020B0604020202020204" pitchFamily="34" charset="0"/>
                <a:cs typeface="Arial" panose="020B0604020202020204" pitchFamily="34" charset="0"/>
              </a:endParaRPr>
            </a:p>
          </p:txBody>
        </p:sp>
        <p:pic>
          <p:nvPicPr>
            <p:cNvPr id="11" name="Image 1" descr="preencoded.png"/>
            <p:cNvPicPr>
              <a:picLocks noChangeAspect="1"/>
            </p:cNvPicPr>
            <p:nvPr/>
          </p:nvPicPr>
          <p:blipFill>
            <a:blip r:embed="rId4"/>
            <a:stretch>
              <a:fillRect/>
            </a:stretch>
          </p:blipFill>
          <p:spPr>
            <a:xfrm>
              <a:off x="5638205" y="4611529"/>
              <a:ext cx="291465" cy="364450"/>
            </a:xfrm>
            <a:prstGeom prst="rect">
              <a:avLst/>
            </a:prstGeom>
          </p:spPr>
        </p:pic>
        <p:sp>
          <p:nvSpPr>
            <p:cNvPr id="12" name="Text 8"/>
            <p:cNvSpPr/>
            <p:nvPr/>
          </p:nvSpPr>
          <p:spPr>
            <a:xfrm>
              <a:off x="5460087" y="5333524"/>
              <a:ext cx="3233142" cy="337304"/>
            </a:xfrm>
            <a:prstGeom prst="rect">
              <a:avLst/>
            </a:prstGeom>
            <a:noFill/>
            <a:ln/>
          </p:spPr>
          <p:txBody>
            <a:bodyPr wrap="none" lIns="0" tIns="0" rIns="0" bIns="0" rtlCol="0" anchor="t"/>
            <a:lstStyle/>
            <a:p>
              <a:pPr marL="0" indent="0">
                <a:lnSpc>
                  <a:spcPts val="2650"/>
                </a:lnSpc>
                <a:buNone/>
              </a:pPr>
              <a:r>
                <a:rPr lang="he-IL" sz="2100" dirty="0">
                  <a:solidFill>
                    <a:srgbClr val="E2E6E9"/>
                  </a:solidFill>
                  <a:latin typeface="Arial" panose="020B0604020202020204" pitchFamily="34" charset="0"/>
                  <a:ea typeface="Merriweather" pitchFamily="34" charset="-122"/>
                  <a:cs typeface="Arial" panose="020B0604020202020204" pitchFamily="34" charset="0"/>
                </a:rPr>
                <a:t>חיזוי מוקדם של תקריות</a:t>
              </a:r>
              <a:endParaRPr lang="en-US" sz="2100" dirty="0">
                <a:latin typeface="Arial" panose="020B0604020202020204" pitchFamily="34" charset="0"/>
                <a:cs typeface="Arial" panose="020B0604020202020204" pitchFamily="34" charset="0"/>
              </a:endParaRPr>
            </a:p>
          </p:txBody>
        </p:sp>
        <p:sp>
          <p:nvSpPr>
            <p:cNvPr id="13" name="Text 9"/>
            <p:cNvSpPr/>
            <p:nvPr/>
          </p:nvSpPr>
          <p:spPr>
            <a:xfrm>
              <a:off x="5460087" y="5800368"/>
              <a:ext cx="3710107" cy="691039"/>
            </a:xfrm>
            <a:prstGeom prst="rect">
              <a:avLst/>
            </a:prstGeom>
            <a:noFill/>
            <a:ln/>
          </p:spPr>
          <p:txBody>
            <a:bodyPr wrap="square" lIns="0" tIns="0" rIns="0" bIns="0" rtlCol="0" anchor="t"/>
            <a:lstStyle/>
            <a:p>
              <a:pPr marL="0" indent="0">
                <a:lnSpc>
                  <a:spcPts val="2700"/>
                </a:lnSpc>
                <a:buNone/>
              </a:pPr>
              <a:r>
                <a:rPr lang="he-IL" sz="1700" dirty="0">
                  <a:solidFill>
                    <a:srgbClr val="E2E6E9"/>
                  </a:solidFill>
                  <a:latin typeface="Arial" panose="020B0604020202020204" pitchFamily="34" charset="0"/>
                  <a:ea typeface="Merriweather" pitchFamily="34" charset="-122"/>
                  <a:cs typeface="Arial" panose="020B0604020202020204" pitchFamily="34" charset="0"/>
                </a:rPr>
                <a:t>זיהוי אירועי תקיפה פוטנציאליים לפני נקודת אל-חור.</a:t>
              </a:r>
              <a:endParaRPr lang="en-US" sz="1700" dirty="0">
                <a:latin typeface="Arial" panose="020B0604020202020204" pitchFamily="34" charset="0"/>
                <a:cs typeface="Arial" panose="020B0604020202020204" pitchFamily="34" charset="0"/>
              </a:endParaRPr>
            </a:p>
          </p:txBody>
        </p:sp>
        <p:sp>
          <p:nvSpPr>
            <p:cNvPr id="14" name="Shape 10"/>
            <p:cNvSpPr/>
            <p:nvPr/>
          </p:nvSpPr>
          <p:spPr>
            <a:xfrm>
              <a:off x="9609534" y="4328252"/>
              <a:ext cx="4157067" cy="2468523"/>
            </a:xfrm>
            <a:prstGeom prst="roundRect">
              <a:avLst>
                <a:gd name="adj" fmla="val 3675"/>
              </a:avLst>
            </a:prstGeom>
            <a:solidFill>
              <a:srgbClr val="C00000"/>
            </a:solidFill>
            <a:ln w="7620">
              <a:solidFill>
                <a:schemeClr val="tx1"/>
              </a:solidFill>
              <a:prstDash val="solid"/>
            </a:ln>
          </p:spPr>
          <p:txBody>
            <a:bodyPr/>
            <a:lstStyle/>
            <a:p>
              <a:pPr marL="0" defTabSz="914400" eaLnBrk="1" latinLnBrk="0" hangingPunct="1"/>
              <a:endParaRPr lang="he-IL">
                <a:latin typeface="Arial" panose="020B0604020202020204" pitchFamily="34" charset="0"/>
                <a:cs typeface="Arial" panose="020B0604020202020204" pitchFamily="34" charset="0"/>
              </a:endParaRPr>
            </a:p>
          </p:txBody>
        </p:sp>
        <p:sp>
          <p:nvSpPr>
            <p:cNvPr id="15" name="Shape 11"/>
            <p:cNvSpPr/>
            <p:nvPr/>
          </p:nvSpPr>
          <p:spPr>
            <a:xfrm>
              <a:off x="9833015" y="4469844"/>
              <a:ext cx="647819" cy="647819"/>
            </a:xfrm>
            <a:prstGeom prst="roundRect">
              <a:avLst>
                <a:gd name="adj" fmla="val 14113642"/>
              </a:avLst>
            </a:prstGeom>
            <a:solidFill>
              <a:schemeClr val="accent2">
                <a:lumMod val="20000"/>
                <a:lumOff val="80000"/>
              </a:schemeClr>
            </a:solidFill>
            <a:ln/>
          </p:spPr>
          <p:txBody>
            <a:bodyPr/>
            <a:lstStyle/>
            <a:p>
              <a:pPr marL="0" defTabSz="914400" eaLnBrk="1" latinLnBrk="0" hangingPunct="1"/>
              <a:endParaRPr lang="he-IL">
                <a:latin typeface="Arial" panose="020B0604020202020204" pitchFamily="34" charset="0"/>
                <a:cs typeface="Arial" panose="020B0604020202020204" pitchFamily="34" charset="0"/>
              </a:endParaRPr>
            </a:p>
          </p:txBody>
        </p:sp>
        <p:pic>
          <p:nvPicPr>
            <p:cNvPr id="16" name="Image 2" descr="preencoded.png"/>
            <p:cNvPicPr>
              <a:picLocks noChangeAspect="1"/>
            </p:cNvPicPr>
            <p:nvPr/>
          </p:nvPicPr>
          <p:blipFill>
            <a:blip r:embed="rId5"/>
            <a:stretch>
              <a:fillRect/>
            </a:stretch>
          </p:blipFill>
          <p:spPr>
            <a:xfrm>
              <a:off x="10011132" y="4611529"/>
              <a:ext cx="291465" cy="364450"/>
            </a:xfrm>
            <a:prstGeom prst="rect">
              <a:avLst/>
            </a:prstGeom>
          </p:spPr>
        </p:pic>
        <p:sp>
          <p:nvSpPr>
            <p:cNvPr id="17" name="Text 12"/>
            <p:cNvSpPr/>
            <p:nvPr/>
          </p:nvSpPr>
          <p:spPr>
            <a:xfrm>
              <a:off x="9833015" y="5333524"/>
              <a:ext cx="3544491" cy="337304"/>
            </a:xfrm>
            <a:prstGeom prst="rect">
              <a:avLst/>
            </a:prstGeom>
            <a:noFill/>
            <a:ln/>
          </p:spPr>
          <p:txBody>
            <a:bodyPr wrap="none" lIns="0" tIns="0" rIns="0" bIns="0" rtlCol="0" anchor="t"/>
            <a:lstStyle/>
            <a:p>
              <a:pPr marL="0" indent="0">
                <a:lnSpc>
                  <a:spcPts val="2650"/>
                </a:lnSpc>
                <a:buNone/>
              </a:pPr>
              <a:r>
                <a:rPr lang="he-IL" sz="2100" dirty="0">
                  <a:solidFill>
                    <a:srgbClr val="E2E6E9"/>
                  </a:solidFill>
                  <a:latin typeface="Arial" panose="020B0604020202020204" pitchFamily="34" charset="0"/>
                  <a:cs typeface="Arial" panose="020B0604020202020204" pitchFamily="34" charset="0"/>
                </a:rPr>
                <a:t>ניהול משאבים בארגון</a:t>
              </a:r>
              <a:endParaRPr lang="en-US" sz="2100" dirty="0">
                <a:latin typeface="Arial" panose="020B0604020202020204" pitchFamily="34" charset="0"/>
                <a:cs typeface="Arial" panose="020B0604020202020204" pitchFamily="34" charset="0"/>
              </a:endParaRPr>
            </a:p>
          </p:txBody>
        </p:sp>
        <p:sp>
          <p:nvSpPr>
            <p:cNvPr id="18" name="Text 13"/>
            <p:cNvSpPr/>
            <p:nvPr/>
          </p:nvSpPr>
          <p:spPr>
            <a:xfrm>
              <a:off x="9833015" y="5800368"/>
              <a:ext cx="3710107" cy="691039"/>
            </a:xfrm>
            <a:prstGeom prst="rect">
              <a:avLst/>
            </a:prstGeom>
            <a:noFill/>
            <a:ln/>
          </p:spPr>
          <p:txBody>
            <a:bodyPr wrap="square" lIns="0" tIns="0" rIns="0" bIns="0" rtlCol="0" anchor="t"/>
            <a:lstStyle/>
            <a:p>
              <a:pPr marL="0" indent="0">
                <a:lnSpc>
                  <a:spcPts val="2700"/>
                </a:lnSpc>
                <a:buNone/>
              </a:pPr>
              <a:r>
                <a:rPr lang="he-IL" sz="1700" dirty="0">
                  <a:solidFill>
                    <a:srgbClr val="E2E6E9"/>
                  </a:solidFill>
                  <a:latin typeface="Arial" panose="020B0604020202020204" pitchFamily="34" charset="0"/>
                  <a:ea typeface="Merriweather" pitchFamily="34" charset="-122"/>
                  <a:cs typeface="Arial" panose="020B0604020202020204" pitchFamily="34" charset="0"/>
                </a:rPr>
                <a:t>הקצאה נכונה ויעילה של משאבים בארגון</a:t>
              </a:r>
              <a:endParaRPr lang="en-US" sz="1700" dirty="0">
                <a:latin typeface="Arial" panose="020B0604020202020204" pitchFamily="34" charset="0"/>
                <a:cs typeface="Arial" panose="020B0604020202020204" pitchFamily="34" charset="0"/>
              </a:endParaRPr>
            </a:p>
          </p:txBody>
        </p:sp>
      </p:grpSp>
      <p:pic>
        <p:nvPicPr>
          <p:cNvPr id="19" name="תמונה 18">
            <a:extLst>
              <a:ext uri="{FF2B5EF4-FFF2-40B4-BE49-F238E27FC236}">
                <a16:creationId xmlns:a16="http://schemas.microsoft.com/office/drawing/2014/main" id="{85E0DE0E-9BF1-50D4-9DF1-43AF26ADA810}"/>
              </a:ext>
            </a:extLst>
          </p:cNvPr>
          <p:cNvPicPr>
            <a:picLocks noChangeAspect="1"/>
          </p:cNvPicPr>
          <p:nvPr/>
        </p:nvPicPr>
        <p:blipFill>
          <a:blip r:embed="rId6"/>
          <a:stretch>
            <a:fillRect/>
          </a:stretch>
        </p:blipFill>
        <p:spPr>
          <a:xfrm>
            <a:off x="12777537" y="7549434"/>
            <a:ext cx="1852865" cy="666518"/>
          </a:xfrm>
          <a:prstGeom prst="rect">
            <a:avLst/>
          </a:prstGeom>
          <a:ln>
            <a:noFill/>
          </a:ln>
          <a:effectLst>
            <a:softEdge rad="112500"/>
          </a:effectLst>
        </p:spPr>
      </p:pic>
      <p:sp>
        <p:nvSpPr>
          <p:cNvPr id="20" name="תיבת טקסט 19">
            <a:extLst>
              <a:ext uri="{FF2B5EF4-FFF2-40B4-BE49-F238E27FC236}">
                <a16:creationId xmlns:a16="http://schemas.microsoft.com/office/drawing/2014/main" id="{35ACD068-1287-EB8D-6706-8060B82403F4}"/>
              </a:ext>
            </a:extLst>
          </p:cNvPr>
          <p:cNvSpPr txBox="1"/>
          <p:nvPr/>
        </p:nvSpPr>
        <p:spPr>
          <a:xfrm>
            <a:off x="3434233" y="824248"/>
            <a:ext cx="184730" cy="369332"/>
          </a:xfrm>
          <a:prstGeom prst="rect">
            <a:avLst/>
          </a:prstGeom>
          <a:noFill/>
        </p:spPr>
        <p:txBody>
          <a:bodyPr wrap="none" rtlCol="1">
            <a:spAutoFit/>
          </a:bodyPr>
          <a:lstStyle/>
          <a:p>
            <a:endParaRPr lang="he-IL" dirty="0"/>
          </a:p>
        </p:txBody>
      </p:sp>
      <p:pic>
        <p:nvPicPr>
          <p:cNvPr id="21" name="תמונה 20"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75FCEBD2-C1E0-EB6E-C1C6-4BFF89A141F1}"/>
              </a:ext>
            </a:extLst>
          </p:cNvPr>
          <p:cNvPicPr>
            <a:picLocks noChangeAspect="1"/>
          </p:cNvPicPr>
          <p:nvPr/>
        </p:nvPicPr>
        <p:blipFill>
          <a:blip r:embed="rId7"/>
          <a:stretch>
            <a:fillRect/>
          </a:stretch>
        </p:blipFill>
        <p:spPr>
          <a:xfrm>
            <a:off x="13228320" y="23157"/>
            <a:ext cx="1402079" cy="660980"/>
          </a:xfrm>
          <a:prstGeom prst="rect">
            <a:avLst/>
          </a:prstGeom>
        </p:spPr>
      </p:pic>
      <p:sp>
        <p:nvSpPr>
          <p:cNvPr id="23" name="תיבת טקסט 22">
            <a:extLst>
              <a:ext uri="{FF2B5EF4-FFF2-40B4-BE49-F238E27FC236}">
                <a16:creationId xmlns:a16="http://schemas.microsoft.com/office/drawing/2014/main" id="{D796DCE4-8AC6-B8D8-659C-169C43824859}"/>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24" name="תיבת טקסט 23">
            <a:extLst>
              <a:ext uri="{FF2B5EF4-FFF2-40B4-BE49-F238E27FC236}">
                <a16:creationId xmlns:a16="http://schemas.microsoft.com/office/drawing/2014/main" id="{3DF3C621-E334-6152-B853-78C299A5B7DD}"/>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8"/>
              </a:rPr>
              <a:t>Bar Cohen</a:t>
            </a:r>
            <a:endParaRPr lang="he-IL" b="1" dirty="0"/>
          </a:p>
        </p:txBody>
      </p:sp>
      <p:sp>
        <p:nvSpPr>
          <p:cNvPr id="25" name="תיבת טקסט 24">
            <a:extLst>
              <a:ext uri="{FF2B5EF4-FFF2-40B4-BE49-F238E27FC236}">
                <a16:creationId xmlns:a16="http://schemas.microsoft.com/office/drawing/2014/main" id="{F19A21B5-5AEA-4E3E-EB10-9253C18521D1}"/>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9"/>
              </a:rPr>
              <a:t>Sahar haim Yaccov</a:t>
            </a:r>
          </a:p>
          <a:p>
            <a:r>
              <a:rPr lang="en" b="1" dirty="0">
                <a:hlinkClick r:id="rId9"/>
              </a:rPr>
              <a:t> </a:t>
            </a:r>
            <a:endParaRPr lang="he-IL" dirty="0"/>
          </a:p>
        </p:txBody>
      </p:sp>
      <p:pic>
        <p:nvPicPr>
          <p:cNvPr id="26" name="תמונה 25" descr="תמונה שמכילה טקסט, צילום מסך, גרפיקה, סמל&#10;&#10;תוכן בינה מלאכותית גנרטיבית עשוי להיות שגוי.">
            <a:extLst>
              <a:ext uri="{FF2B5EF4-FFF2-40B4-BE49-F238E27FC236}">
                <a16:creationId xmlns:a16="http://schemas.microsoft.com/office/drawing/2014/main" id="{8BFF2978-C234-9048-15BA-B86A53B1113E}"/>
              </a:ext>
            </a:extLst>
          </p:cNvPr>
          <p:cNvPicPr>
            <a:picLocks noChangeAspect="1"/>
          </p:cNvPicPr>
          <p:nvPr/>
        </p:nvPicPr>
        <p:blipFill>
          <a:blip r:embed="rId10"/>
          <a:stretch>
            <a:fillRect/>
          </a:stretch>
        </p:blipFill>
        <p:spPr>
          <a:xfrm>
            <a:off x="10580509" y="7621427"/>
            <a:ext cx="307504" cy="225346"/>
          </a:xfrm>
          <a:prstGeom prst="rect">
            <a:avLst/>
          </a:prstGeom>
        </p:spPr>
      </p:pic>
      <p:pic>
        <p:nvPicPr>
          <p:cNvPr id="27" name="תמונה 26" descr="תמונה שמכילה טקסט, צילום מסך, גרפיקה, סמל&#10;&#10;תוכן בינה מלאכותית גנרטיבית עשוי להיות שגוי.">
            <a:extLst>
              <a:ext uri="{FF2B5EF4-FFF2-40B4-BE49-F238E27FC236}">
                <a16:creationId xmlns:a16="http://schemas.microsoft.com/office/drawing/2014/main" id="{39A12377-CD30-D2DB-3A0D-97F490D946BF}"/>
              </a:ext>
            </a:extLst>
          </p:cNvPr>
          <p:cNvPicPr>
            <a:picLocks noChangeAspect="1"/>
          </p:cNvPicPr>
          <p:nvPr/>
        </p:nvPicPr>
        <p:blipFill>
          <a:blip r:embed="rId10"/>
          <a:stretch>
            <a:fillRect/>
          </a:stretch>
        </p:blipFill>
        <p:spPr>
          <a:xfrm>
            <a:off x="10580509" y="7938840"/>
            <a:ext cx="307504" cy="22534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86550" y="1115704"/>
            <a:ext cx="7080051" cy="674846"/>
          </a:xfrm>
          <a:prstGeom prst="rect">
            <a:avLst/>
          </a:prstGeom>
          <a:noFill/>
          <a:ln/>
        </p:spPr>
        <p:txBody>
          <a:bodyPr wrap="none" lIns="0" tIns="0" rIns="0" bIns="0" rtlCol="0" anchor="t"/>
          <a:lstStyle/>
          <a:p>
            <a:pPr marL="0" indent="0">
              <a:lnSpc>
                <a:spcPts val="5300"/>
              </a:lnSpc>
              <a:buNone/>
            </a:pPr>
            <a:r>
              <a:rPr lang="he-IL" sz="4400" b="1" u="sng" dirty="0">
                <a:solidFill>
                  <a:schemeClr val="bg1"/>
                </a:solidFill>
                <a:latin typeface="Arial" panose="020B0604020202020204" pitchFamily="34" charset="0"/>
                <a:cs typeface="Arial" panose="020B0604020202020204" pitchFamily="34" charset="0"/>
              </a:rPr>
              <a:t>מטרות</a:t>
            </a:r>
            <a:r>
              <a:rPr lang="he-IL" sz="4400" b="1" i="0" u="sng" strike="noStrike" dirty="0">
                <a:solidFill>
                  <a:schemeClr val="bg1"/>
                </a:solidFill>
                <a:effectLst/>
                <a:latin typeface="Arial" panose="020B0604020202020204" pitchFamily="34" charset="0"/>
                <a:cs typeface="Arial" panose="020B0604020202020204" pitchFamily="34" charset="0"/>
              </a:rPr>
              <a:t> עסקיות ויעדי הפרויקט</a:t>
            </a:r>
            <a:endParaRPr lang="en-US" sz="4250" b="1" u="sng"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863798" y="2000419"/>
            <a:ext cx="12902803" cy="1268748"/>
          </a:xfrm>
          <a:prstGeom prst="rect">
            <a:avLst/>
          </a:prstGeom>
          <a:noFill/>
          <a:ln/>
        </p:spPr>
        <p:txBody>
          <a:bodyPr wrap="square" lIns="0" tIns="0" rIns="0" bIns="0" rtlCol="0" anchor="t"/>
          <a:lstStyle/>
          <a:p>
            <a:pPr marL="0" indent="0">
              <a:lnSpc>
                <a:spcPts val="2700"/>
              </a:lnSpc>
              <a:buNone/>
            </a:pPr>
            <a:r>
              <a:rPr lang="he-IL" sz="2400" b="0" i="0" u="none" strike="noStrike" dirty="0">
                <a:solidFill>
                  <a:schemeClr val="bg1"/>
                </a:solidFill>
                <a:effectLst/>
                <a:latin typeface="Arial" panose="020B0604020202020204" pitchFamily="34" charset="0"/>
                <a:cs typeface="Arial" panose="020B0604020202020204" pitchFamily="34" charset="0"/>
              </a:rPr>
              <a:t>בנוף הדיגיטלי של ימנו, אבטחת מידע היא בעלת חשיבות עליונה. פרויקט זה תואם את היעדים העסקיים הקריטיים על ידי שיפור יכולת החיזוי למתקפות סייבר , הפחתת זמני התגובה ואופטימיזציה של הקצאת המשאבים. הצלחה נמדדת לא רק על ידי דיוק החיזוי אלא גם על ידי הפחתת תוצאות חיוביות כוזבות והירידה הכוללת בהשפעה של אירועי סייבר.</a:t>
            </a:r>
            <a:endParaRPr lang="en-US" sz="2800" dirty="0">
              <a:solidFill>
                <a:schemeClr val="bg1"/>
              </a:solidFill>
              <a:latin typeface="Arial" panose="020B0604020202020204" pitchFamily="34" charset="0"/>
              <a:cs typeface="Arial" panose="020B0604020202020204" pitchFamily="34" charset="0"/>
            </a:endParaRPr>
          </a:p>
        </p:txBody>
      </p:sp>
      <p:sp>
        <p:nvSpPr>
          <p:cNvPr id="4" name="Text 2"/>
          <p:cNvSpPr/>
          <p:nvPr/>
        </p:nvSpPr>
        <p:spPr>
          <a:xfrm>
            <a:off x="863798" y="3824645"/>
            <a:ext cx="4120991" cy="712708"/>
          </a:xfrm>
          <a:prstGeom prst="rect">
            <a:avLst/>
          </a:prstGeom>
          <a:noFill/>
          <a:ln/>
        </p:spPr>
        <p:txBody>
          <a:bodyPr wrap="none" lIns="0" tIns="0" rIns="0" bIns="0" rtlCol="0" anchor="t"/>
          <a:lstStyle/>
          <a:p>
            <a:pPr marL="0" indent="0">
              <a:lnSpc>
                <a:spcPts val="5600"/>
              </a:lnSpc>
              <a:buNone/>
            </a:pPr>
            <a:r>
              <a:rPr lang="he-IL" sz="5600" dirty="0">
                <a:solidFill>
                  <a:srgbClr val="E2E6E9"/>
                </a:solidFill>
                <a:latin typeface="Arial" panose="020B0604020202020204" pitchFamily="34" charset="0"/>
                <a:ea typeface="Merriweather" pitchFamily="34" charset="-122"/>
                <a:cs typeface="Arial" panose="020B0604020202020204" pitchFamily="34" charset="0"/>
              </a:rPr>
              <a:t>15% </a:t>
            </a:r>
            <a:r>
              <a:rPr lang="en-US" sz="5600" dirty="0">
                <a:solidFill>
                  <a:srgbClr val="E2E6E9"/>
                </a:solidFill>
                <a:latin typeface="Arial" panose="020B0604020202020204" pitchFamily="34" charset="0"/>
                <a:ea typeface="Merriweather" pitchFamily="34" charset="-122"/>
                <a:cs typeface="Arial" panose="020B0604020202020204" pitchFamily="34" charset="0"/>
              </a:rPr>
              <a:t>+</a:t>
            </a:r>
            <a:endParaRPr lang="en-US" sz="5600" dirty="0">
              <a:latin typeface="Arial" panose="020B0604020202020204" pitchFamily="34" charset="0"/>
              <a:cs typeface="Arial" panose="020B0604020202020204" pitchFamily="34" charset="0"/>
            </a:endParaRPr>
          </a:p>
        </p:txBody>
      </p:sp>
      <p:sp>
        <p:nvSpPr>
          <p:cNvPr id="5" name="Text 3"/>
          <p:cNvSpPr/>
          <p:nvPr/>
        </p:nvSpPr>
        <p:spPr>
          <a:xfrm>
            <a:off x="2285166" y="4807148"/>
            <a:ext cx="2699623" cy="337304"/>
          </a:xfrm>
          <a:prstGeom prst="rect">
            <a:avLst/>
          </a:prstGeom>
          <a:noFill/>
          <a:ln/>
        </p:spPr>
        <p:txBody>
          <a:bodyPr wrap="none" lIns="0" tIns="0" rIns="0" bIns="0" rtlCol="0" anchor="t"/>
          <a:lstStyle/>
          <a:p>
            <a:pPr marL="0" indent="0">
              <a:lnSpc>
                <a:spcPts val="2650"/>
              </a:lnSpc>
              <a:buNone/>
            </a:pPr>
            <a:r>
              <a:rPr lang="he-IL" sz="2100" dirty="0">
                <a:solidFill>
                  <a:srgbClr val="E2E6E9"/>
                </a:solidFill>
                <a:latin typeface="Arial" panose="020B0604020202020204" pitchFamily="34" charset="0"/>
                <a:cs typeface="Arial" panose="020B0604020202020204" pitchFamily="34" charset="0"/>
              </a:rPr>
              <a:t>דיוק חיזוי</a:t>
            </a:r>
            <a:endParaRPr lang="en-US" sz="2100" dirty="0">
              <a:latin typeface="Arial" panose="020B0604020202020204" pitchFamily="34" charset="0"/>
              <a:cs typeface="Arial" panose="020B0604020202020204" pitchFamily="34" charset="0"/>
            </a:endParaRPr>
          </a:p>
        </p:txBody>
      </p:sp>
      <p:sp>
        <p:nvSpPr>
          <p:cNvPr id="6" name="Text 4"/>
          <p:cNvSpPr/>
          <p:nvPr/>
        </p:nvSpPr>
        <p:spPr>
          <a:xfrm>
            <a:off x="863798" y="5273993"/>
            <a:ext cx="4120991" cy="691039"/>
          </a:xfrm>
          <a:prstGeom prst="rect">
            <a:avLst/>
          </a:prstGeom>
          <a:noFill/>
          <a:ln/>
        </p:spPr>
        <p:txBody>
          <a:bodyPr wrap="square" lIns="0" tIns="0" rIns="0" bIns="0" rtlCol="0" anchor="t"/>
          <a:lstStyle/>
          <a:p>
            <a:pPr marL="0" indent="0">
              <a:lnSpc>
                <a:spcPts val="2700"/>
              </a:lnSpc>
              <a:buNone/>
            </a:pPr>
            <a:r>
              <a:rPr lang="he-IL" sz="1700" dirty="0">
                <a:solidFill>
                  <a:srgbClr val="E2E6E9"/>
                </a:solidFill>
                <a:latin typeface="Arial" panose="020B0604020202020204" pitchFamily="34" charset="0"/>
                <a:ea typeface="Merriweather" pitchFamily="34" charset="-122"/>
                <a:cs typeface="Arial" panose="020B0604020202020204" pitchFamily="34" charset="0"/>
              </a:rPr>
              <a:t>יעד הדיוק </a:t>
            </a:r>
            <a:endParaRPr lang="en-US" sz="1700" dirty="0">
              <a:latin typeface="Arial" panose="020B0604020202020204" pitchFamily="34" charset="0"/>
              <a:cs typeface="Arial" panose="020B0604020202020204" pitchFamily="34" charset="0"/>
            </a:endParaRPr>
          </a:p>
        </p:txBody>
      </p:sp>
      <p:sp>
        <p:nvSpPr>
          <p:cNvPr id="7" name="Text 5"/>
          <p:cNvSpPr/>
          <p:nvPr/>
        </p:nvSpPr>
        <p:spPr>
          <a:xfrm>
            <a:off x="5254704" y="3824645"/>
            <a:ext cx="4120991" cy="712708"/>
          </a:xfrm>
          <a:prstGeom prst="rect">
            <a:avLst/>
          </a:prstGeom>
          <a:noFill/>
          <a:ln/>
        </p:spPr>
        <p:txBody>
          <a:bodyPr wrap="none" lIns="0" tIns="0" rIns="0" bIns="0" rtlCol="0" anchor="t"/>
          <a:lstStyle/>
          <a:p>
            <a:pPr marL="0" indent="0">
              <a:lnSpc>
                <a:spcPts val="5600"/>
              </a:lnSpc>
              <a:buNone/>
            </a:pPr>
            <a:r>
              <a:rPr lang="he-IL" sz="5600" dirty="0">
                <a:solidFill>
                  <a:srgbClr val="E2E6E9"/>
                </a:solidFill>
                <a:latin typeface="Arial" panose="020B0604020202020204" pitchFamily="34" charset="0"/>
                <a:ea typeface="Merriweather" pitchFamily="34" charset="-122"/>
                <a:cs typeface="Arial" panose="020B0604020202020204" pitchFamily="34" charset="0"/>
              </a:rPr>
              <a:t>5 דקות</a:t>
            </a:r>
            <a:r>
              <a:rPr lang="en-US" sz="5600" dirty="0">
                <a:solidFill>
                  <a:srgbClr val="E2E6E9"/>
                </a:solidFill>
                <a:latin typeface="Arial" panose="020B0604020202020204" pitchFamily="34" charset="0"/>
                <a:ea typeface="Merriweather" pitchFamily="34" charset="-122"/>
                <a:cs typeface="Arial" panose="020B0604020202020204" pitchFamily="34" charset="0"/>
              </a:rPr>
              <a:t>- </a:t>
            </a:r>
            <a:endParaRPr lang="en-US" sz="5600" dirty="0">
              <a:latin typeface="Arial" panose="020B0604020202020204" pitchFamily="34" charset="0"/>
              <a:cs typeface="Arial" panose="020B0604020202020204" pitchFamily="34" charset="0"/>
            </a:endParaRPr>
          </a:p>
        </p:txBody>
      </p:sp>
      <p:sp>
        <p:nvSpPr>
          <p:cNvPr id="8" name="Text 6"/>
          <p:cNvSpPr/>
          <p:nvPr/>
        </p:nvSpPr>
        <p:spPr>
          <a:xfrm>
            <a:off x="6218872" y="4807148"/>
            <a:ext cx="3156823" cy="337304"/>
          </a:xfrm>
          <a:prstGeom prst="rect">
            <a:avLst/>
          </a:prstGeom>
          <a:noFill/>
          <a:ln/>
        </p:spPr>
        <p:txBody>
          <a:bodyPr wrap="none" lIns="0" tIns="0" rIns="0" bIns="0" rtlCol="0" anchor="t"/>
          <a:lstStyle/>
          <a:p>
            <a:pPr marL="0" indent="0">
              <a:lnSpc>
                <a:spcPts val="2650"/>
              </a:lnSpc>
              <a:buNone/>
            </a:pPr>
            <a:r>
              <a:rPr lang="he-IL" sz="2100" dirty="0">
                <a:solidFill>
                  <a:srgbClr val="E2E6E9"/>
                </a:solidFill>
                <a:latin typeface="Arial" panose="020B0604020202020204" pitchFamily="34" charset="0"/>
                <a:ea typeface="Merriweather" pitchFamily="34" charset="-122"/>
                <a:cs typeface="Arial" panose="020B0604020202020204" pitchFamily="34" charset="0"/>
              </a:rPr>
              <a:t>זיהוי מוקדם של תקיפות</a:t>
            </a:r>
            <a:endParaRPr lang="en-US" sz="2100" dirty="0">
              <a:latin typeface="Arial" panose="020B0604020202020204" pitchFamily="34" charset="0"/>
              <a:cs typeface="Arial" panose="020B0604020202020204" pitchFamily="34" charset="0"/>
            </a:endParaRPr>
          </a:p>
        </p:txBody>
      </p:sp>
      <p:sp>
        <p:nvSpPr>
          <p:cNvPr id="9" name="Text 7"/>
          <p:cNvSpPr/>
          <p:nvPr/>
        </p:nvSpPr>
        <p:spPr>
          <a:xfrm>
            <a:off x="5254704" y="5273993"/>
            <a:ext cx="4120991" cy="691039"/>
          </a:xfrm>
          <a:prstGeom prst="rect">
            <a:avLst/>
          </a:prstGeom>
          <a:noFill/>
          <a:ln/>
        </p:spPr>
        <p:txBody>
          <a:bodyPr wrap="square" lIns="0" tIns="0" rIns="0" bIns="0" rtlCol="0" anchor="t"/>
          <a:lstStyle/>
          <a:p>
            <a:pPr marL="0" indent="0">
              <a:lnSpc>
                <a:spcPts val="2700"/>
              </a:lnSpc>
              <a:buNone/>
            </a:pPr>
            <a:r>
              <a:rPr lang="he-IL" sz="1700" dirty="0">
                <a:solidFill>
                  <a:srgbClr val="E2E6E9"/>
                </a:solidFill>
                <a:latin typeface="Arial" panose="020B0604020202020204" pitchFamily="34" charset="0"/>
                <a:ea typeface="Merriweather" pitchFamily="34" charset="-122"/>
                <a:cs typeface="Arial" panose="020B0604020202020204" pitchFamily="34" charset="0"/>
              </a:rPr>
              <a:t>זיהוי והערכות מוקדמת לתקיפות</a:t>
            </a:r>
            <a:endParaRPr lang="en-US" sz="1700" dirty="0">
              <a:latin typeface="Arial" panose="020B0604020202020204" pitchFamily="34" charset="0"/>
              <a:cs typeface="Arial" panose="020B0604020202020204" pitchFamily="34" charset="0"/>
            </a:endParaRPr>
          </a:p>
        </p:txBody>
      </p:sp>
      <p:sp>
        <p:nvSpPr>
          <p:cNvPr id="10" name="Text 8"/>
          <p:cNvSpPr/>
          <p:nvPr/>
        </p:nvSpPr>
        <p:spPr>
          <a:xfrm>
            <a:off x="9645610" y="3824645"/>
            <a:ext cx="4120991" cy="712708"/>
          </a:xfrm>
          <a:prstGeom prst="rect">
            <a:avLst/>
          </a:prstGeom>
          <a:noFill/>
          <a:ln/>
        </p:spPr>
        <p:txBody>
          <a:bodyPr wrap="none" lIns="0" tIns="0" rIns="0" bIns="0" rtlCol="0" anchor="t"/>
          <a:lstStyle/>
          <a:p>
            <a:pPr marL="0" indent="0">
              <a:lnSpc>
                <a:spcPts val="5600"/>
              </a:lnSpc>
              <a:buNone/>
            </a:pPr>
            <a:r>
              <a:rPr lang="en-US" sz="5600" dirty="0">
                <a:solidFill>
                  <a:srgbClr val="E2E6E9"/>
                </a:solidFill>
                <a:latin typeface="Arial" panose="020B0604020202020204" pitchFamily="34" charset="0"/>
                <a:ea typeface="Merriweather" pitchFamily="34" charset="-122"/>
                <a:cs typeface="Arial" panose="020B0604020202020204" pitchFamily="34" charset="0"/>
              </a:rPr>
              <a:t>+ 25%</a:t>
            </a:r>
            <a:endParaRPr lang="en-US" sz="5600" dirty="0">
              <a:latin typeface="Arial" panose="020B0604020202020204" pitchFamily="34" charset="0"/>
              <a:cs typeface="Arial" panose="020B0604020202020204" pitchFamily="34" charset="0"/>
            </a:endParaRPr>
          </a:p>
        </p:txBody>
      </p:sp>
      <p:sp>
        <p:nvSpPr>
          <p:cNvPr id="11" name="Text 9"/>
          <p:cNvSpPr/>
          <p:nvPr/>
        </p:nvSpPr>
        <p:spPr>
          <a:xfrm>
            <a:off x="11025425" y="4807148"/>
            <a:ext cx="2741176" cy="337304"/>
          </a:xfrm>
          <a:prstGeom prst="rect">
            <a:avLst/>
          </a:prstGeom>
          <a:noFill/>
          <a:ln/>
        </p:spPr>
        <p:txBody>
          <a:bodyPr wrap="none" lIns="0" tIns="0" rIns="0" bIns="0" rtlCol="0" anchor="t"/>
          <a:lstStyle/>
          <a:p>
            <a:pPr marL="0" indent="0">
              <a:lnSpc>
                <a:spcPts val="2650"/>
              </a:lnSpc>
              <a:buNone/>
            </a:pPr>
            <a:r>
              <a:rPr lang="he-IL" sz="2100" dirty="0">
                <a:solidFill>
                  <a:srgbClr val="E2E6E9"/>
                </a:solidFill>
                <a:latin typeface="Arial" panose="020B0604020202020204" pitchFamily="34" charset="0"/>
                <a:ea typeface="Merriweather" pitchFamily="34" charset="-122"/>
                <a:cs typeface="Arial" panose="020B0604020202020204" pitchFamily="34" charset="0"/>
              </a:rPr>
              <a:t>מיטוב משאבים</a:t>
            </a:r>
            <a:endParaRPr lang="en-US" sz="2100" dirty="0">
              <a:latin typeface="Arial" panose="020B0604020202020204" pitchFamily="34" charset="0"/>
              <a:cs typeface="Arial" panose="020B0604020202020204" pitchFamily="34" charset="0"/>
            </a:endParaRPr>
          </a:p>
        </p:txBody>
      </p:sp>
      <p:sp>
        <p:nvSpPr>
          <p:cNvPr id="12" name="Text 10"/>
          <p:cNvSpPr/>
          <p:nvPr/>
        </p:nvSpPr>
        <p:spPr>
          <a:xfrm>
            <a:off x="9645610" y="5273993"/>
            <a:ext cx="4120991" cy="691039"/>
          </a:xfrm>
          <a:prstGeom prst="rect">
            <a:avLst/>
          </a:prstGeom>
          <a:noFill/>
          <a:ln/>
        </p:spPr>
        <p:txBody>
          <a:bodyPr wrap="square" lIns="0" tIns="0" rIns="0" bIns="0" rtlCol="0" anchor="t"/>
          <a:lstStyle/>
          <a:p>
            <a:pPr marL="0" indent="0">
              <a:lnSpc>
                <a:spcPts val="2700"/>
              </a:lnSpc>
              <a:buNone/>
            </a:pPr>
            <a:r>
              <a:rPr lang="he-IL" sz="1700" dirty="0">
                <a:solidFill>
                  <a:srgbClr val="E2E6E9"/>
                </a:solidFill>
                <a:latin typeface="Arial" panose="020B0604020202020204" pitchFamily="34" charset="0"/>
                <a:ea typeface="Merriweather" pitchFamily="34" charset="-122"/>
                <a:cs typeface="Arial" panose="020B0604020202020204" pitchFamily="34" charset="0"/>
              </a:rPr>
              <a:t>מיטוב ויעילות בחלוקת משאבים </a:t>
            </a:r>
            <a:endParaRPr lang="en-US" sz="1700" dirty="0">
              <a:latin typeface="Arial" panose="020B0604020202020204" pitchFamily="34" charset="0"/>
              <a:cs typeface="Arial" panose="020B0604020202020204" pitchFamily="34" charset="0"/>
            </a:endParaRPr>
          </a:p>
        </p:txBody>
      </p:sp>
      <p:sp>
        <p:nvSpPr>
          <p:cNvPr id="13" name="Text 11"/>
          <p:cNvSpPr/>
          <p:nvPr/>
        </p:nvSpPr>
        <p:spPr>
          <a:xfrm>
            <a:off x="863798" y="6207919"/>
            <a:ext cx="12902803" cy="691039"/>
          </a:xfrm>
          <a:prstGeom prst="rect">
            <a:avLst/>
          </a:prstGeom>
          <a:noFill/>
          <a:ln/>
        </p:spPr>
        <p:txBody>
          <a:bodyPr wrap="square" lIns="0" tIns="0" rIns="0" bIns="0" rtlCol="0" anchor="t"/>
          <a:lstStyle/>
          <a:p>
            <a:pPr marL="0" indent="0">
              <a:lnSpc>
                <a:spcPts val="2700"/>
              </a:lnSpc>
              <a:buNone/>
            </a:pPr>
            <a:r>
              <a:rPr lang="he-IL" sz="2400" b="0" i="0" u="none" strike="noStrike" dirty="0">
                <a:solidFill>
                  <a:schemeClr val="bg1"/>
                </a:solidFill>
                <a:effectLst/>
                <a:latin typeface="Arial" panose="020B0604020202020204" pitchFamily="34" charset="0"/>
                <a:cs typeface="Arial" panose="020B0604020202020204" pitchFamily="34" charset="0"/>
              </a:rPr>
              <a:t>מדדים אלה מבטיחים שהמודל שלנו מספק ערך לאבטחת הארגון , המתורגם ישירות לחוסן ארגוני משופר מלפני איומי סייבר.</a:t>
            </a:r>
            <a:endParaRPr lang="en-US" sz="2800" dirty="0">
              <a:solidFill>
                <a:schemeClr val="bg1"/>
              </a:solidFill>
              <a:latin typeface="Arial" panose="020B0604020202020204" pitchFamily="34" charset="0"/>
              <a:cs typeface="Arial" panose="020B0604020202020204" pitchFamily="34" charset="0"/>
            </a:endParaRPr>
          </a:p>
        </p:txBody>
      </p:sp>
      <p:pic>
        <p:nvPicPr>
          <p:cNvPr id="16" name="תמונה 15">
            <a:extLst>
              <a:ext uri="{FF2B5EF4-FFF2-40B4-BE49-F238E27FC236}">
                <a16:creationId xmlns:a16="http://schemas.microsoft.com/office/drawing/2014/main" id="{997602FB-CB75-E5BC-8205-3089527B5E3D}"/>
              </a:ext>
            </a:extLst>
          </p:cNvPr>
          <p:cNvPicPr>
            <a:picLocks noChangeAspect="1"/>
          </p:cNvPicPr>
          <p:nvPr/>
        </p:nvPicPr>
        <p:blipFill>
          <a:blip r:embed="rId3"/>
          <a:stretch>
            <a:fillRect/>
          </a:stretch>
        </p:blipFill>
        <p:spPr>
          <a:xfrm>
            <a:off x="12777537" y="7549434"/>
            <a:ext cx="1852865" cy="666518"/>
          </a:xfrm>
          <a:prstGeom prst="rect">
            <a:avLst/>
          </a:prstGeom>
          <a:ln>
            <a:noFill/>
          </a:ln>
          <a:effectLst>
            <a:softEdge rad="112500"/>
          </a:effectLst>
        </p:spPr>
      </p:pic>
      <p:pic>
        <p:nvPicPr>
          <p:cNvPr id="14" name="תמונה 13"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EDFEE039-2DF1-F723-FD88-099F42FAC136}"/>
              </a:ext>
            </a:extLst>
          </p:cNvPr>
          <p:cNvPicPr>
            <a:picLocks noChangeAspect="1"/>
          </p:cNvPicPr>
          <p:nvPr/>
        </p:nvPicPr>
        <p:blipFill>
          <a:blip r:embed="rId4"/>
          <a:stretch>
            <a:fillRect/>
          </a:stretch>
        </p:blipFill>
        <p:spPr>
          <a:xfrm>
            <a:off x="13228320" y="23157"/>
            <a:ext cx="1402079" cy="660980"/>
          </a:xfrm>
          <a:prstGeom prst="rect">
            <a:avLst/>
          </a:prstGeom>
        </p:spPr>
      </p:pic>
      <p:sp>
        <p:nvSpPr>
          <p:cNvPr id="15" name="תיבת טקסט 14">
            <a:extLst>
              <a:ext uri="{FF2B5EF4-FFF2-40B4-BE49-F238E27FC236}">
                <a16:creationId xmlns:a16="http://schemas.microsoft.com/office/drawing/2014/main" id="{52DC2AA6-85E7-0D2F-48DD-6545EB3E7EE1}"/>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17" name="תיבת טקסט 16">
            <a:extLst>
              <a:ext uri="{FF2B5EF4-FFF2-40B4-BE49-F238E27FC236}">
                <a16:creationId xmlns:a16="http://schemas.microsoft.com/office/drawing/2014/main" id="{60DC7E23-826A-6E25-F27E-3551C4F47583}"/>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5"/>
              </a:rPr>
              <a:t>Bar Cohen</a:t>
            </a:r>
            <a:endParaRPr lang="he-IL" b="1" dirty="0"/>
          </a:p>
        </p:txBody>
      </p:sp>
      <p:sp>
        <p:nvSpPr>
          <p:cNvPr id="18" name="תיבת טקסט 17">
            <a:extLst>
              <a:ext uri="{FF2B5EF4-FFF2-40B4-BE49-F238E27FC236}">
                <a16:creationId xmlns:a16="http://schemas.microsoft.com/office/drawing/2014/main" id="{42AD47AF-4067-9B86-D696-935F9E79A038}"/>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6"/>
              </a:rPr>
              <a:t>Sahar haim Yaccov</a:t>
            </a:r>
          </a:p>
          <a:p>
            <a:r>
              <a:rPr lang="en" b="1" dirty="0">
                <a:hlinkClick r:id="rId6"/>
              </a:rPr>
              <a:t> </a:t>
            </a:r>
            <a:endParaRPr lang="he-IL" dirty="0"/>
          </a:p>
        </p:txBody>
      </p:sp>
      <p:pic>
        <p:nvPicPr>
          <p:cNvPr id="19" name="תמונה 18" descr="תמונה שמכילה טקסט, צילום מסך, גרפיקה, סמל&#10;&#10;תוכן בינה מלאכותית גנרטיבית עשוי להיות שגוי.">
            <a:extLst>
              <a:ext uri="{FF2B5EF4-FFF2-40B4-BE49-F238E27FC236}">
                <a16:creationId xmlns:a16="http://schemas.microsoft.com/office/drawing/2014/main" id="{26095D58-DDBF-20DD-1322-34B778B063CE}"/>
              </a:ext>
            </a:extLst>
          </p:cNvPr>
          <p:cNvPicPr>
            <a:picLocks noChangeAspect="1"/>
          </p:cNvPicPr>
          <p:nvPr/>
        </p:nvPicPr>
        <p:blipFill>
          <a:blip r:embed="rId7"/>
          <a:stretch>
            <a:fillRect/>
          </a:stretch>
        </p:blipFill>
        <p:spPr>
          <a:xfrm>
            <a:off x="10580509" y="7621427"/>
            <a:ext cx="307504" cy="225346"/>
          </a:xfrm>
          <a:prstGeom prst="rect">
            <a:avLst/>
          </a:prstGeom>
        </p:spPr>
      </p:pic>
      <p:pic>
        <p:nvPicPr>
          <p:cNvPr id="20" name="תמונה 19" descr="תמונה שמכילה טקסט, צילום מסך, גרפיקה, סמל&#10;&#10;תוכן בינה מלאכותית גנרטיבית עשוי להיות שגוי.">
            <a:extLst>
              <a:ext uri="{FF2B5EF4-FFF2-40B4-BE49-F238E27FC236}">
                <a16:creationId xmlns:a16="http://schemas.microsoft.com/office/drawing/2014/main" id="{F51B26A1-BFFD-35F3-35FC-142F146331C4}"/>
              </a:ext>
            </a:extLst>
          </p:cNvPr>
          <p:cNvPicPr>
            <a:picLocks noChangeAspect="1"/>
          </p:cNvPicPr>
          <p:nvPr/>
        </p:nvPicPr>
        <p:blipFill>
          <a:blip r:embed="rId7"/>
          <a:stretch>
            <a:fillRect/>
          </a:stretch>
        </p:blipFill>
        <p:spPr>
          <a:xfrm>
            <a:off x="10580509" y="7938840"/>
            <a:ext cx="307504" cy="22534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52372" y="759554"/>
            <a:ext cx="8199953" cy="607933"/>
          </a:xfrm>
          <a:prstGeom prst="rect">
            <a:avLst/>
          </a:prstGeom>
          <a:noFill/>
          <a:ln/>
        </p:spPr>
        <p:txBody>
          <a:bodyPr wrap="none" lIns="0" tIns="0" rIns="0" bIns="0" rtlCol="0" anchor="t"/>
          <a:lstStyle/>
          <a:p>
            <a:pPr marL="0" indent="0">
              <a:lnSpc>
                <a:spcPts val="4750"/>
              </a:lnSpc>
              <a:buNone/>
            </a:pPr>
            <a:r>
              <a:rPr lang="he-IL" sz="4000" b="1" i="0" u="sng" strike="noStrike" dirty="0">
                <a:solidFill>
                  <a:schemeClr val="bg1"/>
                </a:solidFill>
                <a:effectLst/>
                <a:latin typeface="Arial" panose="020B0604020202020204" pitchFamily="34" charset="0"/>
                <a:cs typeface="Arial" panose="020B0604020202020204" pitchFamily="34" charset="0"/>
              </a:rPr>
              <a:t>מתודולוגיה : גישת </a:t>
            </a:r>
            <a:r>
              <a:rPr lang="en" sz="4000" b="1" i="0" u="sng" strike="noStrike" dirty="0">
                <a:solidFill>
                  <a:schemeClr val="bg1"/>
                </a:solidFill>
                <a:effectLst/>
                <a:latin typeface="Arial" panose="020B0604020202020204" pitchFamily="34" charset="0"/>
                <a:cs typeface="Arial" panose="020B0604020202020204" pitchFamily="34" charset="0"/>
              </a:rPr>
              <a:t>CRISP-DM</a:t>
            </a:r>
            <a:endParaRPr lang="en-US" sz="3800" b="1" u="sng"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778073" y="1539121"/>
            <a:ext cx="13074253" cy="933688"/>
          </a:xfrm>
          <a:prstGeom prst="rect">
            <a:avLst/>
          </a:prstGeom>
          <a:noFill/>
          <a:ln/>
        </p:spPr>
        <p:txBody>
          <a:bodyPr wrap="square" lIns="0" tIns="0" rIns="0" bIns="0" rtlCol="0" anchor="t"/>
          <a:lstStyle/>
          <a:p>
            <a:pPr marL="0" indent="0">
              <a:lnSpc>
                <a:spcPts val="2450"/>
              </a:lnSpc>
              <a:buNone/>
            </a:pPr>
            <a:r>
              <a:rPr lang="he-IL" sz="2000" b="0" i="0" u="none" strike="noStrike" dirty="0">
                <a:solidFill>
                  <a:schemeClr val="bg1"/>
                </a:solidFill>
                <a:effectLst/>
                <a:latin typeface="Arial" panose="020B0604020202020204" pitchFamily="34" charset="0"/>
                <a:cs typeface="Arial" panose="020B0604020202020204" pitchFamily="34" charset="0"/>
              </a:rPr>
              <a:t>הפרויקט שלנו אימץ את מתודולוגיית התהליך הסטנדרטי </a:t>
            </a:r>
            <a:r>
              <a:rPr lang="he-IL" sz="2000" dirty="0">
                <a:solidFill>
                  <a:schemeClr val="bg1"/>
                </a:solidFill>
                <a:latin typeface="Arial" panose="020B0604020202020204" pitchFamily="34" charset="0"/>
                <a:cs typeface="Arial" panose="020B0604020202020204" pitchFamily="34" charset="0"/>
              </a:rPr>
              <a:t>לחיזוי </a:t>
            </a:r>
            <a:r>
              <a:rPr lang="he-IL" sz="2000" b="0" i="0" u="none" strike="noStrike" dirty="0">
                <a:solidFill>
                  <a:schemeClr val="bg1"/>
                </a:solidFill>
                <a:effectLst/>
                <a:latin typeface="Arial" panose="020B0604020202020204" pitchFamily="34" charset="0"/>
                <a:cs typeface="Arial" panose="020B0604020202020204" pitchFamily="34" charset="0"/>
              </a:rPr>
              <a:t>נתונים </a:t>
            </a:r>
            <a:r>
              <a:rPr lang="en" sz="2000" b="0" i="0" u="none" strike="noStrike" dirty="0">
                <a:solidFill>
                  <a:schemeClr val="bg1"/>
                </a:solidFill>
                <a:effectLst/>
                <a:latin typeface="Arial" panose="020B0604020202020204" pitchFamily="34" charset="0"/>
                <a:cs typeface="Arial" panose="020B0604020202020204" pitchFamily="34" charset="0"/>
              </a:rPr>
              <a:t>CRISP-DM) </a:t>
            </a:r>
            <a:r>
              <a:rPr lang="he-IL" sz="2000" dirty="0">
                <a:solidFill>
                  <a:schemeClr val="bg1"/>
                </a:solidFill>
                <a:latin typeface="Arial" panose="020B0604020202020204" pitchFamily="34" charset="0"/>
                <a:cs typeface="Arial" panose="020B0604020202020204" pitchFamily="34" charset="0"/>
              </a:rPr>
              <a:t>)</a:t>
            </a:r>
            <a:r>
              <a:rPr lang="en-US" sz="2000" dirty="0">
                <a:solidFill>
                  <a:schemeClr val="bg1"/>
                </a:solidFill>
                <a:latin typeface="Arial" panose="020B0604020202020204" pitchFamily="34" charset="0"/>
                <a:cs typeface="Arial" panose="020B0604020202020204" pitchFamily="34" charset="0"/>
              </a:rPr>
              <a:t> ,</a:t>
            </a:r>
            <a:r>
              <a:rPr lang="he-IL" sz="2000" b="0" i="0" u="none" strike="noStrike" dirty="0">
                <a:solidFill>
                  <a:schemeClr val="bg1"/>
                </a:solidFill>
                <a:effectLst/>
                <a:latin typeface="Arial" panose="020B0604020202020204" pitchFamily="34" charset="0"/>
                <a:cs typeface="Arial" panose="020B0604020202020204" pitchFamily="34" charset="0"/>
              </a:rPr>
              <a:t>גישה מובנית המבטיחה כיסוי מקיף מההבנה הראשונית ועד לפריסה הסופית. המסגרת השיטתית הזו הנחתה אותנו בכל שלב של הפרויקט, והבטיחה קפדנות ויעילות.</a:t>
            </a:r>
            <a:endParaRPr lang="en-US" sz="2000" dirty="0">
              <a:solidFill>
                <a:schemeClr val="bg1"/>
              </a:solidFill>
              <a:latin typeface="Arial" panose="020B0604020202020204" pitchFamily="34" charset="0"/>
              <a:cs typeface="Arial" panose="020B0604020202020204" pitchFamily="34" charset="0"/>
            </a:endParaRPr>
          </a:p>
        </p:txBody>
      </p:sp>
      <p:sp>
        <p:nvSpPr>
          <p:cNvPr id="4" name="Text 2"/>
          <p:cNvSpPr/>
          <p:nvPr/>
        </p:nvSpPr>
        <p:spPr>
          <a:xfrm>
            <a:off x="778072" y="2255658"/>
            <a:ext cx="194429" cy="243126"/>
          </a:xfrm>
          <a:prstGeom prst="rect">
            <a:avLst/>
          </a:prstGeom>
          <a:noFill/>
          <a:ln/>
        </p:spPr>
        <p:txBody>
          <a:bodyPr wrap="none" lIns="0" tIns="0" rIns="0" bIns="0" rtlCol="0" anchor="t"/>
          <a:lstStyle/>
          <a:p>
            <a:pPr marL="0" indent="0">
              <a:lnSpc>
                <a:spcPts val="2450"/>
              </a:lnSpc>
              <a:buNone/>
            </a:pPr>
            <a:r>
              <a:rPr lang="en-US" sz="1500" dirty="0">
                <a:solidFill>
                  <a:schemeClr val="bg1"/>
                </a:solidFill>
                <a:latin typeface="Arial" panose="020B0604020202020204" pitchFamily="34" charset="0"/>
                <a:ea typeface="Merriweather Light" pitchFamily="34" charset="-122"/>
                <a:cs typeface="Arial" panose="020B0604020202020204" pitchFamily="34" charset="0"/>
              </a:rPr>
              <a:t>01</a:t>
            </a:r>
            <a:endParaRPr lang="en-US" sz="1500"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778072" y="2563315"/>
            <a:ext cx="6439853" cy="22860"/>
          </a:xfrm>
          <a:prstGeom prst="rect">
            <a:avLst/>
          </a:prstGeom>
          <a:solidFill>
            <a:srgbClr val="FF0000"/>
          </a:solidFill>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6" name="Text 4"/>
          <p:cNvSpPr/>
          <p:nvPr/>
        </p:nvSpPr>
        <p:spPr>
          <a:xfrm>
            <a:off x="5687911" y="2632600"/>
            <a:ext cx="1530014" cy="731758"/>
          </a:xfrm>
          <a:prstGeom prst="rect">
            <a:avLst/>
          </a:prstGeom>
          <a:noFill/>
          <a:ln/>
        </p:spPr>
        <p:txBody>
          <a:bodyPr wrap="none" lIns="0" tIns="0" rIns="0" bIns="0" rtlCol="0" anchor="t"/>
          <a:lstStyle/>
          <a:p>
            <a:pPr marL="0" indent="0">
              <a:lnSpc>
                <a:spcPts val="2350"/>
              </a:lnSpc>
              <a:buNone/>
            </a:pPr>
            <a:r>
              <a:rPr lang="he-IL" sz="1900" dirty="0">
                <a:solidFill>
                  <a:schemeClr val="bg1"/>
                </a:solidFill>
                <a:latin typeface="Arial" panose="020B0604020202020204" pitchFamily="34" charset="0"/>
                <a:cs typeface="Arial" panose="020B0604020202020204" pitchFamily="34" charset="0"/>
              </a:rPr>
              <a:t>הבנה</a:t>
            </a:r>
            <a:r>
              <a:rPr lang="en-US" sz="1900" dirty="0">
                <a:solidFill>
                  <a:schemeClr val="bg1"/>
                </a:solidFill>
                <a:latin typeface="Arial" panose="020B0604020202020204" pitchFamily="34" charset="0"/>
                <a:cs typeface="Arial" panose="020B0604020202020204" pitchFamily="34" charset="0"/>
              </a:rPr>
              <a:t> </a:t>
            </a:r>
            <a:r>
              <a:rPr lang="he-IL" sz="1900" dirty="0">
                <a:solidFill>
                  <a:schemeClr val="bg1"/>
                </a:solidFill>
                <a:latin typeface="Arial" panose="020B0604020202020204" pitchFamily="34" charset="0"/>
                <a:cs typeface="Arial" panose="020B0604020202020204" pitchFamily="34" charset="0"/>
              </a:rPr>
              <a:t> עסקית</a:t>
            </a:r>
            <a:endParaRPr lang="en-US" sz="1900" dirty="0">
              <a:solidFill>
                <a:schemeClr val="bg1"/>
              </a:solidFill>
              <a:latin typeface="Arial" panose="020B0604020202020204" pitchFamily="34" charset="0"/>
              <a:cs typeface="Arial" panose="020B0604020202020204" pitchFamily="34" charset="0"/>
            </a:endParaRPr>
          </a:p>
        </p:txBody>
      </p:sp>
      <p:sp>
        <p:nvSpPr>
          <p:cNvPr id="7" name="Text 5"/>
          <p:cNvSpPr/>
          <p:nvPr/>
        </p:nvSpPr>
        <p:spPr>
          <a:xfrm>
            <a:off x="7412472" y="2999321"/>
            <a:ext cx="6439853" cy="1235869"/>
          </a:xfrm>
          <a:prstGeom prst="rect">
            <a:avLst/>
          </a:prstGeom>
          <a:noFill/>
          <a:ln/>
        </p:spPr>
        <p:txBody>
          <a:bodyPr wrap="square" lIns="0" tIns="0" rIns="0" bIns="0" rtlCol="0" anchor="t"/>
          <a:lstStyle/>
          <a:p>
            <a:pPr>
              <a:lnSpc>
                <a:spcPts val="2450"/>
              </a:lnSpc>
            </a:pPr>
            <a:r>
              <a:rPr lang="he-IL" sz="1600" dirty="0">
                <a:solidFill>
                  <a:schemeClr val="bg1"/>
                </a:solidFill>
              </a:rPr>
              <a:t>איסוף של הנתונים הראשוניים ממקורות שונים וביצוע חקירה ראשונית של המבנה, האיכות והתוכן שלהם. המטרה היא לזהות חוסרים, חריגות, שגיאות או תבניות מעניינות שיכולות להשפיע על הניתוח. לעיתים כבר בשלב זה מתגלות בעיות הדורשות איסוף נתונים נוסף.</a:t>
            </a:r>
            <a:endParaRPr lang="en-US" sz="1500" dirty="0">
              <a:solidFill>
                <a:schemeClr val="bg1"/>
              </a:solidFill>
              <a:latin typeface="Arial" panose="020B0604020202020204" pitchFamily="34" charset="0"/>
              <a:cs typeface="Arial" panose="020B0604020202020204" pitchFamily="34" charset="0"/>
            </a:endParaRPr>
          </a:p>
        </p:txBody>
      </p:sp>
      <p:sp>
        <p:nvSpPr>
          <p:cNvPr id="8" name="Text 6"/>
          <p:cNvSpPr/>
          <p:nvPr/>
        </p:nvSpPr>
        <p:spPr>
          <a:xfrm>
            <a:off x="7412354" y="2255658"/>
            <a:ext cx="194429" cy="243126"/>
          </a:xfrm>
          <a:prstGeom prst="rect">
            <a:avLst/>
          </a:prstGeom>
          <a:noFill/>
          <a:ln/>
        </p:spPr>
        <p:txBody>
          <a:bodyPr wrap="none" lIns="0" tIns="0" rIns="0" bIns="0" rtlCol="0" anchor="t"/>
          <a:lstStyle/>
          <a:p>
            <a:pPr marL="0" indent="0">
              <a:lnSpc>
                <a:spcPts val="2450"/>
              </a:lnSpc>
              <a:buNone/>
            </a:pPr>
            <a:r>
              <a:rPr lang="en-US" sz="1500" dirty="0">
                <a:solidFill>
                  <a:schemeClr val="bg1"/>
                </a:solidFill>
                <a:latin typeface="Arial" panose="020B0604020202020204" pitchFamily="34" charset="0"/>
                <a:ea typeface="Merriweather Light" pitchFamily="34" charset="-122"/>
                <a:cs typeface="Arial" panose="020B0604020202020204" pitchFamily="34" charset="0"/>
              </a:rPr>
              <a:t>02</a:t>
            </a:r>
            <a:endParaRPr lang="en-US" sz="1500" dirty="0">
              <a:solidFill>
                <a:schemeClr val="bg1"/>
              </a:solidFill>
              <a:latin typeface="Arial" panose="020B0604020202020204" pitchFamily="34" charset="0"/>
              <a:cs typeface="Arial" panose="020B0604020202020204" pitchFamily="34" charset="0"/>
            </a:endParaRPr>
          </a:p>
        </p:txBody>
      </p:sp>
      <p:sp>
        <p:nvSpPr>
          <p:cNvPr id="9" name="Shape 7"/>
          <p:cNvSpPr/>
          <p:nvPr/>
        </p:nvSpPr>
        <p:spPr>
          <a:xfrm>
            <a:off x="7412354" y="2563315"/>
            <a:ext cx="6439972" cy="22860"/>
          </a:xfrm>
          <a:prstGeom prst="rect">
            <a:avLst/>
          </a:prstGeom>
          <a:solidFill>
            <a:schemeClr val="accent4"/>
          </a:solidFill>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10" name="Text 8"/>
          <p:cNvSpPr/>
          <p:nvPr/>
        </p:nvSpPr>
        <p:spPr>
          <a:xfrm>
            <a:off x="11420593" y="2706190"/>
            <a:ext cx="2431733" cy="303848"/>
          </a:xfrm>
          <a:prstGeom prst="rect">
            <a:avLst/>
          </a:prstGeom>
          <a:noFill/>
          <a:ln/>
        </p:spPr>
        <p:txBody>
          <a:bodyPr wrap="none" lIns="0" tIns="0" rIns="0" bIns="0" rtlCol="0" anchor="t"/>
          <a:lstStyle/>
          <a:p>
            <a:pPr marL="0" indent="0">
              <a:lnSpc>
                <a:spcPts val="2350"/>
              </a:lnSpc>
              <a:buNone/>
            </a:pPr>
            <a:r>
              <a:rPr lang="he-IL" sz="1900" dirty="0">
                <a:solidFill>
                  <a:schemeClr val="bg1"/>
                </a:solidFill>
                <a:latin typeface="Arial" panose="020B0604020202020204" pitchFamily="34" charset="0"/>
                <a:ea typeface="Merriweather" pitchFamily="34" charset="-122"/>
                <a:cs typeface="Arial" panose="020B0604020202020204" pitchFamily="34" charset="0"/>
              </a:rPr>
              <a:t>הבנת הנתונים</a:t>
            </a:r>
            <a:endParaRPr lang="en-US" sz="1900" dirty="0">
              <a:solidFill>
                <a:schemeClr val="bg1"/>
              </a:solidFill>
              <a:latin typeface="Arial" panose="020B0604020202020204" pitchFamily="34" charset="0"/>
              <a:cs typeface="Arial" panose="020B0604020202020204" pitchFamily="34" charset="0"/>
            </a:endParaRPr>
          </a:p>
        </p:txBody>
      </p:sp>
      <p:sp>
        <p:nvSpPr>
          <p:cNvPr id="11" name="Text 9"/>
          <p:cNvSpPr/>
          <p:nvPr/>
        </p:nvSpPr>
        <p:spPr>
          <a:xfrm>
            <a:off x="783620" y="2999321"/>
            <a:ext cx="6439972" cy="930116"/>
          </a:xfrm>
          <a:prstGeom prst="rect">
            <a:avLst/>
          </a:prstGeom>
          <a:noFill/>
          <a:ln/>
        </p:spPr>
        <p:txBody>
          <a:bodyPr wrap="none" lIns="0" tIns="0" rIns="0" bIns="0" rtlCol="0" anchor="t"/>
          <a:lstStyle/>
          <a:p>
            <a:pPr>
              <a:buNone/>
            </a:pPr>
            <a:r>
              <a:rPr lang="he-IL" sz="1600" dirty="0">
                <a:solidFill>
                  <a:schemeClr val="bg1"/>
                </a:solidFill>
              </a:rPr>
              <a:t>הגדרת צורה ברורה את הבעיה העסקית והמטרות של הפרויקט.</a:t>
            </a:r>
          </a:p>
          <a:p>
            <a:pPr>
              <a:buNone/>
            </a:pPr>
            <a:r>
              <a:rPr lang="he-IL" sz="1600" dirty="0">
                <a:solidFill>
                  <a:schemeClr val="bg1"/>
                </a:solidFill>
              </a:rPr>
              <a:t> הבנת ההקשר הארגוני, את הצרכים המדויקים של מקבלי ההחלטות</a:t>
            </a:r>
          </a:p>
          <a:p>
            <a:pPr>
              <a:buNone/>
            </a:pPr>
            <a:r>
              <a:rPr lang="he-IL" sz="1600" dirty="0">
                <a:solidFill>
                  <a:schemeClr val="bg1"/>
                </a:solidFill>
              </a:rPr>
              <a:t> ואת השאלות שדורשות מענה. תכנון נכון כאן חוסך זמן ומשאבים בשלבים הבאים.</a:t>
            </a:r>
          </a:p>
        </p:txBody>
      </p:sp>
      <p:sp>
        <p:nvSpPr>
          <p:cNvPr id="12" name="Text 10"/>
          <p:cNvSpPr/>
          <p:nvPr/>
        </p:nvSpPr>
        <p:spPr>
          <a:xfrm>
            <a:off x="778072" y="4089459"/>
            <a:ext cx="194429" cy="243126"/>
          </a:xfrm>
          <a:prstGeom prst="rect">
            <a:avLst/>
          </a:prstGeom>
          <a:noFill/>
          <a:ln/>
        </p:spPr>
        <p:txBody>
          <a:bodyPr wrap="none" lIns="0" tIns="0" rIns="0" bIns="0" rtlCol="0" anchor="t"/>
          <a:lstStyle/>
          <a:p>
            <a:pPr marL="0" indent="0">
              <a:lnSpc>
                <a:spcPts val="2450"/>
              </a:lnSpc>
              <a:buNone/>
            </a:pPr>
            <a:r>
              <a:rPr lang="en-US" sz="1500" dirty="0">
                <a:solidFill>
                  <a:schemeClr val="bg1"/>
                </a:solidFill>
                <a:latin typeface="Arial" panose="020B0604020202020204" pitchFamily="34" charset="0"/>
                <a:ea typeface="Merriweather Light" pitchFamily="34" charset="-122"/>
                <a:cs typeface="Arial" panose="020B0604020202020204" pitchFamily="34" charset="0"/>
              </a:rPr>
              <a:t>03</a:t>
            </a:r>
            <a:endParaRPr lang="en-US" sz="1500" dirty="0">
              <a:solidFill>
                <a:schemeClr val="bg1"/>
              </a:solidFill>
              <a:latin typeface="Arial" panose="020B0604020202020204" pitchFamily="34" charset="0"/>
              <a:cs typeface="Arial" panose="020B0604020202020204" pitchFamily="34" charset="0"/>
            </a:endParaRPr>
          </a:p>
        </p:txBody>
      </p:sp>
      <p:sp>
        <p:nvSpPr>
          <p:cNvPr id="13" name="Shape 11"/>
          <p:cNvSpPr/>
          <p:nvPr/>
        </p:nvSpPr>
        <p:spPr>
          <a:xfrm>
            <a:off x="778072" y="4397116"/>
            <a:ext cx="6439853" cy="22860"/>
          </a:xfrm>
          <a:prstGeom prst="rect">
            <a:avLst/>
          </a:prstGeom>
          <a:solidFill>
            <a:srgbClr val="00B050"/>
          </a:solidFill>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14" name="Text 12"/>
          <p:cNvSpPr/>
          <p:nvPr/>
        </p:nvSpPr>
        <p:spPr>
          <a:xfrm>
            <a:off x="4786192" y="4539991"/>
            <a:ext cx="2431733" cy="303848"/>
          </a:xfrm>
          <a:prstGeom prst="rect">
            <a:avLst/>
          </a:prstGeom>
          <a:noFill/>
          <a:ln/>
        </p:spPr>
        <p:txBody>
          <a:bodyPr wrap="none" lIns="0" tIns="0" rIns="0" bIns="0" rtlCol="0" anchor="t"/>
          <a:lstStyle/>
          <a:p>
            <a:pPr>
              <a:lnSpc>
                <a:spcPts val="2350"/>
              </a:lnSpc>
            </a:pPr>
            <a:r>
              <a:rPr lang="he-IL" sz="1900" dirty="0">
                <a:solidFill>
                  <a:schemeClr val="bg1"/>
                </a:solidFill>
                <a:latin typeface="Arial" panose="020B0604020202020204" pitchFamily="34" charset="0"/>
                <a:ea typeface="Merriweather" pitchFamily="34" charset="-122"/>
                <a:cs typeface="Arial" panose="020B0604020202020204" pitchFamily="34" charset="0"/>
              </a:rPr>
              <a:t>הכנת נתונים</a:t>
            </a:r>
            <a:endParaRPr lang="en-US" sz="1900" dirty="0">
              <a:solidFill>
                <a:schemeClr val="bg1"/>
              </a:solidFill>
              <a:latin typeface="Arial" panose="020B0604020202020204" pitchFamily="34" charset="0"/>
              <a:cs typeface="Arial" panose="020B0604020202020204" pitchFamily="34" charset="0"/>
            </a:endParaRPr>
          </a:p>
        </p:txBody>
      </p:sp>
      <p:sp>
        <p:nvSpPr>
          <p:cNvPr id="15" name="Text 13"/>
          <p:cNvSpPr/>
          <p:nvPr/>
        </p:nvSpPr>
        <p:spPr>
          <a:xfrm>
            <a:off x="778072" y="4960520"/>
            <a:ext cx="6439853" cy="907256"/>
          </a:xfrm>
          <a:prstGeom prst="rect">
            <a:avLst/>
          </a:prstGeom>
          <a:noFill/>
          <a:ln/>
        </p:spPr>
        <p:txBody>
          <a:bodyPr wrap="none" lIns="0" tIns="0" rIns="0" bIns="0" rtlCol="0" anchor="t"/>
          <a:lstStyle/>
          <a:p>
            <a:pPr>
              <a:lnSpc>
                <a:spcPts val="2450"/>
              </a:lnSpc>
            </a:pPr>
            <a:r>
              <a:rPr lang="he-IL" sz="1600" dirty="0">
                <a:solidFill>
                  <a:schemeClr val="bg1"/>
                </a:solidFill>
              </a:rPr>
              <a:t>ננקה, נתאים ונארגן את הנתונים כך שיהיו מוכנים למידול. השלב כולל טיפול </a:t>
            </a:r>
          </a:p>
          <a:p>
            <a:pPr>
              <a:lnSpc>
                <a:spcPts val="2450"/>
              </a:lnSpc>
            </a:pPr>
            <a:r>
              <a:rPr lang="he-IL" sz="1600" dirty="0">
                <a:solidFill>
                  <a:schemeClr val="bg1"/>
                </a:solidFill>
              </a:rPr>
              <a:t>בערכים חסרים, המרת סוגי נתונים, נרמול, סינון ותכנון משתנים חדשים.</a:t>
            </a:r>
          </a:p>
          <a:p>
            <a:pPr>
              <a:lnSpc>
                <a:spcPts val="2450"/>
              </a:lnSpc>
            </a:pPr>
            <a:r>
              <a:rPr lang="he-IL" sz="1600" dirty="0">
                <a:solidFill>
                  <a:schemeClr val="bg1"/>
                </a:solidFill>
              </a:rPr>
              <a:t> שלב זה לרוב הוא הארוך ביותר בפרויקט ניתוח נתונים.</a:t>
            </a:r>
            <a:endParaRPr lang="en-US" sz="1500" dirty="0">
              <a:solidFill>
                <a:schemeClr val="bg1"/>
              </a:solidFill>
              <a:latin typeface="Arial" panose="020B0604020202020204" pitchFamily="34" charset="0"/>
              <a:cs typeface="Arial" panose="020B0604020202020204" pitchFamily="34" charset="0"/>
            </a:endParaRPr>
          </a:p>
        </p:txBody>
      </p:sp>
      <p:sp>
        <p:nvSpPr>
          <p:cNvPr id="16" name="Text 14"/>
          <p:cNvSpPr/>
          <p:nvPr/>
        </p:nvSpPr>
        <p:spPr>
          <a:xfrm>
            <a:off x="7412354" y="4089459"/>
            <a:ext cx="194429" cy="243126"/>
          </a:xfrm>
          <a:prstGeom prst="rect">
            <a:avLst/>
          </a:prstGeom>
          <a:noFill/>
          <a:ln/>
        </p:spPr>
        <p:txBody>
          <a:bodyPr wrap="none" lIns="0" tIns="0" rIns="0" bIns="0" rtlCol="0" anchor="t"/>
          <a:lstStyle/>
          <a:p>
            <a:pPr marL="0" indent="0">
              <a:lnSpc>
                <a:spcPts val="2450"/>
              </a:lnSpc>
              <a:buNone/>
            </a:pPr>
            <a:r>
              <a:rPr lang="en-US" sz="1500" dirty="0">
                <a:solidFill>
                  <a:schemeClr val="bg1"/>
                </a:solidFill>
                <a:latin typeface="Arial" panose="020B0604020202020204" pitchFamily="34" charset="0"/>
                <a:ea typeface="Merriweather Light" pitchFamily="34" charset="-122"/>
                <a:cs typeface="Arial" panose="020B0604020202020204" pitchFamily="34" charset="0"/>
              </a:rPr>
              <a:t>04</a:t>
            </a:r>
            <a:endParaRPr lang="en-US" sz="1500" dirty="0">
              <a:solidFill>
                <a:schemeClr val="bg1"/>
              </a:solidFill>
              <a:latin typeface="Arial" panose="020B0604020202020204" pitchFamily="34" charset="0"/>
              <a:cs typeface="Arial" panose="020B0604020202020204" pitchFamily="34" charset="0"/>
            </a:endParaRPr>
          </a:p>
        </p:txBody>
      </p:sp>
      <p:sp>
        <p:nvSpPr>
          <p:cNvPr id="17" name="Shape 15"/>
          <p:cNvSpPr/>
          <p:nvPr/>
        </p:nvSpPr>
        <p:spPr>
          <a:xfrm>
            <a:off x="7412354" y="4397116"/>
            <a:ext cx="6439972" cy="22860"/>
          </a:xfrm>
          <a:prstGeom prst="rect">
            <a:avLst/>
          </a:prstGeom>
          <a:solidFill>
            <a:schemeClr val="accent2"/>
          </a:solidFill>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18" name="Text 16"/>
          <p:cNvSpPr/>
          <p:nvPr/>
        </p:nvSpPr>
        <p:spPr>
          <a:xfrm>
            <a:off x="11420593" y="4539991"/>
            <a:ext cx="2431733" cy="303848"/>
          </a:xfrm>
          <a:prstGeom prst="rect">
            <a:avLst/>
          </a:prstGeom>
          <a:noFill/>
          <a:ln/>
        </p:spPr>
        <p:txBody>
          <a:bodyPr wrap="none" lIns="0" tIns="0" rIns="0" bIns="0" rtlCol="0" anchor="t"/>
          <a:lstStyle/>
          <a:p>
            <a:pPr marL="0" indent="0">
              <a:lnSpc>
                <a:spcPts val="2350"/>
              </a:lnSpc>
              <a:buNone/>
            </a:pPr>
            <a:r>
              <a:rPr lang="he-IL" sz="1900" dirty="0">
                <a:solidFill>
                  <a:schemeClr val="bg1"/>
                </a:solidFill>
                <a:latin typeface="Arial" panose="020B0604020202020204" pitchFamily="34" charset="0"/>
                <a:ea typeface="Merriweather" pitchFamily="34" charset="-122"/>
                <a:cs typeface="Arial" panose="020B0604020202020204" pitchFamily="34" charset="0"/>
              </a:rPr>
              <a:t>מידול</a:t>
            </a:r>
            <a:endParaRPr lang="en-US" sz="1900" dirty="0">
              <a:solidFill>
                <a:schemeClr val="bg1"/>
              </a:solidFill>
              <a:latin typeface="Arial" panose="020B0604020202020204" pitchFamily="34" charset="0"/>
              <a:cs typeface="Arial" panose="020B0604020202020204" pitchFamily="34" charset="0"/>
            </a:endParaRPr>
          </a:p>
        </p:txBody>
      </p:sp>
      <p:sp>
        <p:nvSpPr>
          <p:cNvPr id="19" name="Text 17"/>
          <p:cNvSpPr/>
          <p:nvPr/>
        </p:nvSpPr>
        <p:spPr>
          <a:xfrm>
            <a:off x="7412354" y="4960520"/>
            <a:ext cx="6439972" cy="959167"/>
          </a:xfrm>
          <a:prstGeom prst="rect">
            <a:avLst/>
          </a:prstGeom>
          <a:noFill/>
          <a:ln/>
        </p:spPr>
        <p:txBody>
          <a:bodyPr wrap="none" lIns="0" tIns="0" rIns="0" bIns="0" rtlCol="0" anchor="t"/>
          <a:lstStyle/>
          <a:p>
            <a:pPr>
              <a:lnSpc>
                <a:spcPts val="2450"/>
              </a:lnSpc>
            </a:pPr>
            <a:r>
              <a:rPr lang="he-IL" sz="1600" dirty="0">
                <a:solidFill>
                  <a:schemeClr val="bg1"/>
                </a:solidFill>
              </a:rPr>
              <a:t>נבחר את שיטות המידול המתאימות ונתאים את המודל לנתונים </a:t>
            </a:r>
          </a:p>
          <a:p>
            <a:pPr>
              <a:lnSpc>
                <a:spcPts val="2450"/>
              </a:lnSpc>
            </a:pPr>
            <a:r>
              <a:rPr lang="he-IL" sz="1600" dirty="0">
                <a:solidFill>
                  <a:schemeClr val="bg1"/>
                </a:solidFill>
              </a:rPr>
              <a:t>ונבצע כוונון פרמטרים לשיפור ביצועים.</a:t>
            </a:r>
            <a:endParaRPr lang="en-US" sz="1500" dirty="0">
              <a:solidFill>
                <a:schemeClr val="bg1"/>
              </a:solidFill>
              <a:latin typeface="Arial" panose="020B0604020202020204" pitchFamily="34" charset="0"/>
              <a:cs typeface="Arial" panose="020B0604020202020204" pitchFamily="34" charset="0"/>
            </a:endParaRPr>
          </a:p>
        </p:txBody>
      </p:sp>
      <p:sp>
        <p:nvSpPr>
          <p:cNvPr id="20" name="Text 18"/>
          <p:cNvSpPr/>
          <p:nvPr/>
        </p:nvSpPr>
        <p:spPr>
          <a:xfrm>
            <a:off x="778072" y="5843852"/>
            <a:ext cx="194429" cy="243126"/>
          </a:xfrm>
          <a:prstGeom prst="rect">
            <a:avLst/>
          </a:prstGeom>
          <a:noFill/>
          <a:ln/>
        </p:spPr>
        <p:txBody>
          <a:bodyPr wrap="none" lIns="0" tIns="0" rIns="0" bIns="0" rtlCol="0" anchor="t"/>
          <a:lstStyle/>
          <a:p>
            <a:pPr marL="0" indent="0">
              <a:lnSpc>
                <a:spcPts val="2450"/>
              </a:lnSpc>
              <a:buNone/>
            </a:pPr>
            <a:r>
              <a:rPr lang="en-US" sz="1500" dirty="0">
                <a:solidFill>
                  <a:schemeClr val="bg1"/>
                </a:solidFill>
                <a:latin typeface="Arial" panose="020B0604020202020204" pitchFamily="34" charset="0"/>
                <a:ea typeface="Merriweather Light" pitchFamily="34" charset="-122"/>
                <a:cs typeface="Arial" panose="020B0604020202020204" pitchFamily="34" charset="0"/>
              </a:rPr>
              <a:t>05</a:t>
            </a:r>
            <a:endParaRPr lang="en-US" sz="1500" dirty="0">
              <a:solidFill>
                <a:schemeClr val="bg1"/>
              </a:solidFill>
              <a:latin typeface="Arial" panose="020B0604020202020204" pitchFamily="34" charset="0"/>
              <a:cs typeface="Arial" panose="020B0604020202020204" pitchFamily="34" charset="0"/>
            </a:endParaRPr>
          </a:p>
        </p:txBody>
      </p:sp>
      <p:sp>
        <p:nvSpPr>
          <p:cNvPr id="21" name="Shape 19"/>
          <p:cNvSpPr/>
          <p:nvPr/>
        </p:nvSpPr>
        <p:spPr>
          <a:xfrm>
            <a:off x="778072" y="6151509"/>
            <a:ext cx="6439853" cy="22860"/>
          </a:xfrm>
          <a:prstGeom prst="rect">
            <a:avLst/>
          </a:prstGeom>
          <a:solidFill>
            <a:schemeClr val="accent1"/>
          </a:solidFill>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22" name="Text 20"/>
          <p:cNvSpPr/>
          <p:nvPr/>
        </p:nvSpPr>
        <p:spPr>
          <a:xfrm>
            <a:off x="4786192" y="6294384"/>
            <a:ext cx="2431733" cy="622459"/>
          </a:xfrm>
          <a:prstGeom prst="rect">
            <a:avLst/>
          </a:prstGeom>
          <a:noFill/>
          <a:ln/>
        </p:spPr>
        <p:txBody>
          <a:bodyPr wrap="none" lIns="0" tIns="0" rIns="0" bIns="0" rtlCol="0" anchor="t"/>
          <a:lstStyle/>
          <a:p>
            <a:pPr marL="0" algn="r" defTabSz="914400" rtl="1" eaLnBrk="1" latinLnBrk="0" hangingPunct="1">
              <a:lnSpc>
                <a:spcPts val="2350"/>
              </a:lnSpc>
            </a:pPr>
            <a:r>
              <a:rPr lang="he-IL" sz="1900" dirty="0">
                <a:solidFill>
                  <a:schemeClr val="bg1"/>
                </a:solidFill>
                <a:latin typeface="Arial" panose="020B0604020202020204" pitchFamily="34" charset="0"/>
                <a:cs typeface="Arial" panose="020B0604020202020204" pitchFamily="34" charset="0"/>
              </a:rPr>
              <a:t>הערכת המודל</a:t>
            </a:r>
            <a:endParaRPr lang="en-US" sz="1900" dirty="0">
              <a:solidFill>
                <a:schemeClr val="bg1"/>
              </a:solidFill>
              <a:latin typeface="Arial" panose="020B0604020202020204" pitchFamily="34" charset="0"/>
              <a:cs typeface="Arial" panose="020B0604020202020204" pitchFamily="34" charset="0"/>
            </a:endParaRPr>
          </a:p>
        </p:txBody>
      </p:sp>
      <p:sp>
        <p:nvSpPr>
          <p:cNvPr id="23" name="Text 21"/>
          <p:cNvSpPr/>
          <p:nvPr/>
        </p:nvSpPr>
        <p:spPr>
          <a:xfrm>
            <a:off x="778072" y="6714913"/>
            <a:ext cx="6439853" cy="1066343"/>
          </a:xfrm>
          <a:prstGeom prst="rect">
            <a:avLst/>
          </a:prstGeom>
          <a:noFill/>
          <a:ln/>
        </p:spPr>
        <p:txBody>
          <a:bodyPr wrap="none" lIns="0" tIns="0" rIns="0" bIns="0" rtlCol="0" anchor="t"/>
          <a:lstStyle/>
          <a:p>
            <a:pPr>
              <a:lnSpc>
                <a:spcPts val="2450"/>
              </a:lnSpc>
            </a:pPr>
            <a:r>
              <a:rPr lang="he-IL" sz="1600" dirty="0">
                <a:solidFill>
                  <a:schemeClr val="bg1"/>
                </a:solidFill>
              </a:rPr>
              <a:t>נבחן את איכות המודל לפי מדדים כמותיים כמו דיוק. בנוסף, בודקים האם</a:t>
            </a:r>
          </a:p>
          <a:p>
            <a:pPr>
              <a:lnSpc>
                <a:spcPts val="2450"/>
              </a:lnSpc>
            </a:pPr>
            <a:r>
              <a:rPr lang="he-IL" sz="1600" dirty="0">
                <a:solidFill>
                  <a:schemeClr val="bg1"/>
                </a:solidFill>
              </a:rPr>
              <a:t> המודל עונה בפועל על המטרות העסקיות שהוגדרו בתחילת הפרויקט. אם לא,</a:t>
            </a:r>
          </a:p>
          <a:p>
            <a:pPr>
              <a:lnSpc>
                <a:spcPts val="2450"/>
              </a:lnSpc>
            </a:pPr>
            <a:r>
              <a:rPr lang="he-IL" sz="1600" dirty="0">
                <a:solidFill>
                  <a:schemeClr val="bg1"/>
                </a:solidFill>
              </a:rPr>
              <a:t> חוזרים לשלב המידול או ההכנה לשיפורים נוספים.</a:t>
            </a:r>
            <a:endParaRPr lang="en-US" sz="1500" dirty="0">
              <a:solidFill>
                <a:schemeClr val="bg1"/>
              </a:solidFill>
              <a:latin typeface="Arial" panose="020B0604020202020204" pitchFamily="34" charset="0"/>
              <a:cs typeface="Arial" panose="020B0604020202020204" pitchFamily="34" charset="0"/>
            </a:endParaRPr>
          </a:p>
        </p:txBody>
      </p:sp>
      <p:sp>
        <p:nvSpPr>
          <p:cNvPr id="24" name="Text 22"/>
          <p:cNvSpPr/>
          <p:nvPr/>
        </p:nvSpPr>
        <p:spPr>
          <a:xfrm>
            <a:off x="7412354" y="5843852"/>
            <a:ext cx="194429" cy="243126"/>
          </a:xfrm>
          <a:prstGeom prst="rect">
            <a:avLst/>
          </a:prstGeom>
          <a:noFill/>
          <a:ln/>
        </p:spPr>
        <p:txBody>
          <a:bodyPr wrap="none" lIns="0" tIns="0" rIns="0" bIns="0" rtlCol="0" anchor="t"/>
          <a:lstStyle/>
          <a:p>
            <a:pPr marL="0" indent="0">
              <a:lnSpc>
                <a:spcPts val="2450"/>
              </a:lnSpc>
              <a:buNone/>
            </a:pPr>
            <a:r>
              <a:rPr lang="en-US" sz="1500" dirty="0">
                <a:solidFill>
                  <a:schemeClr val="bg1"/>
                </a:solidFill>
                <a:latin typeface="Arial" panose="020B0604020202020204" pitchFamily="34" charset="0"/>
                <a:ea typeface="Merriweather Light" pitchFamily="34" charset="-122"/>
                <a:cs typeface="Arial" panose="020B0604020202020204" pitchFamily="34" charset="0"/>
              </a:rPr>
              <a:t>06</a:t>
            </a:r>
            <a:endParaRPr lang="en-US" sz="1500" dirty="0">
              <a:solidFill>
                <a:schemeClr val="bg1"/>
              </a:solidFill>
              <a:latin typeface="Arial" panose="020B0604020202020204" pitchFamily="34" charset="0"/>
              <a:cs typeface="Arial" panose="020B0604020202020204" pitchFamily="34" charset="0"/>
            </a:endParaRPr>
          </a:p>
        </p:txBody>
      </p:sp>
      <p:sp>
        <p:nvSpPr>
          <p:cNvPr id="25" name="Shape 23"/>
          <p:cNvSpPr/>
          <p:nvPr/>
        </p:nvSpPr>
        <p:spPr>
          <a:xfrm>
            <a:off x="7412354" y="6151509"/>
            <a:ext cx="6439972" cy="22860"/>
          </a:xfrm>
          <a:prstGeom prst="rect">
            <a:avLst/>
          </a:prstGeom>
          <a:solidFill>
            <a:srgbClr val="7030A0"/>
          </a:solidFill>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26" name="Text 24"/>
          <p:cNvSpPr/>
          <p:nvPr/>
        </p:nvSpPr>
        <p:spPr>
          <a:xfrm>
            <a:off x="11420593" y="6294384"/>
            <a:ext cx="2431733" cy="303848"/>
          </a:xfrm>
          <a:prstGeom prst="rect">
            <a:avLst/>
          </a:prstGeom>
          <a:noFill/>
          <a:ln/>
        </p:spPr>
        <p:txBody>
          <a:bodyPr wrap="none" lIns="0" tIns="0" rIns="0" bIns="0" rtlCol="0" anchor="t"/>
          <a:lstStyle/>
          <a:p>
            <a:pPr marL="0" indent="0">
              <a:lnSpc>
                <a:spcPts val="2350"/>
              </a:lnSpc>
              <a:buNone/>
            </a:pPr>
            <a:r>
              <a:rPr lang="he-IL" sz="1900" dirty="0">
                <a:solidFill>
                  <a:schemeClr val="bg1"/>
                </a:solidFill>
                <a:latin typeface="Arial" panose="020B0604020202020204" pitchFamily="34" charset="0"/>
                <a:cs typeface="Arial" panose="020B0604020202020204" pitchFamily="34" charset="0"/>
              </a:rPr>
              <a:t>פריסה</a:t>
            </a:r>
            <a:endParaRPr lang="en-US" sz="1900" dirty="0">
              <a:solidFill>
                <a:schemeClr val="bg1"/>
              </a:solidFill>
              <a:latin typeface="Arial" panose="020B0604020202020204" pitchFamily="34" charset="0"/>
              <a:cs typeface="Arial" panose="020B0604020202020204" pitchFamily="34" charset="0"/>
            </a:endParaRPr>
          </a:p>
        </p:txBody>
      </p:sp>
      <p:sp>
        <p:nvSpPr>
          <p:cNvPr id="27" name="Text 25"/>
          <p:cNvSpPr/>
          <p:nvPr/>
        </p:nvSpPr>
        <p:spPr>
          <a:xfrm>
            <a:off x="7412354" y="6714913"/>
            <a:ext cx="6439972" cy="622459"/>
          </a:xfrm>
          <a:prstGeom prst="rect">
            <a:avLst/>
          </a:prstGeom>
          <a:noFill/>
          <a:ln/>
        </p:spPr>
        <p:txBody>
          <a:bodyPr wrap="square" lIns="0" tIns="0" rIns="0" bIns="0" rtlCol="0" anchor="t"/>
          <a:lstStyle/>
          <a:p>
            <a:pPr>
              <a:lnSpc>
                <a:spcPts val="2450"/>
              </a:lnSpc>
            </a:pPr>
            <a:r>
              <a:rPr lang="he-IL" sz="1600" dirty="0">
                <a:solidFill>
                  <a:schemeClr val="bg1"/>
                </a:solidFill>
              </a:rPr>
              <a:t>נטמיע את המודל בסביבת העבודה של הארגון כך שיוכל לשמש לקבלת החלטות בזמן אמת. ההטמעה. בשלב זה גם מתכננים תחזוקה ושדרוגים עתידיים.</a:t>
            </a:r>
            <a:endParaRPr lang="en-US" sz="1500" dirty="0">
              <a:solidFill>
                <a:schemeClr val="bg1"/>
              </a:solidFill>
              <a:latin typeface="Arial" panose="020B0604020202020204" pitchFamily="34" charset="0"/>
              <a:cs typeface="Arial" panose="020B0604020202020204" pitchFamily="34" charset="0"/>
            </a:endParaRPr>
          </a:p>
        </p:txBody>
      </p:sp>
      <p:pic>
        <p:nvPicPr>
          <p:cNvPr id="28" name="תמונה 27">
            <a:extLst>
              <a:ext uri="{FF2B5EF4-FFF2-40B4-BE49-F238E27FC236}">
                <a16:creationId xmlns:a16="http://schemas.microsoft.com/office/drawing/2014/main" id="{8332F673-AA17-1964-EEBC-F6A78E09CF91}"/>
              </a:ext>
            </a:extLst>
          </p:cNvPr>
          <p:cNvPicPr>
            <a:picLocks noChangeAspect="1"/>
          </p:cNvPicPr>
          <p:nvPr/>
        </p:nvPicPr>
        <p:blipFill>
          <a:blip r:embed="rId3"/>
          <a:stretch>
            <a:fillRect/>
          </a:stretch>
        </p:blipFill>
        <p:spPr>
          <a:xfrm>
            <a:off x="12777537" y="7549434"/>
            <a:ext cx="1852865" cy="666518"/>
          </a:xfrm>
          <a:prstGeom prst="rect">
            <a:avLst/>
          </a:prstGeom>
          <a:ln>
            <a:noFill/>
          </a:ln>
          <a:effectLst>
            <a:softEdge rad="112500"/>
          </a:effectLst>
        </p:spPr>
      </p:pic>
      <p:pic>
        <p:nvPicPr>
          <p:cNvPr id="29" name="תמונה 28"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5643C377-34EC-0440-7CA9-E1F2DDB7844F}"/>
              </a:ext>
            </a:extLst>
          </p:cNvPr>
          <p:cNvPicPr>
            <a:picLocks noChangeAspect="1"/>
          </p:cNvPicPr>
          <p:nvPr/>
        </p:nvPicPr>
        <p:blipFill>
          <a:blip r:embed="rId4"/>
          <a:stretch>
            <a:fillRect/>
          </a:stretch>
        </p:blipFill>
        <p:spPr>
          <a:xfrm>
            <a:off x="13228320" y="23157"/>
            <a:ext cx="1402079" cy="660980"/>
          </a:xfrm>
          <a:prstGeom prst="rect">
            <a:avLst/>
          </a:prstGeom>
        </p:spPr>
      </p:pic>
      <p:sp>
        <p:nvSpPr>
          <p:cNvPr id="30" name="תיבת טקסט 29">
            <a:extLst>
              <a:ext uri="{FF2B5EF4-FFF2-40B4-BE49-F238E27FC236}">
                <a16:creationId xmlns:a16="http://schemas.microsoft.com/office/drawing/2014/main" id="{E5D41064-4312-8AEB-2F8D-951ACF0A999A}"/>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31" name="תיבת טקסט 30">
            <a:extLst>
              <a:ext uri="{FF2B5EF4-FFF2-40B4-BE49-F238E27FC236}">
                <a16:creationId xmlns:a16="http://schemas.microsoft.com/office/drawing/2014/main" id="{A1B30E48-6F20-F81A-E71B-F2E7C136C063}"/>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5"/>
              </a:rPr>
              <a:t>Bar Cohen</a:t>
            </a:r>
            <a:endParaRPr lang="he-IL" b="1" dirty="0"/>
          </a:p>
        </p:txBody>
      </p:sp>
      <p:sp>
        <p:nvSpPr>
          <p:cNvPr id="32" name="תיבת טקסט 31">
            <a:extLst>
              <a:ext uri="{FF2B5EF4-FFF2-40B4-BE49-F238E27FC236}">
                <a16:creationId xmlns:a16="http://schemas.microsoft.com/office/drawing/2014/main" id="{90A8CA1B-282D-B980-5364-123488CFF906}"/>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6"/>
              </a:rPr>
              <a:t>Sahar haim Yaccov</a:t>
            </a:r>
          </a:p>
          <a:p>
            <a:r>
              <a:rPr lang="en" b="1" dirty="0">
                <a:hlinkClick r:id="rId6"/>
              </a:rPr>
              <a:t> </a:t>
            </a:r>
            <a:endParaRPr lang="he-IL" dirty="0"/>
          </a:p>
        </p:txBody>
      </p:sp>
      <p:pic>
        <p:nvPicPr>
          <p:cNvPr id="33" name="תמונה 32" descr="תמונה שמכילה טקסט, צילום מסך, גרפיקה, סמל&#10;&#10;תוכן בינה מלאכותית גנרטיבית עשוי להיות שגוי.">
            <a:extLst>
              <a:ext uri="{FF2B5EF4-FFF2-40B4-BE49-F238E27FC236}">
                <a16:creationId xmlns:a16="http://schemas.microsoft.com/office/drawing/2014/main" id="{AD108C14-8A43-34D9-01EC-9ACB1C5211C0}"/>
              </a:ext>
            </a:extLst>
          </p:cNvPr>
          <p:cNvPicPr>
            <a:picLocks noChangeAspect="1"/>
          </p:cNvPicPr>
          <p:nvPr/>
        </p:nvPicPr>
        <p:blipFill>
          <a:blip r:embed="rId7"/>
          <a:stretch>
            <a:fillRect/>
          </a:stretch>
        </p:blipFill>
        <p:spPr>
          <a:xfrm>
            <a:off x="10580509" y="7621427"/>
            <a:ext cx="307504" cy="225346"/>
          </a:xfrm>
          <a:prstGeom prst="rect">
            <a:avLst/>
          </a:prstGeom>
        </p:spPr>
      </p:pic>
      <p:pic>
        <p:nvPicPr>
          <p:cNvPr id="34" name="תמונה 33" descr="תמונה שמכילה טקסט, צילום מסך, גרפיקה, סמל&#10;&#10;תוכן בינה מלאכותית גנרטיבית עשוי להיות שגוי.">
            <a:extLst>
              <a:ext uri="{FF2B5EF4-FFF2-40B4-BE49-F238E27FC236}">
                <a16:creationId xmlns:a16="http://schemas.microsoft.com/office/drawing/2014/main" id="{328F648C-DB0C-269A-E141-B5364AA6A49C}"/>
              </a:ext>
            </a:extLst>
          </p:cNvPr>
          <p:cNvPicPr>
            <a:picLocks noChangeAspect="1"/>
          </p:cNvPicPr>
          <p:nvPr/>
        </p:nvPicPr>
        <p:blipFill>
          <a:blip r:embed="rId7"/>
          <a:stretch>
            <a:fillRect/>
          </a:stretch>
        </p:blipFill>
        <p:spPr>
          <a:xfrm>
            <a:off x="10580509" y="7938840"/>
            <a:ext cx="307504" cy="22534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94C6-CED1-E9B6-E685-A094A09AA8E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46A7917-2F83-AE36-98D3-85997DAE84BB}"/>
              </a:ext>
            </a:extLst>
          </p:cNvPr>
          <p:cNvSpPr/>
          <p:nvPr/>
        </p:nvSpPr>
        <p:spPr>
          <a:xfrm>
            <a:off x="5652372" y="758500"/>
            <a:ext cx="8199953" cy="607933"/>
          </a:xfrm>
          <a:prstGeom prst="rect">
            <a:avLst/>
          </a:prstGeom>
          <a:noFill/>
          <a:ln/>
        </p:spPr>
        <p:txBody>
          <a:bodyPr wrap="none" lIns="0" tIns="0" rIns="0" bIns="0" rtlCol="0" anchor="t"/>
          <a:lstStyle/>
          <a:p>
            <a:pPr marL="0" indent="0">
              <a:lnSpc>
                <a:spcPts val="4750"/>
              </a:lnSpc>
              <a:buNone/>
            </a:pPr>
            <a:r>
              <a:rPr lang="he-IL" sz="4000" b="1" u="sng" dirty="0">
                <a:solidFill>
                  <a:schemeClr val="bg1"/>
                </a:solidFill>
                <a:latin typeface="Arial" panose="020B0604020202020204" pitchFamily="34" charset="0"/>
                <a:cs typeface="Arial" panose="020B0604020202020204" pitchFamily="34" charset="0"/>
              </a:rPr>
              <a:t>למה </a:t>
            </a:r>
            <a:r>
              <a:rPr lang="he-IL" sz="4000" b="1" i="0" u="sng" strike="noStrike" dirty="0">
                <a:solidFill>
                  <a:schemeClr val="bg1"/>
                </a:solidFill>
                <a:effectLst/>
                <a:latin typeface="Arial" panose="020B0604020202020204" pitchFamily="34" charset="0"/>
                <a:cs typeface="Arial" panose="020B0604020202020204" pitchFamily="34" charset="0"/>
              </a:rPr>
              <a:t>גישת </a:t>
            </a:r>
            <a:r>
              <a:rPr lang="en" sz="4000" b="1" i="0" u="sng" strike="noStrike" dirty="0">
                <a:solidFill>
                  <a:schemeClr val="bg1"/>
                </a:solidFill>
                <a:effectLst/>
                <a:latin typeface="Arial" panose="020B0604020202020204" pitchFamily="34" charset="0"/>
                <a:cs typeface="Arial" panose="020B0604020202020204" pitchFamily="34" charset="0"/>
              </a:rPr>
              <a:t>CRISP-DM</a:t>
            </a:r>
            <a:r>
              <a:rPr lang="he-IL" sz="4000" b="1" i="0" u="sng" strike="noStrike" dirty="0">
                <a:solidFill>
                  <a:schemeClr val="bg1"/>
                </a:solidFill>
                <a:effectLst/>
                <a:latin typeface="Arial" panose="020B0604020202020204" pitchFamily="34" charset="0"/>
                <a:cs typeface="Arial" panose="020B0604020202020204" pitchFamily="34" charset="0"/>
              </a:rPr>
              <a:t> חשובה?</a:t>
            </a:r>
            <a:endParaRPr lang="en-US" sz="3800" b="1" u="sng" dirty="0">
              <a:solidFill>
                <a:schemeClr val="bg1"/>
              </a:solidFill>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BBD39312-E5BF-61A2-CA56-4FC7D8CEA571}"/>
              </a:ext>
            </a:extLst>
          </p:cNvPr>
          <p:cNvSpPr/>
          <p:nvPr/>
        </p:nvSpPr>
        <p:spPr>
          <a:xfrm>
            <a:off x="778073" y="1637833"/>
            <a:ext cx="13074253" cy="933688"/>
          </a:xfrm>
          <a:prstGeom prst="rect">
            <a:avLst/>
          </a:prstGeom>
          <a:noFill/>
          <a:ln/>
        </p:spPr>
        <p:txBody>
          <a:bodyPr wrap="square" lIns="0" tIns="0" rIns="0" bIns="0" rtlCol="0" anchor="t"/>
          <a:lstStyle/>
          <a:p>
            <a:pPr>
              <a:lnSpc>
                <a:spcPts val="2450"/>
              </a:lnSpc>
            </a:pPr>
            <a:r>
              <a:rPr lang="he-IL" sz="2800" dirty="0">
                <a:solidFill>
                  <a:schemeClr val="bg1"/>
                </a:solidFill>
                <a:latin typeface="Arial" panose="020B0604020202020204" pitchFamily="34" charset="0"/>
                <a:cs typeface="Arial" panose="020B0604020202020204" pitchFamily="34" charset="0"/>
              </a:rPr>
              <a:t>גישה זו מספקת </a:t>
            </a:r>
            <a:r>
              <a:rPr lang="he-IL" sz="2800" b="1" dirty="0">
                <a:solidFill>
                  <a:schemeClr val="bg1"/>
                </a:solidFill>
                <a:latin typeface="Arial" panose="020B0604020202020204" pitchFamily="34" charset="0"/>
                <a:cs typeface="Arial" panose="020B0604020202020204" pitchFamily="34" charset="0"/>
              </a:rPr>
              <a:t>שלד ברור ומתודולוגי</a:t>
            </a:r>
            <a:r>
              <a:rPr lang="he-IL" sz="2800" dirty="0">
                <a:solidFill>
                  <a:schemeClr val="bg1"/>
                </a:solidFill>
                <a:latin typeface="Arial" panose="020B0604020202020204" pitchFamily="34" charset="0"/>
                <a:cs typeface="Arial" panose="020B0604020202020204" pitchFamily="34" charset="0"/>
              </a:rPr>
              <a:t> שמסייע לצוותי דאטה לבצע פרויקטים בצורה מסודרת, לחזור אחורה במידת הצורך, לשפר, ולתקשר את תהליך העבודה ללקוחות או מנהלים.</a:t>
            </a:r>
            <a:endParaRPr lang="en-US" sz="2800" dirty="0">
              <a:solidFill>
                <a:schemeClr val="bg1"/>
              </a:solidFill>
              <a:latin typeface="Arial" panose="020B0604020202020204" pitchFamily="34" charset="0"/>
              <a:cs typeface="Arial" panose="020B0604020202020204" pitchFamily="34" charset="0"/>
            </a:endParaRPr>
          </a:p>
        </p:txBody>
      </p:sp>
      <p:pic>
        <p:nvPicPr>
          <p:cNvPr id="32" name="תמונה 31">
            <a:extLst>
              <a:ext uri="{FF2B5EF4-FFF2-40B4-BE49-F238E27FC236}">
                <a16:creationId xmlns:a16="http://schemas.microsoft.com/office/drawing/2014/main" id="{538C42F4-46F7-7179-B58E-57FE9046FAEB}"/>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Lst>
          </a:blip>
          <a:srcRect t="435" b="25131"/>
          <a:stretch>
            <a:fillRect/>
          </a:stretch>
        </p:blipFill>
        <p:spPr>
          <a:xfrm>
            <a:off x="778073" y="2887543"/>
            <a:ext cx="4584385" cy="46618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תיבת טקסט 4">
            <a:extLst>
              <a:ext uri="{FF2B5EF4-FFF2-40B4-BE49-F238E27FC236}">
                <a16:creationId xmlns:a16="http://schemas.microsoft.com/office/drawing/2014/main" id="{B7CB8D43-028D-098D-C493-068C340AB149}"/>
              </a:ext>
            </a:extLst>
          </p:cNvPr>
          <p:cNvSpPr txBox="1"/>
          <p:nvPr/>
        </p:nvSpPr>
        <p:spPr>
          <a:xfrm>
            <a:off x="5652373" y="3013010"/>
            <a:ext cx="8199953" cy="2482346"/>
          </a:xfrm>
          <a:prstGeom prst="rect">
            <a:avLst/>
          </a:prstGeom>
          <a:noFill/>
        </p:spPr>
        <p:txBody>
          <a:bodyPr wrap="square">
            <a:spAutoFit/>
          </a:bodyPr>
          <a:lstStyle/>
          <a:p>
            <a:pPr marL="285750" indent="-285750">
              <a:lnSpc>
                <a:spcPts val="4750"/>
              </a:lnSpc>
              <a:buFont typeface="Arial" panose="020B0604020202020204" pitchFamily="34" charset="0"/>
              <a:buChar char="•"/>
            </a:pPr>
            <a:r>
              <a:rPr lang="he-IL" sz="2800" dirty="0">
                <a:solidFill>
                  <a:schemeClr val="bg1"/>
                </a:solidFill>
                <a:latin typeface="Arial" panose="020B0604020202020204" pitchFamily="34" charset="0"/>
                <a:cs typeface="Arial" panose="020B0604020202020204" pitchFamily="34" charset="0"/>
              </a:rPr>
              <a:t>מסגרת מסודרת ומעגלית</a:t>
            </a:r>
          </a:p>
          <a:p>
            <a:pPr marL="285750" indent="-285750">
              <a:lnSpc>
                <a:spcPts val="4750"/>
              </a:lnSpc>
              <a:buFont typeface="Arial" panose="020B0604020202020204" pitchFamily="34" charset="0"/>
              <a:buChar char="•"/>
            </a:pPr>
            <a:r>
              <a:rPr lang="he-IL" sz="2800" dirty="0">
                <a:solidFill>
                  <a:schemeClr val="bg1"/>
                </a:solidFill>
                <a:latin typeface="Arial" panose="020B0604020202020204" pitchFamily="34" charset="0"/>
                <a:cs typeface="Arial" panose="020B0604020202020204" pitchFamily="34" charset="0"/>
              </a:rPr>
              <a:t>גמישות – חזרה לשלבים קודמים</a:t>
            </a:r>
          </a:p>
          <a:p>
            <a:pPr marL="285750" indent="-285750">
              <a:lnSpc>
                <a:spcPts val="4750"/>
              </a:lnSpc>
              <a:buFont typeface="Arial" panose="020B0604020202020204" pitchFamily="34" charset="0"/>
              <a:buChar char="•"/>
            </a:pPr>
            <a:r>
              <a:rPr lang="he-IL" sz="2800" dirty="0">
                <a:solidFill>
                  <a:schemeClr val="bg1"/>
                </a:solidFill>
                <a:latin typeface="Arial" panose="020B0604020202020204" pitchFamily="34" charset="0"/>
                <a:cs typeface="Arial" panose="020B0604020202020204" pitchFamily="34" charset="0"/>
              </a:rPr>
              <a:t>הדרכה עסקית מקיפה</a:t>
            </a:r>
          </a:p>
          <a:p>
            <a:pPr marL="285750" indent="-285750">
              <a:lnSpc>
                <a:spcPts val="4750"/>
              </a:lnSpc>
              <a:buFont typeface="Arial" panose="020B0604020202020204" pitchFamily="34" charset="0"/>
              <a:buChar char="•"/>
            </a:pPr>
            <a:r>
              <a:rPr lang="he-IL" sz="2800" dirty="0">
                <a:solidFill>
                  <a:schemeClr val="bg1"/>
                </a:solidFill>
                <a:latin typeface="Arial" panose="020B0604020202020204" pitchFamily="34" charset="0"/>
                <a:cs typeface="Arial" panose="020B0604020202020204" pitchFamily="34" charset="0"/>
              </a:rPr>
              <a:t>התמקדות מקיפה בנתונים</a:t>
            </a:r>
            <a:endParaRPr lang="en-US" sz="2800" dirty="0">
              <a:solidFill>
                <a:schemeClr val="bg1"/>
              </a:solidFill>
              <a:latin typeface="Arial" panose="020B0604020202020204" pitchFamily="34" charset="0"/>
              <a:cs typeface="Arial" panose="020B0604020202020204" pitchFamily="34" charset="0"/>
            </a:endParaRPr>
          </a:p>
        </p:txBody>
      </p:sp>
      <p:pic>
        <p:nvPicPr>
          <p:cNvPr id="4" name="תמונה 3">
            <a:extLst>
              <a:ext uri="{FF2B5EF4-FFF2-40B4-BE49-F238E27FC236}">
                <a16:creationId xmlns:a16="http://schemas.microsoft.com/office/drawing/2014/main" id="{5B46D1A6-C6CB-78CA-751E-9000A8D776CB}"/>
              </a:ext>
            </a:extLst>
          </p:cNvPr>
          <p:cNvPicPr>
            <a:picLocks noChangeAspect="1"/>
          </p:cNvPicPr>
          <p:nvPr/>
        </p:nvPicPr>
        <p:blipFill>
          <a:blip r:embed="rId5"/>
          <a:stretch>
            <a:fillRect/>
          </a:stretch>
        </p:blipFill>
        <p:spPr>
          <a:xfrm>
            <a:off x="12777537" y="7549434"/>
            <a:ext cx="1852865" cy="666518"/>
          </a:xfrm>
          <a:prstGeom prst="rect">
            <a:avLst/>
          </a:prstGeom>
          <a:ln>
            <a:noFill/>
          </a:ln>
          <a:effectLst>
            <a:softEdge rad="112500"/>
          </a:effectLst>
        </p:spPr>
      </p:pic>
      <p:pic>
        <p:nvPicPr>
          <p:cNvPr id="6" name="תמונה 5"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BD0321CE-5659-A832-0849-A1833F9A1939}"/>
              </a:ext>
            </a:extLst>
          </p:cNvPr>
          <p:cNvPicPr>
            <a:picLocks noChangeAspect="1"/>
          </p:cNvPicPr>
          <p:nvPr/>
        </p:nvPicPr>
        <p:blipFill>
          <a:blip r:embed="rId6"/>
          <a:stretch>
            <a:fillRect/>
          </a:stretch>
        </p:blipFill>
        <p:spPr>
          <a:xfrm>
            <a:off x="13228320" y="23157"/>
            <a:ext cx="1402079" cy="660980"/>
          </a:xfrm>
          <a:prstGeom prst="rect">
            <a:avLst/>
          </a:prstGeom>
        </p:spPr>
      </p:pic>
      <p:sp>
        <p:nvSpPr>
          <p:cNvPr id="7" name="תיבת טקסט 6">
            <a:extLst>
              <a:ext uri="{FF2B5EF4-FFF2-40B4-BE49-F238E27FC236}">
                <a16:creationId xmlns:a16="http://schemas.microsoft.com/office/drawing/2014/main" id="{FD50F97C-EF01-A063-52E4-10BF1E44FB08}"/>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8" name="תיבת טקסט 7">
            <a:extLst>
              <a:ext uri="{FF2B5EF4-FFF2-40B4-BE49-F238E27FC236}">
                <a16:creationId xmlns:a16="http://schemas.microsoft.com/office/drawing/2014/main" id="{F09DDE3B-78EF-8609-A283-EECEEAF5B72D}"/>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7"/>
              </a:rPr>
              <a:t>Bar Cohen</a:t>
            </a:r>
            <a:endParaRPr lang="he-IL" b="1" dirty="0"/>
          </a:p>
        </p:txBody>
      </p:sp>
      <p:sp>
        <p:nvSpPr>
          <p:cNvPr id="9" name="תיבת טקסט 8">
            <a:extLst>
              <a:ext uri="{FF2B5EF4-FFF2-40B4-BE49-F238E27FC236}">
                <a16:creationId xmlns:a16="http://schemas.microsoft.com/office/drawing/2014/main" id="{DCD9E9EC-9964-746B-20A0-BCF03DE71C1F}"/>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8"/>
              </a:rPr>
              <a:t>Sahar haim Yaccov</a:t>
            </a:r>
          </a:p>
          <a:p>
            <a:r>
              <a:rPr lang="en" b="1" dirty="0">
                <a:hlinkClick r:id="rId8"/>
              </a:rPr>
              <a:t> </a:t>
            </a:r>
            <a:endParaRPr lang="he-IL" dirty="0"/>
          </a:p>
        </p:txBody>
      </p:sp>
      <p:pic>
        <p:nvPicPr>
          <p:cNvPr id="10" name="תמונה 9" descr="תמונה שמכילה טקסט, צילום מסך, גרפיקה, סמל&#10;&#10;תוכן בינה מלאכותית גנרטיבית עשוי להיות שגוי.">
            <a:extLst>
              <a:ext uri="{FF2B5EF4-FFF2-40B4-BE49-F238E27FC236}">
                <a16:creationId xmlns:a16="http://schemas.microsoft.com/office/drawing/2014/main" id="{CD2AD800-3260-9D76-0A3D-15A1D44F5FE2}"/>
              </a:ext>
            </a:extLst>
          </p:cNvPr>
          <p:cNvPicPr>
            <a:picLocks noChangeAspect="1"/>
          </p:cNvPicPr>
          <p:nvPr/>
        </p:nvPicPr>
        <p:blipFill>
          <a:blip r:embed="rId9"/>
          <a:stretch>
            <a:fillRect/>
          </a:stretch>
        </p:blipFill>
        <p:spPr>
          <a:xfrm>
            <a:off x="10580509" y="7621427"/>
            <a:ext cx="307504" cy="225346"/>
          </a:xfrm>
          <a:prstGeom prst="rect">
            <a:avLst/>
          </a:prstGeom>
        </p:spPr>
      </p:pic>
      <p:pic>
        <p:nvPicPr>
          <p:cNvPr id="11" name="תמונה 10" descr="תמונה שמכילה טקסט, צילום מסך, גרפיקה, סמל&#10;&#10;תוכן בינה מלאכותית גנרטיבית עשוי להיות שגוי.">
            <a:extLst>
              <a:ext uri="{FF2B5EF4-FFF2-40B4-BE49-F238E27FC236}">
                <a16:creationId xmlns:a16="http://schemas.microsoft.com/office/drawing/2014/main" id="{3CDCCC12-9556-1829-F3C9-14876A4CB19A}"/>
              </a:ext>
            </a:extLst>
          </p:cNvPr>
          <p:cNvPicPr>
            <a:picLocks noChangeAspect="1"/>
          </p:cNvPicPr>
          <p:nvPr/>
        </p:nvPicPr>
        <p:blipFill>
          <a:blip r:embed="rId9"/>
          <a:stretch>
            <a:fillRect/>
          </a:stretch>
        </p:blipFill>
        <p:spPr>
          <a:xfrm>
            <a:off x="10580509" y="7938840"/>
            <a:ext cx="307504" cy="225346"/>
          </a:xfrm>
          <a:prstGeom prst="rect">
            <a:avLst/>
          </a:prstGeom>
        </p:spPr>
      </p:pic>
    </p:spTree>
    <p:extLst>
      <p:ext uri="{BB962C8B-B14F-4D97-AF65-F5344CB8AC3E}">
        <p14:creationId xmlns:p14="http://schemas.microsoft.com/office/powerpoint/2010/main" val="4032670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5" name="Text 2"/>
          <p:cNvSpPr/>
          <p:nvPr/>
        </p:nvSpPr>
        <p:spPr>
          <a:xfrm>
            <a:off x="7513796" y="2443450"/>
            <a:ext cx="6497955" cy="360000"/>
          </a:xfrm>
          <a:prstGeom prst="rect">
            <a:avLst/>
          </a:prstGeom>
          <a:noFill/>
          <a:ln/>
        </p:spPr>
        <p:txBody>
          <a:bodyPr wrap="none" lIns="0" tIns="0" rIns="0" bIns="0" rtlCol="0" anchor="t"/>
          <a:lstStyle/>
          <a:p>
            <a:pPr marL="342900" indent="-342900">
              <a:lnSpc>
                <a:spcPts val="1950"/>
              </a:lnSpc>
              <a:buFont typeface="Arial" panose="020B0604020202020204" pitchFamily="34" charset="0"/>
              <a:buChar char="•"/>
            </a:pPr>
            <a:r>
              <a:rPr lang="he-IL" sz="2000" dirty="0">
                <a:solidFill>
                  <a:schemeClr val="bg1"/>
                </a:solidFill>
                <a:latin typeface="Arial" panose="020B0604020202020204" pitchFamily="34" charset="0"/>
                <a:cs typeface="Arial" panose="020B0604020202020204" pitchFamily="34" charset="0"/>
              </a:rPr>
              <a:t>בדיקה ראשונית העלתה בעיות נפוצות באיכות הנתונים</a:t>
            </a:r>
            <a:endParaRPr lang="en-US" sz="2000" dirty="0">
              <a:solidFill>
                <a:schemeClr val="bg1"/>
              </a:solidFill>
              <a:latin typeface="Arial" panose="020B0604020202020204" pitchFamily="34" charset="0"/>
              <a:cs typeface="Arial" panose="020B0604020202020204" pitchFamily="34" charset="0"/>
            </a:endParaRPr>
          </a:p>
        </p:txBody>
      </p:sp>
      <p:sp>
        <p:nvSpPr>
          <p:cNvPr id="6" name="Text 3"/>
          <p:cNvSpPr/>
          <p:nvPr/>
        </p:nvSpPr>
        <p:spPr>
          <a:xfrm>
            <a:off x="7513796" y="3164656"/>
            <a:ext cx="6497955" cy="360000"/>
          </a:xfrm>
          <a:prstGeom prst="rect">
            <a:avLst/>
          </a:prstGeom>
          <a:noFill/>
          <a:ln/>
        </p:spPr>
        <p:txBody>
          <a:bodyPr wrap="none" lIns="0" tIns="0" rIns="0" bIns="0" rtlCol="0" anchor="t"/>
          <a:lstStyle/>
          <a:p>
            <a:pPr marL="342900" indent="-342900">
              <a:buFont typeface="Arial" panose="020B0604020202020204" pitchFamily="34" charset="0"/>
              <a:buChar char="•"/>
            </a:pPr>
            <a:r>
              <a:rPr lang="he-IL" sz="2000" dirty="0">
                <a:solidFill>
                  <a:schemeClr val="bg1"/>
                </a:solidFill>
              </a:rPr>
              <a:t>נתונים חסרים, כפולים, לא עקביים או עם שגיאות הקלדה.</a:t>
            </a:r>
          </a:p>
        </p:txBody>
      </p:sp>
      <p:sp>
        <p:nvSpPr>
          <p:cNvPr id="8" name="Text 5"/>
          <p:cNvSpPr/>
          <p:nvPr/>
        </p:nvSpPr>
        <p:spPr>
          <a:xfrm>
            <a:off x="7513796" y="3885862"/>
            <a:ext cx="6497955" cy="360000"/>
          </a:xfrm>
          <a:prstGeom prst="rect">
            <a:avLst/>
          </a:prstGeom>
          <a:noFill/>
          <a:ln/>
        </p:spPr>
        <p:txBody>
          <a:bodyPr wrap="none" lIns="0" tIns="0" rIns="0" bIns="0" rtlCol="0" anchor="t"/>
          <a:lstStyle/>
          <a:p>
            <a:pPr marL="342900" indent="-342900">
              <a:lnSpc>
                <a:spcPts val="1950"/>
              </a:lnSpc>
              <a:buSzPct val="100000"/>
              <a:buFont typeface="Arial" panose="020B0604020202020204" pitchFamily="34" charset="0"/>
              <a:buChar char="•"/>
            </a:pPr>
            <a:r>
              <a:rPr lang="he-IL" sz="2000" b="0" i="0" u="none" strike="noStrike" dirty="0">
                <a:solidFill>
                  <a:schemeClr val="bg1"/>
                </a:solidFill>
                <a:effectLst/>
                <a:latin typeface="Arial" panose="020B0604020202020204" pitchFamily="34" charset="0"/>
                <a:cs typeface="Arial" panose="020B0604020202020204" pitchFamily="34" charset="0"/>
              </a:rPr>
              <a:t>עמודות משוכפלות או חופפות (למשל, "</a:t>
            </a:r>
            <a:r>
              <a:rPr lang="en-US" sz="2000" b="0" i="0" u="none" strike="noStrike" dirty="0">
                <a:solidFill>
                  <a:schemeClr val="bg1"/>
                </a:solidFill>
                <a:effectLst/>
                <a:latin typeface="Arial" panose="020B0604020202020204" pitchFamily="34" charset="0"/>
                <a:cs typeface="Arial" panose="020B0604020202020204" pitchFamily="34" charset="0"/>
              </a:rPr>
              <a:t> Severity</a:t>
            </a:r>
            <a:r>
              <a:rPr lang="he-IL" sz="2000" b="0" i="0" u="none" strike="noStrike" dirty="0">
                <a:solidFill>
                  <a:schemeClr val="bg1"/>
                </a:solidFill>
                <a:effectLst/>
                <a:latin typeface="Arial" panose="020B0604020202020204" pitchFamily="34" charset="0"/>
                <a:cs typeface="Arial" panose="020B0604020202020204" pitchFamily="34" charset="0"/>
              </a:rPr>
              <a:t>"</a:t>
            </a:r>
            <a:r>
              <a:rPr lang="en-US" sz="2000" b="0" i="0" u="none" strike="noStrike" dirty="0">
                <a:solidFill>
                  <a:schemeClr val="bg1"/>
                </a:solidFill>
                <a:effectLst/>
                <a:latin typeface="Arial" panose="020B0604020202020204" pitchFamily="34" charset="0"/>
                <a:cs typeface="Arial" panose="020B0604020202020204" pitchFamily="34" charset="0"/>
              </a:rPr>
              <a:t>Severity.1</a:t>
            </a:r>
            <a:r>
              <a:rPr lang="he-IL" sz="2000" b="0" i="0" u="none" strike="noStrike" dirty="0">
                <a:solidFill>
                  <a:schemeClr val="bg1"/>
                </a:solidFill>
                <a:effectLst/>
                <a:latin typeface="Arial" panose="020B0604020202020204" pitchFamily="34" charset="0"/>
                <a:cs typeface="Arial" panose="020B0604020202020204" pitchFamily="34" charset="0"/>
              </a:rPr>
              <a:t>")</a:t>
            </a:r>
            <a:endParaRPr lang="en-US" sz="2000" dirty="0">
              <a:solidFill>
                <a:schemeClr val="bg1"/>
              </a:solidFill>
              <a:latin typeface="Arial" panose="020B0604020202020204" pitchFamily="34" charset="0"/>
              <a:cs typeface="Arial" panose="020B0604020202020204" pitchFamily="34" charset="0"/>
            </a:endParaRPr>
          </a:p>
        </p:txBody>
      </p:sp>
      <p:sp>
        <p:nvSpPr>
          <p:cNvPr id="9" name="Text 6"/>
          <p:cNvSpPr/>
          <p:nvPr/>
        </p:nvSpPr>
        <p:spPr>
          <a:xfrm>
            <a:off x="7513796" y="4512732"/>
            <a:ext cx="6497955" cy="360000"/>
          </a:xfrm>
          <a:prstGeom prst="rect">
            <a:avLst/>
          </a:prstGeom>
          <a:noFill/>
          <a:ln/>
        </p:spPr>
        <p:txBody>
          <a:bodyPr wrap="none" lIns="0" tIns="0" rIns="0" bIns="0" rtlCol="0" anchor="t"/>
          <a:lstStyle/>
          <a:p>
            <a:pPr marL="342900" indent="-342900" defTabSz="914400" rtl="1" eaLnBrk="1" latinLnBrk="0" hangingPunct="1">
              <a:lnSpc>
                <a:spcPts val="1950"/>
              </a:lnSpc>
              <a:buSzPct val="100000"/>
              <a:buFont typeface="Arial" panose="020B0604020202020204" pitchFamily="34" charset="0"/>
              <a:buChar char="•"/>
            </a:pPr>
            <a:r>
              <a:rPr lang="he-IL" sz="2000" dirty="0">
                <a:solidFill>
                  <a:schemeClr val="bg1"/>
                </a:solidFill>
                <a:latin typeface="Arial" panose="020B0604020202020204" pitchFamily="34" charset="0"/>
                <a:cs typeface="Arial" panose="020B0604020202020204" pitchFamily="34" charset="0"/>
              </a:rPr>
              <a:t>נתונים שגויים ותאריכים</a:t>
            </a:r>
            <a:endParaRPr lang="en-US" sz="2000" dirty="0">
              <a:solidFill>
                <a:schemeClr val="bg1"/>
              </a:solidFill>
              <a:latin typeface="Arial" panose="020B0604020202020204" pitchFamily="34" charset="0"/>
              <a:cs typeface="Arial" panose="020B0604020202020204" pitchFamily="34" charset="0"/>
            </a:endParaRPr>
          </a:p>
        </p:txBody>
      </p:sp>
      <p:sp>
        <p:nvSpPr>
          <p:cNvPr id="10" name="Text 7"/>
          <p:cNvSpPr/>
          <p:nvPr/>
        </p:nvSpPr>
        <p:spPr>
          <a:xfrm>
            <a:off x="7513796" y="5139602"/>
            <a:ext cx="6497955" cy="360000"/>
          </a:xfrm>
          <a:prstGeom prst="rect">
            <a:avLst/>
          </a:prstGeom>
          <a:noFill/>
          <a:ln/>
        </p:spPr>
        <p:txBody>
          <a:bodyPr wrap="square" lIns="0" tIns="0" rIns="0" bIns="0" rtlCol="0" anchor="t"/>
          <a:lstStyle/>
          <a:p>
            <a:pPr marL="342900" indent="-342900">
              <a:lnSpc>
                <a:spcPts val="1950"/>
              </a:lnSpc>
              <a:buFont typeface="Arial" panose="020B0604020202020204" pitchFamily="34" charset="0"/>
              <a:buChar char="•"/>
            </a:pPr>
            <a:r>
              <a:rPr lang="he-IL" sz="2000" b="0" i="0" u="none" strike="noStrike" dirty="0">
                <a:solidFill>
                  <a:schemeClr val="bg1"/>
                </a:solidFill>
                <a:effectLst/>
                <a:latin typeface="Arial" panose="020B0604020202020204" pitchFamily="34" charset="0"/>
                <a:cs typeface="Arial" panose="020B0604020202020204" pitchFamily="34" charset="0"/>
              </a:rPr>
              <a:t>אתגרים אלה טופלו באופן שיטתי באמצעות תהליכי ניקוי ואימות נתונים קפדניים כדי להבטיח את שלמות הנתונים ואמינותם לניתוח הבא.</a:t>
            </a:r>
            <a:endParaRPr lang="en-US" sz="2000" dirty="0">
              <a:solidFill>
                <a:schemeClr val="bg1"/>
              </a:solidFill>
              <a:latin typeface="Arial" panose="020B0604020202020204" pitchFamily="34" charset="0"/>
              <a:cs typeface="Arial" panose="020B0604020202020204" pitchFamily="34" charset="0"/>
            </a:endParaRPr>
          </a:p>
        </p:txBody>
      </p:sp>
      <p:sp>
        <p:nvSpPr>
          <p:cNvPr id="2" name="Text 0"/>
          <p:cNvSpPr/>
          <p:nvPr/>
        </p:nvSpPr>
        <p:spPr>
          <a:xfrm>
            <a:off x="7101244" y="706333"/>
            <a:ext cx="6828115" cy="489347"/>
          </a:xfrm>
          <a:prstGeom prst="rect">
            <a:avLst/>
          </a:prstGeom>
          <a:noFill/>
          <a:ln/>
        </p:spPr>
        <p:txBody>
          <a:bodyPr wrap="none" lIns="0" tIns="0" rIns="0" bIns="0" rtlCol="0" anchor="t"/>
          <a:lstStyle/>
          <a:p>
            <a:pPr marL="0" marR="0" lvl="0" indent="0" defTabSz="914400" rtl="1" eaLnBrk="1" fontAlgn="auto" latinLnBrk="0" hangingPunct="1">
              <a:lnSpc>
                <a:spcPts val="3850"/>
              </a:lnSpc>
              <a:spcBef>
                <a:spcPts val="0"/>
              </a:spcBef>
              <a:spcAft>
                <a:spcPts val="0"/>
              </a:spcAft>
              <a:buClrTx/>
              <a:buSzTx/>
              <a:buFontTx/>
              <a:buNone/>
              <a:tabLst/>
              <a:defRPr/>
            </a:pPr>
            <a:r>
              <a:rPr kumimoji="0" lang="he-IL" sz="4400" b="1" i="0" u="sng"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מיקוד נתונים ואתגרים ראשוניים</a:t>
            </a:r>
            <a:endParaRPr kumimoji="0" lang="en-US" sz="6000" b="1" i="0" u="sng"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p:txBody>
      </p:sp>
      <p:sp>
        <p:nvSpPr>
          <p:cNvPr id="3" name="Text 1"/>
          <p:cNvSpPr/>
          <p:nvPr/>
        </p:nvSpPr>
        <p:spPr>
          <a:xfrm>
            <a:off x="626269" y="1439362"/>
            <a:ext cx="13377862" cy="884832"/>
          </a:xfrm>
          <a:prstGeom prst="rect">
            <a:avLst/>
          </a:prstGeom>
          <a:noFill/>
          <a:ln/>
        </p:spPr>
        <p:txBody>
          <a:bodyPr wrap="square" lIns="0" tIns="0" rIns="0" bIns="0" rtlCol="0" anchor="t"/>
          <a:lstStyle/>
          <a:p>
            <a:pPr marL="0" indent="0">
              <a:lnSpc>
                <a:spcPts val="1950"/>
              </a:lnSpc>
              <a:buNone/>
            </a:pPr>
            <a:r>
              <a:rPr lang="he-IL" sz="2400" b="0" i="0" u="none" strike="noStrike" dirty="0">
                <a:solidFill>
                  <a:schemeClr val="bg1"/>
                </a:solidFill>
                <a:effectLst/>
                <a:latin typeface="Arial" panose="020B0604020202020204" pitchFamily="34" charset="0"/>
                <a:cs typeface="Arial" panose="020B0604020202020204" pitchFamily="34" charset="0"/>
              </a:rPr>
              <a:t>הבסיס של מודל החיזוי שלנו טמון בנתונים מקיפים. השגנו נתונים בעיקר מעלוני האבטחה הרשמיים של מיקרוסופט וממסדי נתונים קשורים של פגיעויות. האיסוף כלל הורדות ידניות, וכתוצאה  משילוב של </a:t>
            </a:r>
            <a:r>
              <a:rPr lang="he-IL" sz="2400" dirty="0">
                <a:solidFill>
                  <a:schemeClr val="bg1"/>
                </a:solidFill>
                <a:latin typeface="Arial" panose="020B0604020202020204" pitchFamily="34" charset="0"/>
                <a:cs typeface="Arial" panose="020B0604020202020204" pitchFamily="34" charset="0"/>
              </a:rPr>
              <a:t>נתונים </a:t>
            </a:r>
            <a:r>
              <a:rPr lang="he-IL" sz="2400" b="0" i="0" u="none" strike="noStrike" dirty="0">
                <a:solidFill>
                  <a:schemeClr val="bg1"/>
                </a:solidFill>
                <a:effectLst/>
                <a:latin typeface="Arial" panose="020B0604020202020204" pitchFamily="34" charset="0"/>
                <a:cs typeface="Arial" panose="020B0604020202020204" pitchFamily="34" charset="0"/>
              </a:rPr>
              <a:t>מערך נתונים גדל עם עשרות תכונות ועשרות אלפי רשומות.</a:t>
            </a:r>
            <a:endParaRPr lang="en-US" sz="2400" dirty="0">
              <a:solidFill>
                <a:schemeClr val="bg1"/>
              </a:solidFill>
              <a:latin typeface="Arial" panose="020B0604020202020204" pitchFamily="34" charset="0"/>
              <a:cs typeface="Arial" panose="020B0604020202020204" pitchFamily="34" charset="0"/>
            </a:endParaRPr>
          </a:p>
        </p:txBody>
      </p:sp>
      <p:pic>
        <p:nvPicPr>
          <p:cNvPr id="4" name="תמונה 3">
            <a:extLst>
              <a:ext uri="{FF2B5EF4-FFF2-40B4-BE49-F238E27FC236}">
                <a16:creationId xmlns:a16="http://schemas.microsoft.com/office/drawing/2014/main" id="{8B30EB89-6B82-C12B-03C7-261F137DFB8F}"/>
              </a:ext>
            </a:extLst>
          </p:cNvPr>
          <p:cNvPicPr>
            <a:picLocks noChangeAspect="1"/>
          </p:cNvPicPr>
          <p:nvPr/>
        </p:nvPicPr>
        <p:blipFill>
          <a:blip r:embed="rId3"/>
          <a:stretch>
            <a:fillRect/>
          </a:stretch>
        </p:blipFill>
        <p:spPr>
          <a:xfrm>
            <a:off x="12777537" y="7549434"/>
            <a:ext cx="1852865" cy="666518"/>
          </a:xfrm>
          <a:prstGeom prst="rect">
            <a:avLst/>
          </a:prstGeom>
          <a:ln>
            <a:noFill/>
          </a:ln>
          <a:effectLst>
            <a:softEdge rad="112500"/>
          </a:effectLst>
        </p:spPr>
      </p:pic>
      <p:pic>
        <p:nvPicPr>
          <p:cNvPr id="11" name="תמונה 10" descr="תמונה שמכילה צילום מסך, טקסט, כחול חשמלי, טכנולוגיה&#10;&#10;תוכן בינה מלאכותית גנרטיבית עשוי להיות שגוי.">
            <a:extLst>
              <a:ext uri="{FF2B5EF4-FFF2-40B4-BE49-F238E27FC236}">
                <a16:creationId xmlns:a16="http://schemas.microsoft.com/office/drawing/2014/main" id="{63F7F05C-ABD3-B581-15D7-3876D3BA8D9B}"/>
              </a:ext>
            </a:extLst>
          </p:cNvPr>
          <p:cNvPicPr>
            <a:picLocks noChangeAspect="1"/>
          </p:cNvPicPr>
          <p:nvPr/>
        </p:nvPicPr>
        <p:blipFill>
          <a:blip r:embed="rId4">
            <a:duotone>
              <a:prstClr val="black"/>
              <a:schemeClr val="accent6">
                <a:tint val="45000"/>
                <a:satMod val="400000"/>
              </a:schemeClr>
            </a:duotone>
          </a:blip>
          <a:stretch>
            <a:fillRect/>
          </a:stretch>
        </p:blipFill>
        <p:spPr>
          <a:xfrm>
            <a:off x="320634" y="2366714"/>
            <a:ext cx="5545777" cy="554577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תמונה 6"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E3AEFAB5-C3F6-F8FB-D678-F8CDF562949A}"/>
              </a:ext>
            </a:extLst>
          </p:cNvPr>
          <p:cNvPicPr>
            <a:picLocks noChangeAspect="1"/>
          </p:cNvPicPr>
          <p:nvPr/>
        </p:nvPicPr>
        <p:blipFill>
          <a:blip r:embed="rId5"/>
          <a:stretch>
            <a:fillRect/>
          </a:stretch>
        </p:blipFill>
        <p:spPr>
          <a:xfrm>
            <a:off x="13228320" y="23157"/>
            <a:ext cx="1402079" cy="660980"/>
          </a:xfrm>
          <a:prstGeom prst="rect">
            <a:avLst/>
          </a:prstGeom>
        </p:spPr>
      </p:pic>
      <p:sp>
        <p:nvSpPr>
          <p:cNvPr id="12" name="תיבת טקסט 11">
            <a:extLst>
              <a:ext uri="{FF2B5EF4-FFF2-40B4-BE49-F238E27FC236}">
                <a16:creationId xmlns:a16="http://schemas.microsoft.com/office/drawing/2014/main" id="{DFC023F0-3F5F-B21C-E9DA-28B7D7DD6D99}"/>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13" name="תיבת טקסט 12">
            <a:extLst>
              <a:ext uri="{FF2B5EF4-FFF2-40B4-BE49-F238E27FC236}">
                <a16:creationId xmlns:a16="http://schemas.microsoft.com/office/drawing/2014/main" id="{26EFB3E3-1CB6-A8AA-8AC4-EF7C3DF8F84D}"/>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6"/>
              </a:rPr>
              <a:t>Bar Cohen</a:t>
            </a:r>
            <a:endParaRPr lang="he-IL" b="1" dirty="0"/>
          </a:p>
        </p:txBody>
      </p:sp>
      <p:sp>
        <p:nvSpPr>
          <p:cNvPr id="14" name="תיבת טקסט 13">
            <a:extLst>
              <a:ext uri="{FF2B5EF4-FFF2-40B4-BE49-F238E27FC236}">
                <a16:creationId xmlns:a16="http://schemas.microsoft.com/office/drawing/2014/main" id="{FE5DF8B0-3473-D82F-1A2F-B7883AF9D817}"/>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7"/>
              </a:rPr>
              <a:t>Sahar haim Yaccov</a:t>
            </a:r>
          </a:p>
          <a:p>
            <a:r>
              <a:rPr lang="en" b="1" dirty="0">
                <a:hlinkClick r:id="rId7"/>
              </a:rPr>
              <a:t> </a:t>
            </a:r>
            <a:endParaRPr lang="he-IL" dirty="0"/>
          </a:p>
        </p:txBody>
      </p:sp>
      <p:pic>
        <p:nvPicPr>
          <p:cNvPr id="15" name="תמונה 14" descr="תמונה שמכילה טקסט, צילום מסך, גרפיקה, סמל&#10;&#10;תוכן בינה מלאכותית גנרטיבית עשוי להיות שגוי.">
            <a:extLst>
              <a:ext uri="{FF2B5EF4-FFF2-40B4-BE49-F238E27FC236}">
                <a16:creationId xmlns:a16="http://schemas.microsoft.com/office/drawing/2014/main" id="{8591401D-C5EE-62B7-F0E9-9108AD5A5A07}"/>
              </a:ext>
            </a:extLst>
          </p:cNvPr>
          <p:cNvPicPr>
            <a:picLocks noChangeAspect="1"/>
          </p:cNvPicPr>
          <p:nvPr/>
        </p:nvPicPr>
        <p:blipFill>
          <a:blip r:embed="rId8"/>
          <a:stretch>
            <a:fillRect/>
          </a:stretch>
        </p:blipFill>
        <p:spPr>
          <a:xfrm>
            <a:off x="10580509" y="7621427"/>
            <a:ext cx="307504" cy="225346"/>
          </a:xfrm>
          <a:prstGeom prst="rect">
            <a:avLst/>
          </a:prstGeom>
        </p:spPr>
      </p:pic>
      <p:pic>
        <p:nvPicPr>
          <p:cNvPr id="16" name="תמונה 15" descr="תמונה שמכילה טקסט, צילום מסך, גרפיקה, סמל&#10;&#10;תוכן בינה מלאכותית גנרטיבית עשוי להיות שגוי.">
            <a:extLst>
              <a:ext uri="{FF2B5EF4-FFF2-40B4-BE49-F238E27FC236}">
                <a16:creationId xmlns:a16="http://schemas.microsoft.com/office/drawing/2014/main" id="{014667BE-099A-1825-8E06-886D2C8046CC}"/>
              </a:ext>
            </a:extLst>
          </p:cNvPr>
          <p:cNvPicPr>
            <a:picLocks noChangeAspect="1"/>
          </p:cNvPicPr>
          <p:nvPr/>
        </p:nvPicPr>
        <p:blipFill>
          <a:blip r:embed="rId8"/>
          <a:stretch>
            <a:fillRect/>
          </a:stretch>
        </p:blipFill>
        <p:spPr>
          <a:xfrm>
            <a:off x="10580509" y="7938840"/>
            <a:ext cx="307504" cy="2253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734261" y="1013833"/>
            <a:ext cx="3045480" cy="619363"/>
          </a:xfrm>
          <a:prstGeom prst="rect">
            <a:avLst/>
          </a:prstGeom>
          <a:noFill/>
          <a:ln/>
        </p:spPr>
        <p:txBody>
          <a:bodyPr wrap="none" lIns="0" tIns="0" rIns="0" bIns="0" rtlCol="0" anchor="t"/>
          <a:lstStyle/>
          <a:p>
            <a:pPr marL="0" indent="0">
              <a:lnSpc>
                <a:spcPts val="4850"/>
              </a:lnSpc>
              <a:buNone/>
            </a:pPr>
            <a:r>
              <a:rPr lang="he-IL" sz="3900" b="1" u="sng" dirty="0">
                <a:solidFill>
                  <a:schemeClr val="bg1"/>
                </a:solidFill>
                <a:latin typeface="Arial" panose="020B0604020202020204" pitchFamily="34" charset="0"/>
                <a:cs typeface="Arial" panose="020B0604020202020204" pitchFamily="34" charset="0"/>
              </a:rPr>
              <a:t>הכנת נתונים</a:t>
            </a:r>
            <a:endParaRPr lang="en-US" sz="3900" b="1" u="sng"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792837" y="1844278"/>
            <a:ext cx="13044726" cy="951548"/>
          </a:xfrm>
          <a:prstGeom prst="rect">
            <a:avLst/>
          </a:prstGeom>
          <a:noFill/>
          <a:ln/>
        </p:spPr>
        <p:txBody>
          <a:bodyPr wrap="square" lIns="0" tIns="0" rIns="0" bIns="0" rtlCol="0" anchor="t"/>
          <a:lstStyle/>
          <a:p>
            <a:pPr>
              <a:lnSpc>
                <a:spcPts val="2450"/>
              </a:lnSpc>
            </a:pPr>
            <a:r>
              <a:rPr lang="he-IL" sz="2000" dirty="0">
                <a:solidFill>
                  <a:schemeClr val="bg1"/>
                </a:solidFill>
                <a:latin typeface="Arial" panose="020B0604020202020204" pitchFamily="34" charset="0"/>
                <a:cs typeface="Arial" panose="020B0604020202020204" pitchFamily="34" charset="0"/>
              </a:rPr>
              <a:t>לאחר הניקוי הראשוני, מערך הנתונים עבר הכנה מקיפה וניתוח כולל של הנתונים. ניתוח סטטיסטי עזר לנו להבין התפלגויות משתנים, כגון סוגי איומים ורמות חומרה. השתמשנו בכלים שונים כדי להדגיש מגמות ודפוסים, במיוחד כיצד חומרת האיום מתפתחת לאורך הזמן.</a:t>
            </a:r>
            <a:endParaRPr lang="en-US" sz="2400" dirty="0">
              <a:solidFill>
                <a:schemeClr val="bg1"/>
              </a:solidFill>
              <a:latin typeface="Arial" panose="020B0604020202020204" pitchFamily="34" charset="0"/>
              <a:cs typeface="Arial" panose="020B0604020202020204" pitchFamily="34" charset="0"/>
            </a:endParaRPr>
          </a:p>
        </p:txBody>
      </p:sp>
      <p:sp>
        <p:nvSpPr>
          <p:cNvPr id="4" name="Shape 2"/>
          <p:cNvSpPr/>
          <p:nvPr/>
        </p:nvSpPr>
        <p:spPr>
          <a:xfrm>
            <a:off x="792837" y="3018711"/>
            <a:ext cx="6423303" cy="1504831"/>
          </a:xfrm>
          <a:prstGeom prst="roundRect">
            <a:avLst>
              <a:gd name="adj" fmla="val 7292"/>
            </a:avLst>
          </a:prstGeom>
          <a:solidFill>
            <a:srgbClr val="09151A">
              <a:alpha val="95000"/>
            </a:srgbClr>
          </a:solidFill>
          <a:ln w="22860">
            <a:solidFill>
              <a:schemeClr val="accent2"/>
            </a:solidFill>
            <a:prstDash val="solid"/>
          </a:ln>
        </p:spPr>
        <p:txBody>
          <a:bodyPr/>
          <a:lstStyle/>
          <a:p>
            <a:pPr marL="0" defTabSz="914400" rtl="1" eaLnBrk="1" latinLnBrk="0" hangingPunct="1"/>
            <a:endParaRPr lang="he-IL">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806073" y="3018711"/>
            <a:ext cx="91440" cy="1504831"/>
          </a:xfrm>
          <a:prstGeom prst="roundRect">
            <a:avLst>
              <a:gd name="adj" fmla="val 91043"/>
            </a:avLst>
          </a:prstGeom>
          <a:solidFill>
            <a:schemeClr val="accent2"/>
          </a:solidFill>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6" name="Text 4"/>
          <p:cNvSpPr/>
          <p:nvPr/>
        </p:nvSpPr>
        <p:spPr>
          <a:xfrm>
            <a:off x="4550804" y="3239691"/>
            <a:ext cx="2477572" cy="309682"/>
          </a:xfrm>
          <a:prstGeom prst="rect">
            <a:avLst/>
          </a:prstGeom>
          <a:noFill/>
          <a:ln/>
        </p:spPr>
        <p:txBody>
          <a:bodyPr wrap="none" lIns="0" tIns="0" rIns="0" bIns="0" rtlCol="0" anchor="t"/>
          <a:lstStyle/>
          <a:p>
            <a:pPr>
              <a:lnSpc>
                <a:spcPts val="2400"/>
              </a:lnSpc>
            </a:pPr>
            <a:r>
              <a:rPr lang="he-IL" sz="2400" dirty="0">
                <a:solidFill>
                  <a:schemeClr val="bg1"/>
                </a:solidFill>
                <a:latin typeface="Arial" panose="020B0604020202020204" pitchFamily="34" charset="0"/>
                <a:ea typeface="Merriweather" pitchFamily="34" charset="-122"/>
                <a:cs typeface="Arial" panose="020B0604020202020204" pitchFamily="34" charset="0"/>
              </a:rPr>
              <a:t>בחירת תכונות</a:t>
            </a:r>
            <a:endParaRPr lang="en-US" sz="2400" dirty="0">
              <a:solidFill>
                <a:schemeClr val="bg1"/>
              </a:solidFill>
              <a:latin typeface="Arial" panose="020B0604020202020204" pitchFamily="34" charset="0"/>
              <a:cs typeface="Arial" panose="020B0604020202020204" pitchFamily="34" charset="0"/>
            </a:endParaRPr>
          </a:p>
        </p:txBody>
      </p:sp>
      <p:sp>
        <p:nvSpPr>
          <p:cNvPr id="7" name="Text 5"/>
          <p:cNvSpPr/>
          <p:nvPr/>
        </p:nvSpPr>
        <p:spPr>
          <a:xfrm>
            <a:off x="1115613" y="3620208"/>
            <a:ext cx="5912763" cy="753189"/>
          </a:xfrm>
          <a:prstGeom prst="rect">
            <a:avLst/>
          </a:prstGeom>
          <a:noFill/>
          <a:ln/>
        </p:spPr>
        <p:txBody>
          <a:bodyPr wrap="square" lIns="0" tIns="0" rIns="0" bIns="0" rtlCol="0" anchor="t"/>
          <a:lstStyle/>
          <a:p>
            <a:pPr>
              <a:lnSpc>
                <a:spcPts val="2450"/>
              </a:lnSpc>
            </a:pPr>
            <a:r>
              <a:rPr lang="he-IL" sz="2000" dirty="0">
                <a:solidFill>
                  <a:schemeClr val="bg1"/>
                </a:solidFill>
                <a:latin typeface="Arial" panose="020B0604020202020204" pitchFamily="34" charset="0"/>
                <a:ea typeface="Merriweather" pitchFamily="34" charset="-122"/>
                <a:cs typeface="Arial" panose="020B0604020202020204" pitchFamily="34" charset="0"/>
              </a:rPr>
              <a:t>זיהוי ובחירה של התכונות הרלוונטיות ביותר לאימון מודלים לפי ערך </a:t>
            </a:r>
            <a:r>
              <a:rPr lang="en-US" sz="2000" dirty="0">
                <a:solidFill>
                  <a:schemeClr val="bg1"/>
                </a:solidFill>
                <a:latin typeface="Arial" panose="020B0604020202020204" pitchFamily="34" charset="0"/>
                <a:ea typeface="Merriweather" pitchFamily="34" charset="-122"/>
                <a:cs typeface="Arial" panose="020B0604020202020204" pitchFamily="34" charset="0"/>
              </a:rPr>
              <a:t>p </a:t>
            </a:r>
            <a:r>
              <a:rPr lang="he-IL" sz="2000" dirty="0">
                <a:solidFill>
                  <a:schemeClr val="bg1"/>
                </a:solidFill>
                <a:latin typeface="Arial" panose="020B0604020202020204" pitchFamily="34" charset="0"/>
                <a:ea typeface="Merriweather" pitchFamily="34" charset="-122"/>
                <a:cs typeface="Arial" panose="020B0604020202020204" pitchFamily="34" charset="0"/>
              </a:rPr>
              <a:t> וממדדים סטטיסטיים.</a:t>
            </a:r>
            <a:endParaRPr lang="en-US" sz="2000" dirty="0">
              <a:solidFill>
                <a:schemeClr val="bg1"/>
              </a:solidFill>
              <a:latin typeface="Arial" panose="020B0604020202020204" pitchFamily="34" charset="0"/>
              <a:cs typeface="Arial" panose="020B0604020202020204" pitchFamily="34" charset="0"/>
            </a:endParaRPr>
          </a:p>
        </p:txBody>
      </p:sp>
      <p:sp>
        <p:nvSpPr>
          <p:cNvPr id="8" name="Shape 6"/>
          <p:cNvSpPr/>
          <p:nvPr/>
        </p:nvSpPr>
        <p:spPr>
          <a:xfrm>
            <a:off x="7414260" y="3018711"/>
            <a:ext cx="6423303" cy="1504831"/>
          </a:xfrm>
          <a:prstGeom prst="roundRect">
            <a:avLst>
              <a:gd name="adj" fmla="val 7292"/>
            </a:avLst>
          </a:prstGeom>
          <a:solidFill>
            <a:srgbClr val="09151A">
              <a:alpha val="95000"/>
            </a:srgbClr>
          </a:solidFill>
          <a:ln w="22860">
            <a:solidFill>
              <a:schemeClr val="accent6"/>
            </a:solidFill>
            <a:prstDash val="solid"/>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9" name="Shape 7"/>
          <p:cNvSpPr/>
          <p:nvPr/>
        </p:nvSpPr>
        <p:spPr>
          <a:xfrm>
            <a:off x="7415464" y="3018711"/>
            <a:ext cx="91440" cy="1504831"/>
          </a:xfrm>
          <a:prstGeom prst="roundRect">
            <a:avLst>
              <a:gd name="adj" fmla="val 91043"/>
            </a:avLst>
          </a:prstGeom>
          <a:solidFill>
            <a:schemeClr val="accent6"/>
          </a:solidFill>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10" name="Text 8"/>
          <p:cNvSpPr/>
          <p:nvPr/>
        </p:nvSpPr>
        <p:spPr>
          <a:xfrm>
            <a:off x="11037215" y="3239691"/>
            <a:ext cx="2477572" cy="309682"/>
          </a:xfrm>
          <a:prstGeom prst="rect">
            <a:avLst/>
          </a:prstGeom>
          <a:noFill/>
          <a:ln/>
        </p:spPr>
        <p:txBody>
          <a:bodyPr wrap="none" lIns="0" tIns="0" rIns="0" bIns="0" rtlCol="0" anchor="t"/>
          <a:lstStyle/>
          <a:p>
            <a:pPr marL="0" indent="0">
              <a:lnSpc>
                <a:spcPts val="2400"/>
              </a:lnSpc>
              <a:buNone/>
            </a:pPr>
            <a:r>
              <a:rPr lang="he-IL" sz="2400" dirty="0">
                <a:solidFill>
                  <a:schemeClr val="bg1"/>
                </a:solidFill>
                <a:latin typeface="Arial" panose="020B0604020202020204" pitchFamily="34" charset="0"/>
                <a:cs typeface="Arial" panose="020B0604020202020204" pitchFamily="34" charset="0"/>
              </a:rPr>
              <a:t>טיפול בערכים</a:t>
            </a:r>
            <a:endParaRPr lang="en-US" sz="2400" dirty="0">
              <a:solidFill>
                <a:schemeClr val="bg1"/>
              </a:solidFill>
              <a:latin typeface="Arial" panose="020B0604020202020204" pitchFamily="34" charset="0"/>
              <a:cs typeface="Arial" panose="020B0604020202020204" pitchFamily="34" charset="0"/>
            </a:endParaRPr>
          </a:p>
        </p:txBody>
      </p:sp>
      <p:sp>
        <p:nvSpPr>
          <p:cNvPr id="11" name="Text 9"/>
          <p:cNvSpPr/>
          <p:nvPr/>
        </p:nvSpPr>
        <p:spPr>
          <a:xfrm>
            <a:off x="7703820" y="3679620"/>
            <a:ext cx="5912763" cy="634365"/>
          </a:xfrm>
          <a:prstGeom prst="rect">
            <a:avLst/>
          </a:prstGeom>
          <a:noFill/>
          <a:ln/>
        </p:spPr>
        <p:txBody>
          <a:bodyPr wrap="square" lIns="0" tIns="0" rIns="0" bIns="0" rtlCol="0" anchor="t"/>
          <a:lstStyle/>
          <a:p>
            <a:pPr>
              <a:lnSpc>
                <a:spcPts val="2450"/>
              </a:lnSpc>
            </a:pPr>
            <a:r>
              <a:rPr lang="he-IL" sz="2000" dirty="0">
                <a:solidFill>
                  <a:schemeClr val="bg1"/>
                </a:solidFill>
                <a:latin typeface="Arial" panose="020B0604020202020204" pitchFamily="34" charset="0"/>
                <a:ea typeface="Merriweather" pitchFamily="34" charset="-122"/>
                <a:cs typeface="Arial" panose="020B0604020202020204" pitchFamily="34" charset="0"/>
              </a:rPr>
              <a:t>טיפול בערכים חסרים ע״י מילוי בערך השכיח וחיזוי ערכי מטרה חסרים לפי מודל </a:t>
            </a:r>
            <a:r>
              <a:rPr lang="en-US" sz="2000" dirty="0">
                <a:solidFill>
                  <a:schemeClr val="bg1"/>
                </a:solidFill>
                <a:latin typeface="Arial" panose="020B0604020202020204" pitchFamily="34" charset="0"/>
                <a:ea typeface="Merriweather" pitchFamily="34" charset="-122"/>
                <a:cs typeface="Arial" panose="020B0604020202020204" pitchFamily="34" charset="0"/>
              </a:rPr>
              <a:t>Random Forest</a:t>
            </a:r>
            <a:r>
              <a:rPr lang="he-IL" sz="2000" dirty="0">
                <a:solidFill>
                  <a:schemeClr val="bg1"/>
                </a:solidFill>
                <a:latin typeface="Arial" panose="020B0604020202020204" pitchFamily="34" charset="0"/>
                <a:ea typeface="Merriweather" pitchFamily="34" charset="-122"/>
                <a:cs typeface="Arial" panose="020B0604020202020204" pitchFamily="34" charset="0"/>
              </a:rPr>
              <a:t> והפרדת תאריכים.</a:t>
            </a:r>
            <a:endParaRPr lang="en-US" sz="2000" dirty="0">
              <a:solidFill>
                <a:schemeClr val="bg1"/>
              </a:solidFill>
              <a:latin typeface="Arial" panose="020B0604020202020204" pitchFamily="34" charset="0"/>
              <a:cs typeface="Arial" panose="020B0604020202020204" pitchFamily="34" charset="0"/>
            </a:endParaRPr>
          </a:p>
        </p:txBody>
      </p:sp>
      <p:sp>
        <p:nvSpPr>
          <p:cNvPr id="12" name="Shape 10"/>
          <p:cNvSpPr/>
          <p:nvPr/>
        </p:nvSpPr>
        <p:spPr>
          <a:xfrm>
            <a:off x="792837" y="4721662"/>
            <a:ext cx="6423303" cy="1822013"/>
          </a:xfrm>
          <a:prstGeom prst="roundRect">
            <a:avLst>
              <a:gd name="adj" fmla="val 6022"/>
            </a:avLst>
          </a:prstGeom>
          <a:solidFill>
            <a:srgbClr val="09151A">
              <a:alpha val="95000"/>
            </a:srgbClr>
          </a:solidFill>
          <a:ln w="22860">
            <a:solidFill>
              <a:schemeClr val="accent4"/>
            </a:solidFill>
            <a:prstDash val="solid"/>
          </a:ln>
        </p:spPr>
        <p:txBody>
          <a:bodyPr/>
          <a:lstStyle/>
          <a:p>
            <a:pPr marL="0" defTabSz="914400" rtl="1" eaLnBrk="1" latinLnBrk="0" hangingPunct="1"/>
            <a:endParaRPr lang="he-IL" dirty="0">
              <a:solidFill>
                <a:schemeClr val="bg1"/>
              </a:solidFill>
              <a:latin typeface="Arial" panose="020B0604020202020204" pitchFamily="34" charset="0"/>
              <a:cs typeface="Arial" panose="020B0604020202020204" pitchFamily="34" charset="0"/>
            </a:endParaRPr>
          </a:p>
        </p:txBody>
      </p:sp>
      <p:sp>
        <p:nvSpPr>
          <p:cNvPr id="13" name="Shape 11"/>
          <p:cNvSpPr/>
          <p:nvPr/>
        </p:nvSpPr>
        <p:spPr>
          <a:xfrm>
            <a:off x="806073" y="4721662"/>
            <a:ext cx="91440" cy="1822013"/>
          </a:xfrm>
          <a:prstGeom prst="roundRect">
            <a:avLst>
              <a:gd name="adj" fmla="val 91043"/>
            </a:avLst>
          </a:prstGeom>
          <a:solidFill>
            <a:schemeClr val="accent4"/>
          </a:solidFill>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14" name="Text 12"/>
          <p:cNvSpPr/>
          <p:nvPr/>
        </p:nvSpPr>
        <p:spPr>
          <a:xfrm>
            <a:off x="4516395" y="4942642"/>
            <a:ext cx="2511981" cy="309682"/>
          </a:xfrm>
          <a:prstGeom prst="rect">
            <a:avLst/>
          </a:prstGeom>
          <a:noFill/>
          <a:ln/>
        </p:spPr>
        <p:txBody>
          <a:bodyPr wrap="none" lIns="0" tIns="0" rIns="0" bIns="0" rtlCol="0" anchor="t"/>
          <a:lstStyle/>
          <a:p>
            <a:pPr>
              <a:lnSpc>
                <a:spcPts val="2400"/>
              </a:lnSpc>
            </a:pPr>
            <a:r>
              <a:rPr lang="he-IL" sz="2400" dirty="0">
                <a:solidFill>
                  <a:schemeClr val="bg1"/>
                </a:solidFill>
                <a:latin typeface="Arial" panose="020B0604020202020204" pitchFamily="34" charset="0"/>
                <a:ea typeface="Merriweather" pitchFamily="34" charset="-122"/>
                <a:cs typeface="Arial" panose="020B0604020202020204" pitchFamily="34" charset="0"/>
              </a:rPr>
              <a:t>טרנספורמציה של נתונים</a:t>
            </a:r>
            <a:endParaRPr lang="en-US" sz="2400" dirty="0">
              <a:solidFill>
                <a:schemeClr val="bg1"/>
              </a:solidFill>
              <a:latin typeface="Arial" panose="020B0604020202020204" pitchFamily="34" charset="0"/>
              <a:cs typeface="Arial" panose="020B0604020202020204" pitchFamily="34" charset="0"/>
            </a:endParaRPr>
          </a:p>
        </p:txBody>
      </p:sp>
      <p:sp>
        <p:nvSpPr>
          <p:cNvPr id="15" name="Text 13"/>
          <p:cNvSpPr/>
          <p:nvPr/>
        </p:nvSpPr>
        <p:spPr>
          <a:xfrm>
            <a:off x="953607" y="5409785"/>
            <a:ext cx="6133743" cy="951548"/>
          </a:xfrm>
          <a:prstGeom prst="rect">
            <a:avLst/>
          </a:prstGeom>
          <a:noFill/>
          <a:ln/>
        </p:spPr>
        <p:txBody>
          <a:bodyPr wrap="square" lIns="0" tIns="0" rIns="0" bIns="0" rtlCol="0" anchor="t"/>
          <a:lstStyle/>
          <a:p>
            <a:pPr>
              <a:lnSpc>
                <a:spcPts val="2450"/>
              </a:lnSpc>
            </a:pPr>
            <a:r>
              <a:rPr lang="he-IL" dirty="0">
                <a:solidFill>
                  <a:schemeClr val="bg1"/>
                </a:solidFill>
                <a:latin typeface="Arial" panose="020B0604020202020204" pitchFamily="34" charset="0"/>
                <a:ea typeface="Merriweather" pitchFamily="34" charset="-122"/>
                <a:cs typeface="Arial" panose="020B0604020202020204" pitchFamily="34" charset="0"/>
              </a:rPr>
              <a:t>נורמליזציה, קידוד ערכים קטגוריים והנדסת תכונות חדשות , כדי לשפר את יעילות המודל ולשפר את הדיוק של המודל הנבחר.</a:t>
            </a:r>
            <a:endParaRPr lang="en-US" dirty="0">
              <a:solidFill>
                <a:schemeClr val="bg1"/>
              </a:solidFill>
              <a:latin typeface="Arial" panose="020B0604020202020204" pitchFamily="34" charset="0"/>
              <a:cs typeface="Arial" panose="020B0604020202020204" pitchFamily="34" charset="0"/>
            </a:endParaRPr>
          </a:p>
        </p:txBody>
      </p:sp>
      <p:sp>
        <p:nvSpPr>
          <p:cNvPr id="16" name="Shape 14"/>
          <p:cNvSpPr/>
          <p:nvPr/>
        </p:nvSpPr>
        <p:spPr>
          <a:xfrm>
            <a:off x="7414260" y="4721662"/>
            <a:ext cx="6423303" cy="1822013"/>
          </a:xfrm>
          <a:prstGeom prst="roundRect">
            <a:avLst>
              <a:gd name="adj" fmla="val 6022"/>
            </a:avLst>
          </a:prstGeom>
          <a:solidFill>
            <a:srgbClr val="09151A">
              <a:alpha val="95000"/>
            </a:srgbClr>
          </a:solidFill>
          <a:ln w="22860">
            <a:solidFill>
              <a:srgbClr val="FF0000"/>
            </a:solidFill>
            <a:prstDash val="solid"/>
          </a:ln>
        </p:spPr>
        <p:txBody>
          <a:bodyPr/>
          <a:lstStyle/>
          <a:p>
            <a:endParaRPr lang="he-IL" dirty="0">
              <a:solidFill>
                <a:schemeClr val="bg1"/>
              </a:solidFill>
              <a:latin typeface="Arial" panose="020B0604020202020204" pitchFamily="34" charset="0"/>
              <a:cs typeface="Arial" panose="020B0604020202020204" pitchFamily="34" charset="0"/>
            </a:endParaRPr>
          </a:p>
        </p:txBody>
      </p:sp>
      <p:sp>
        <p:nvSpPr>
          <p:cNvPr id="17" name="Shape 15"/>
          <p:cNvSpPr/>
          <p:nvPr/>
        </p:nvSpPr>
        <p:spPr>
          <a:xfrm>
            <a:off x="7413056" y="4721662"/>
            <a:ext cx="117912" cy="1822013"/>
          </a:xfrm>
          <a:prstGeom prst="roundRect">
            <a:avLst>
              <a:gd name="adj" fmla="val 91043"/>
            </a:avLst>
          </a:prstGeom>
          <a:solidFill>
            <a:srgbClr val="FF0000"/>
          </a:solidFill>
          <a:ln/>
        </p:spPr>
        <p:txBody>
          <a:bodyPr/>
          <a:lstStyle/>
          <a:p>
            <a:endParaRPr lang="he-IL">
              <a:solidFill>
                <a:schemeClr val="bg1"/>
              </a:solidFill>
              <a:latin typeface="Arial" panose="020B0604020202020204" pitchFamily="34" charset="0"/>
              <a:cs typeface="Arial" panose="020B0604020202020204" pitchFamily="34" charset="0"/>
            </a:endParaRPr>
          </a:p>
        </p:txBody>
      </p:sp>
      <p:sp>
        <p:nvSpPr>
          <p:cNvPr id="18" name="Text 16"/>
          <p:cNvSpPr/>
          <p:nvPr/>
        </p:nvSpPr>
        <p:spPr>
          <a:xfrm>
            <a:off x="11037215" y="4942642"/>
            <a:ext cx="2477572" cy="309682"/>
          </a:xfrm>
          <a:prstGeom prst="rect">
            <a:avLst/>
          </a:prstGeom>
          <a:noFill/>
          <a:ln/>
        </p:spPr>
        <p:txBody>
          <a:bodyPr wrap="none" lIns="0" tIns="0" rIns="0" bIns="0" rtlCol="0" anchor="t"/>
          <a:lstStyle/>
          <a:p>
            <a:pPr>
              <a:lnSpc>
                <a:spcPts val="2400"/>
              </a:lnSpc>
            </a:pPr>
            <a:r>
              <a:rPr lang="he-IL" sz="2400" dirty="0">
                <a:solidFill>
                  <a:schemeClr val="bg1"/>
                </a:solidFill>
                <a:latin typeface="Arial" panose="020B0604020202020204" pitchFamily="34" charset="0"/>
                <a:ea typeface="Merriweather" pitchFamily="34" charset="-122"/>
                <a:cs typeface="Arial" panose="020B0604020202020204" pitchFamily="34" charset="0"/>
              </a:rPr>
              <a:t>שילוב נתונים</a:t>
            </a:r>
            <a:endParaRPr lang="en-US" sz="2400" dirty="0">
              <a:solidFill>
                <a:schemeClr val="bg1"/>
              </a:solidFill>
              <a:latin typeface="Arial" panose="020B0604020202020204" pitchFamily="34" charset="0"/>
              <a:cs typeface="Arial" panose="020B0604020202020204" pitchFamily="34" charset="0"/>
            </a:endParaRPr>
          </a:p>
        </p:txBody>
      </p:sp>
      <p:sp>
        <p:nvSpPr>
          <p:cNvPr id="19" name="Text 17"/>
          <p:cNvSpPr/>
          <p:nvPr/>
        </p:nvSpPr>
        <p:spPr>
          <a:xfrm>
            <a:off x="7703820" y="5474180"/>
            <a:ext cx="5912763" cy="634365"/>
          </a:xfrm>
          <a:prstGeom prst="rect">
            <a:avLst/>
          </a:prstGeom>
          <a:noFill/>
          <a:ln/>
        </p:spPr>
        <p:txBody>
          <a:bodyPr wrap="square" lIns="0" tIns="0" rIns="0" bIns="0" rtlCol="0" anchor="t"/>
          <a:lstStyle/>
          <a:p>
            <a:pPr>
              <a:lnSpc>
                <a:spcPts val="2450"/>
              </a:lnSpc>
            </a:pPr>
            <a:r>
              <a:rPr lang="he-IL" sz="2000" dirty="0">
                <a:solidFill>
                  <a:schemeClr val="bg1"/>
                </a:solidFill>
                <a:latin typeface="Arial" panose="020B0604020202020204" pitchFamily="34" charset="0"/>
                <a:ea typeface="Merriweather" pitchFamily="34" charset="-122"/>
                <a:cs typeface="Arial" panose="020B0604020202020204" pitchFamily="34" charset="0"/>
              </a:rPr>
              <a:t>העשרת מערך הנתונים על ידי שילוב מידע מ-2 קבצי אקסל לפי תכונות קיימות ועמודות זהות.</a:t>
            </a:r>
            <a:endParaRPr lang="en-US" sz="2000" dirty="0">
              <a:solidFill>
                <a:schemeClr val="bg1"/>
              </a:solidFill>
              <a:latin typeface="Arial" panose="020B0604020202020204" pitchFamily="34" charset="0"/>
              <a:cs typeface="Arial" panose="020B0604020202020204" pitchFamily="34" charset="0"/>
            </a:endParaRPr>
          </a:p>
        </p:txBody>
      </p:sp>
      <p:sp>
        <p:nvSpPr>
          <p:cNvPr id="20" name="Text 18"/>
          <p:cNvSpPr/>
          <p:nvPr/>
        </p:nvSpPr>
        <p:spPr>
          <a:xfrm>
            <a:off x="1115613" y="6861063"/>
            <a:ext cx="11484386" cy="1158240"/>
          </a:xfrm>
          <a:prstGeom prst="rect">
            <a:avLst/>
          </a:prstGeom>
          <a:noFill/>
          <a:ln/>
        </p:spPr>
        <p:txBody>
          <a:bodyPr wrap="square" lIns="0" tIns="0" rIns="0" bIns="0" rtlCol="0" anchor="t"/>
          <a:lstStyle/>
          <a:p>
            <a:pPr algn="ctr">
              <a:lnSpc>
                <a:spcPts val="2450"/>
              </a:lnSpc>
            </a:pPr>
            <a:r>
              <a:rPr lang="en" sz="2400" dirty="0">
                <a:solidFill>
                  <a:schemeClr val="bg1"/>
                </a:solidFill>
                <a:latin typeface="Arial" panose="020B0604020202020204" pitchFamily="34" charset="0"/>
                <a:cs typeface="Arial" panose="020B0604020202020204" pitchFamily="34" charset="0"/>
              </a:rPr>
              <a:t> </a:t>
            </a:r>
            <a:r>
              <a:rPr lang="he-IL" sz="2400" dirty="0">
                <a:solidFill>
                  <a:schemeClr val="bg1"/>
                </a:solidFill>
                <a:latin typeface="Arial" panose="020B0604020202020204" pitchFamily="34" charset="0"/>
                <a:cs typeface="Arial" panose="020B0604020202020204" pitchFamily="34" charset="0"/>
              </a:rPr>
              <a:t> תוך שימוש בגרפים, טבלאות ועוד, הראה תובנות חיוניות</a:t>
            </a:r>
          </a:p>
          <a:p>
            <a:pPr algn="ctr">
              <a:lnSpc>
                <a:spcPts val="2450"/>
              </a:lnSpc>
            </a:pPr>
            <a:r>
              <a:rPr lang="he-IL" sz="2400" dirty="0">
                <a:solidFill>
                  <a:schemeClr val="bg1"/>
                </a:solidFill>
                <a:latin typeface="Arial" panose="020B0604020202020204" pitchFamily="34" charset="0"/>
                <a:cs typeface="Arial" panose="020B0604020202020204" pitchFamily="34" charset="0"/>
              </a:rPr>
              <a:t> לגבי סוגי התקפות נפוצים והקשר שלהם לחומרה ותדירות, והנחנו הנחות והחלטות לגבי סוגי המודלים שלנו.</a:t>
            </a:r>
            <a:endParaRPr lang="en-US" dirty="0">
              <a:solidFill>
                <a:schemeClr val="bg1"/>
              </a:solidFill>
              <a:latin typeface="Arial" panose="020B0604020202020204" pitchFamily="34" charset="0"/>
              <a:cs typeface="Arial" panose="020B0604020202020204" pitchFamily="34" charset="0"/>
            </a:endParaRPr>
          </a:p>
        </p:txBody>
      </p:sp>
      <p:pic>
        <p:nvPicPr>
          <p:cNvPr id="21" name="תמונה 20">
            <a:extLst>
              <a:ext uri="{FF2B5EF4-FFF2-40B4-BE49-F238E27FC236}">
                <a16:creationId xmlns:a16="http://schemas.microsoft.com/office/drawing/2014/main" id="{C993923F-E659-5355-4552-E1122B2B1FB1}"/>
              </a:ext>
            </a:extLst>
          </p:cNvPr>
          <p:cNvPicPr>
            <a:picLocks noChangeAspect="1"/>
          </p:cNvPicPr>
          <p:nvPr/>
        </p:nvPicPr>
        <p:blipFill>
          <a:blip r:embed="rId3"/>
          <a:stretch>
            <a:fillRect/>
          </a:stretch>
        </p:blipFill>
        <p:spPr>
          <a:xfrm>
            <a:off x="12777537" y="7549434"/>
            <a:ext cx="1852865" cy="666518"/>
          </a:xfrm>
          <a:prstGeom prst="rect">
            <a:avLst/>
          </a:prstGeom>
          <a:ln>
            <a:noFill/>
          </a:ln>
          <a:effectLst>
            <a:softEdge rad="112500"/>
          </a:effectLst>
        </p:spPr>
      </p:pic>
      <p:pic>
        <p:nvPicPr>
          <p:cNvPr id="22" name="תמונה 21"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406C8F01-90BF-6974-1271-86D50B2EBA75}"/>
              </a:ext>
            </a:extLst>
          </p:cNvPr>
          <p:cNvPicPr>
            <a:picLocks noChangeAspect="1"/>
          </p:cNvPicPr>
          <p:nvPr/>
        </p:nvPicPr>
        <p:blipFill>
          <a:blip r:embed="rId4"/>
          <a:stretch>
            <a:fillRect/>
          </a:stretch>
        </p:blipFill>
        <p:spPr>
          <a:xfrm>
            <a:off x="13228320" y="23157"/>
            <a:ext cx="1402079" cy="660980"/>
          </a:xfrm>
          <a:prstGeom prst="rect">
            <a:avLst/>
          </a:prstGeom>
        </p:spPr>
      </p:pic>
      <p:sp>
        <p:nvSpPr>
          <p:cNvPr id="23" name="תיבת טקסט 22">
            <a:extLst>
              <a:ext uri="{FF2B5EF4-FFF2-40B4-BE49-F238E27FC236}">
                <a16:creationId xmlns:a16="http://schemas.microsoft.com/office/drawing/2014/main" id="{2912BA07-D11D-1313-0B51-88BDC427D6FA}"/>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24" name="תיבת טקסט 23">
            <a:extLst>
              <a:ext uri="{FF2B5EF4-FFF2-40B4-BE49-F238E27FC236}">
                <a16:creationId xmlns:a16="http://schemas.microsoft.com/office/drawing/2014/main" id="{D1A96CFB-CFF5-A9FB-DBBD-DB316F6B982C}"/>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5"/>
              </a:rPr>
              <a:t>Bar Cohen</a:t>
            </a:r>
            <a:endParaRPr lang="he-IL" b="1" dirty="0"/>
          </a:p>
        </p:txBody>
      </p:sp>
      <p:sp>
        <p:nvSpPr>
          <p:cNvPr id="25" name="תיבת טקסט 24">
            <a:extLst>
              <a:ext uri="{FF2B5EF4-FFF2-40B4-BE49-F238E27FC236}">
                <a16:creationId xmlns:a16="http://schemas.microsoft.com/office/drawing/2014/main" id="{DA62C7BF-9746-E175-0337-B5081CF70097}"/>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6"/>
              </a:rPr>
              <a:t>Sahar haim Yaccov</a:t>
            </a:r>
          </a:p>
          <a:p>
            <a:r>
              <a:rPr lang="en" b="1" dirty="0">
                <a:hlinkClick r:id="rId6"/>
              </a:rPr>
              <a:t> </a:t>
            </a:r>
            <a:endParaRPr lang="he-IL" dirty="0"/>
          </a:p>
        </p:txBody>
      </p:sp>
      <p:pic>
        <p:nvPicPr>
          <p:cNvPr id="26" name="תמונה 25" descr="תמונה שמכילה טקסט, צילום מסך, גרפיקה, סמל&#10;&#10;תוכן בינה מלאכותית גנרטיבית עשוי להיות שגוי.">
            <a:extLst>
              <a:ext uri="{FF2B5EF4-FFF2-40B4-BE49-F238E27FC236}">
                <a16:creationId xmlns:a16="http://schemas.microsoft.com/office/drawing/2014/main" id="{3382A782-AC33-9F4F-5402-347AD0136241}"/>
              </a:ext>
            </a:extLst>
          </p:cNvPr>
          <p:cNvPicPr>
            <a:picLocks noChangeAspect="1"/>
          </p:cNvPicPr>
          <p:nvPr/>
        </p:nvPicPr>
        <p:blipFill>
          <a:blip r:embed="rId7"/>
          <a:stretch>
            <a:fillRect/>
          </a:stretch>
        </p:blipFill>
        <p:spPr>
          <a:xfrm>
            <a:off x="10580509" y="7621427"/>
            <a:ext cx="307504" cy="225346"/>
          </a:xfrm>
          <a:prstGeom prst="rect">
            <a:avLst/>
          </a:prstGeom>
        </p:spPr>
      </p:pic>
      <p:pic>
        <p:nvPicPr>
          <p:cNvPr id="27" name="תמונה 26" descr="תמונה שמכילה טקסט, צילום מסך, גרפיקה, סמל&#10;&#10;תוכן בינה מלאכותית גנרטיבית עשוי להיות שגוי.">
            <a:extLst>
              <a:ext uri="{FF2B5EF4-FFF2-40B4-BE49-F238E27FC236}">
                <a16:creationId xmlns:a16="http://schemas.microsoft.com/office/drawing/2014/main" id="{8491B32F-ECF1-6DCD-520B-E1DA108BF7B2}"/>
              </a:ext>
            </a:extLst>
          </p:cNvPr>
          <p:cNvPicPr>
            <a:picLocks noChangeAspect="1"/>
          </p:cNvPicPr>
          <p:nvPr/>
        </p:nvPicPr>
        <p:blipFill>
          <a:blip r:embed="rId7"/>
          <a:stretch>
            <a:fillRect/>
          </a:stretch>
        </p:blipFill>
        <p:spPr>
          <a:xfrm>
            <a:off x="10580509" y="7938840"/>
            <a:ext cx="307504" cy="2253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86A6A-6B42-D42C-D1EE-D496CB4C47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884EBA-B2C4-E966-C536-EDE7A3523CE6}"/>
              </a:ext>
            </a:extLst>
          </p:cNvPr>
          <p:cNvSpPr/>
          <p:nvPr/>
        </p:nvSpPr>
        <p:spPr>
          <a:xfrm>
            <a:off x="10608234" y="696872"/>
            <a:ext cx="3045480" cy="619363"/>
          </a:xfrm>
          <a:prstGeom prst="rect">
            <a:avLst/>
          </a:prstGeom>
          <a:noFill/>
          <a:ln/>
        </p:spPr>
        <p:txBody>
          <a:bodyPr wrap="none" lIns="0" tIns="0" rIns="0" bIns="0" rtlCol="0" anchor="t"/>
          <a:lstStyle/>
          <a:p>
            <a:pPr marL="0" indent="0">
              <a:lnSpc>
                <a:spcPts val="4850"/>
              </a:lnSpc>
              <a:buNone/>
            </a:pPr>
            <a:r>
              <a:rPr lang="he-IL" sz="3900" b="1" u="sng" dirty="0">
                <a:solidFill>
                  <a:schemeClr val="bg1"/>
                </a:solidFill>
                <a:latin typeface="Arial" panose="020B0604020202020204" pitchFamily="34" charset="0"/>
                <a:cs typeface="Arial" panose="020B0604020202020204" pitchFamily="34" charset="0"/>
              </a:rPr>
              <a:t>ניקוי נתונים - טיפול בערכים חסרים</a:t>
            </a:r>
            <a:endParaRPr lang="en-US" sz="3900" b="1" u="sng" dirty="0">
              <a:solidFill>
                <a:schemeClr val="bg1"/>
              </a:solidFill>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840A8B4D-FEDA-EDFF-3984-8F124E06F840}"/>
              </a:ext>
            </a:extLst>
          </p:cNvPr>
          <p:cNvSpPr/>
          <p:nvPr/>
        </p:nvSpPr>
        <p:spPr>
          <a:xfrm>
            <a:off x="699000" y="1884821"/>
            <a:ext cx="13044726" cy="951548"/>
          </a:xfrm>
          <a:prstGeom prst="rect">
            <a:avLst/>
          </a:prstGeom>
          <a:noFill/>
          <a:ln/>
        </p:spPr>
        <p:txBody>
          <a:bodyPr wrap="square" lIns="0" tIns="0" rIns="0" bIns="0" rtlCol="0" anchor="t"/>
          <a:lstStyle/>
          <a:p>
            <a:pPr>
              <a:lnSpc>
                <a:spcPts val="2450"/>
              </a:lnSpc>
            </a:pPr>
            <a:endParaRPr lang="en-US" sz="2400" dirty="0">
              <a:solidFill>
                <a:schemeClr val="bg1"/>
              </a:solidFill>
              <a:latin typeface="Arial" panose="020B0604020202020204" pitchFamily="34" charset="0"/>
              <a:cs typeface="Arial" panose="020B0604020202020204" pitchFamily="34" charset="0"/>
            </a:endParaRPr>
          </a:p>
        </p:txBody>
      </p:sp>
      <p:sp>
        <p:nvSpPr>
          <p:cNvPr id="20" name="Text 18">
            <a:extLst>
              <a:ext uri="{FF2B5EF4-FFF2-40B4-BE49-F238E27FC236}">
                <a16:creationId xmlns:a16="http://schemas.microsoft.com/office/drawing/2014/main" id="{FA25DE7D-837C-29FD-0688-3B1A80C7D026}"/>
              </a:ext>
            </a:extLst>
          </p:cNvPr>
          <p:cNvSpPr/>
          <p:nvPr/>
        </p:nvSpPr>
        <p:spPr>
          <a:xfrm>
            <a:off x="7153144" y="1700259"/>
            <a:ext cx="6590582" cy="3660195"/>
          </a:xfrm>
          <a:prstGeom prst="rect">
            <a:avLst/>
          </a:prstGeom>
          <a:noFill/>
          <a:ln/>
        </p:spPr>
        <p:txBody>
          <a:bodyPr wrap="square" lIns="0" tIns="0" rIns="0" bIns="0" rtlCol="0" anchor="t"/>
          <a:lstStyle/>
          <a:p>
            <a:pPr>
              <a:lnSpc>
                <a:spcPts val="2450"/>
              </a:lnSpc>
            </a:pPr>
            <a:r>
              <a:rPr lang="he-IL" dirty="0">
                <a:solidFill>
                  <a:schemeClr val="bg1"/>
                </a:solidFill>
              </a:rPr>
              <a:t>שלב ניקוי הנתונים וטיפול בערכים חסרים של תכונות ובמשתנה המטרה הוא שלב קריטי בתהליך עיבוד הנתונים, משום שהוא מבטיח שהמודל יקבל קלט איכותי, עקבי וללא הטיות הנובעות מחוסר במידע. שלב זה עשוי להשפיע באופן ישיר על דיוק, אמינות ויכולת ההכללה של המודל בלמידת מכונה . </a:t>
            </a:r>
            <a:r>
              <a:rPr lang="he-IL" dirty="0">
                <a:solidFill>
                  <a:schemeClr val="bg1"/>
                </a:solidFill>
                <a:latin typeface="Arial" panose="020B0604020202020204" pitchFamily="34" charset="0"/>
                <a:cs typeface="Arial" panose="020B0604020202020204" pitchFamily="34" charset="0"/>
              </a:rPr>
              <a:t>הפרדת עמודת התאריך . </a:t>
            </a:r>
          </a:p>
          <a:p>
            <a:pPr>
              <a:lnSpc>
                <a:spcPts val="2450"/>
              </a:lnSpc>
            </a:pPr>
            <a:endParaRPr lang="he-IL" dirty="0">
              <a:solidFill>
                <a:schemeClr val="bg1"/>
              </a:solidFill>
              <a:latin typeface="Arial" panose="020B0604020202020204" pitchFamily="34" charset="0"/>
              <a:cs typeface="Arial" panose="020B0604020202020204" pitchFamily="34" charset="0"/>
            </a:endParaRPr>
          </a:p>
          <a:p>
            <a:pPr marL="285750" indent="-285750">
              <a:lnSpc>
                <a:spcPts val="2450"/>
              </a:lnSpc>
              <a:buFont typeface="Arial" panose="020B0604020202020204" pitchFamily="34" charset="0"/>
              <a:buChar char="•"/>
            </a:pPr>
            <a:r>
              <a:rPr lang="he-IL" dirty="0">
                <a:solidFill>
                  <a:schemeClr val="bg1"/>
                </a:solidFill>
                <a:latin typeface="Arial" panose="020B0604020202020204" pitchFamily="34" charset="0"/>
                <a:cs typeface="Arial" panose="020B0604020202020204" pitchFamily="34" charset="0"/>
              </a:rPr>
              <a:t>מילוי ערכים חסרים בעמודות תכונות המודל ( ללא פיצ'ר המטרה) בערך השכיח של העמודה.</a:t>
            </a:r>
          </a:p>
          <a:p>
            <a:pPr marL="285750" indent="-285750">
              <a:lnSpc>
                <a:spcPts val="2450"/>
              </a:lnSpc>
              <a:buFont typeface="Arial" panose="020B0604020202020204" pitchFamily="34" charset="0"/>
              <a:buChar char="•"/>
            </a:pPr>
            <a:r>
              <a:rPr lang="he-IL" dirty="0">
                <a:solidFill>
                  <a:schemeClr val="bg1"/>
                </a:solidFill>
                <a:latin typeface="Arial" panose="020B0604020202020204" pitchFamily="34" charset="0"/>
                <a:cs typeface="Arial" panose="020B0604020202020204" pitchFamily="34" charset="0"/>
              </a:rPr>
              <a:t>שילוב עמודת המטרה והפרדה לקבוצת ערכים חסרים ולא חסרים (קבוצת ניסוי וחיזוי).	</a:t>
            </a:r>
          </a:p>
          <a:p>
            <a:pPr marL="285750" indent="-285750">
              <a:lnSpc>
                <a:spcPts val="2450"/>
              </a:lnSpc>
              <a:buFont typeface="Arial" panose="020B0604020202020204" pitchFamily="34" charset="0"/>
              <a:buChar char="•"/>
            </a:pPr>
            <a:r>
              <a:rPr lang="he-IL" b="1" dirty="0">
                <a:solidFill>
                  <a:schemeClr val="bg1"/>
                </a:solidFill>
                <a:latin typeface="Arial" panose="020B0604020202020204" pitchFamily="34" charset="0"/>
                <a:cs typeface="Arial" panose="020B0604020202020204" pitchFamily="34" charset="0"/>
              </a:rPr>
              <a:t>ניבוי וחיזוי </a:t>
            </a:r>
            <a:r>
              <a:rPr lang="he-IL" dirty="0">
                <a:solidFill>
                  <a:schemeClr val="bg1"/>
                </a:solidFill>
                <a:latin typeface="Arial" panose="020B0604020202020204" pitchFamily="34" charset="0"/>
                <a:cs typeface="Arial" panose="020B0604020202020204" pitchFamily="34" charset="0"/>
              </a:rPr>
              <a:t>קבוצת החיזוי (שמחולקת לאימון ובדיקה) ע״י קבוצת הניסוי באמצעות מודל למידת מוכנה.</a:t>
            </a:r>
            <a:endParaRPr lang="en-US" dirty="0">
              <a:solidFill>
                <a:schemeClr val="bg1"/>
              </a:solidFill>
              <a:latin typeface="Arial" panose="020B0604020202020204" pitchFamily="34" charset="0"/>
              <a:cs typeface="Arial" panose="020B0604020202020204" pitchFamily="34" charset="0"/>
            </a:endParaRPr>
          </a:p>
        </p:txBody>
      </p:sp>
      <p:pic>
        <p:nvPicPr>
          <p:cNvPr id="21" name="תמונה 20">
            <a:extLst>
              <a:ext uri="{FF2B5EF4-FFF2-40B4-BE49-F238E27FC236}">
                <a16:creationId xmlns:a16="http://schemas.microsoft.com/office/drawing/2014/main" id="{AD4E23C5-F33D-5102-922C-31FECEA97536}"/>
              </a:ext>
            </a:extLst>
          </p:cNvPr>
          <p:cNvPicPr>
            <a:picLocks noChangeAspect="1"/>
          </p:cNvPicPr>
          <p:nvPr/>
        </p:nvPicPr>
        <p:blipFill>
          <a:blip r:embed="rId3"/>
          <a:stretch>
            <a:fillRect/>
          </a:stretch>
        </p:blipFill>
        <p:spPr>
          <a:xfrm>
            <a:off x="12777537" y="7549434"/>
            <a:ext cx="1852865" cy="666518"/>
          </a:xfrm>
          <a:prstGeom prst="rect">
            <a:avLst/>
          </a:prstGeom>
          <a:ln>
            <a:noFill/>
          </a:ln>
          <a:effectLst>
            <a:softEdge rad="112500"/>
          </a:effectLst>
        </p:spPr>
      </p:pic>
      <p:pic>
        <p:nvPicPr>
          <p:cNvPr id="22" name="תמונה 21"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7B9AA4CB-201F-3654-4211-D1E04CD3E515}"/>
              </a:ext>
            </a:extLst>
          </p:cNvPr>
          <p:cNvPicPr>
            <a:picLocks noChangeAspect="1"/>
          </p:cNvPicPr>
          <p:nvPr/>
        </p:nvPicPr>
        <p:blipFill>
          <a:blip r:embed="rId4"/>
          <a:stretch>
            <a:fillRect/>
          </a:stretch>
        </p:blipFill>
        <p:spPr>
          <a:xfrm>
            <a:off x="13228320" y="23157"/>
            <a:ext cx="1402079" cy="660980"/>
          </a:xfrm>
          <a:prstGeom prst="rect">
            <a:avLst/>
          </a:prstGeom>
        </p:spPr>
      </p:pic>
      <p:sp>
        <p:nvSpPr>
          <p:cNvPr id="23" name="תיבת טקסט 22">
            <a:extLst>
              <a:ext uri="{FF2B5EF4-FFF2-40B4-BE49-F238E27FC236}">
                <a16:creationId xmlns:a16="http://schemas.microsoft.com/office/drawing/2014/main" id="{BAF69269-4DC2-A7F6-7407-7D5A932077AF}"/>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24" name="תיבת טקסט 23">
            <a:extLst>
              <a:ext uri="{FF2B5EF4-FFF2-40B4-BE49-F238E27FC236}">
                <a16:creationId xmlns:a16="http://schemas.microsoft.com/office/drawing/2014/main" id="{2F712806-85E5-A6E2-85EB-0A62416F16EC}"/>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5"/>
              </a:rPr>
              <a:t>Bar Cohen</a:t>
            </a:r>
            <a:endParaRPr lang="he-IL" b="1" dirty="0"/>
          </a:p>
        </p:txBody>
      </p:sp>
      <p:sp>
        <p:nvSpPr>
          <p:cNvPr id="25" name="תיבת טקסט 24">
            <a:extLst>
              <a:ext uri="{FF2B5EF4-FFF2-40B4-BE49-F238E27FC236}">
                <a16:creationId xmlns:a16="http://schemas.microsoft.com/office/drawing/2014/main" id="{95744E58-6CDD-4195-A9F6-76493BB74545}"/>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6"/>
              </a:rPr>
              <a:t>Sahar haim Yaccov</a:t>
            </a:r>
          </a:p>
          <a:p>
            <a:r>
              <a:rPr lang="en" b="1" dirty="0">
                <a:hlinkClick r:id="rId6"/>
              </a:rPr>
              <a:t> </a:t>
            </a:r>
            <a:endParaRPr lang="he-IL" dirty="0"/>
          </a:p>
        </p:txBody>
      </p:sp>
      <p:pic>
        <p:nvPicPr>
          <p:cNvPr id="26" name="תמונה 25" descr="תמונה שמכילה טקסט, צילום מסך, גרפיקה, סמל&#10;&#10;תוכן בינה מלאכותית גנרטיבית עשוי להיות שגוי.">
            <a:extLst>
              <a:ext uri="{FF2B5EF4-FFF2-40B4-BE49-F238E27FC236}">
                <a16:creationId xmlns:a16="http://schemas.microsoft.com/office/drawing/2014/main" id="{0E9F9D35-5F6C-7E8A-F7CF-6FFE13EA268A}"/>
              </a:ext>
            </a:extLst>
          </p:cNvPr>
          <p:cNvPicPr>
            <a:picLocks noChangeAspect="1"/>
          </p:cNvPicPr>
          <p:nvPr/>
        </p:nvPicPr>
        <p:blipFill>
          <a:blip r:embed="rId7"/>
          <a:stretch>
            <a:fillRect/>
          </a:stretch>
        </p:blipFill>
        <p:spPr>
          <a:xfrm>
            <a:off x="10580509" y="7621427"/>
            <a:ext cx="307504" cy="225346"/>
          </a:xfrm>
          <a:prstGeom prst="rect">
            <a:avLst/>
          </a:prstGeom>
        </p:spPr>
      </p:pic>
      <p:pic>
        <p:nvPicPr>
          <p:cNvPr id="27" name="תמונה 26" descr="תמונה שמכילה טקסט, צילום מסך, גרפיקה, סמל&#10;&#10;תוכן בינה מלאכותית גנרטיבית עשוי להיות שגוי.">
            <a:extLst>
              <a:ext uri="{FF2B5EF4-FFF2-40B4-BE49-F238E27FC236}">
                <a16:creationId xmlns:a16="http://schemas.microsoft.com/office/drawing/2014/main" id="{4FA50283-6001-811C-F5CF-1FBD7EE54148}"/>
              </a:ext>
            </a:extLst>
          </p:cNvPr>
          <p:cNvPicPr>
            <a:picLocks noChangeAspect="1"/>
          </p:cNvPicPr>
          <p:nvPr/>
        </p:nvPicPr>
        <p:blipFill>
          <a:blip r:embed="rId7"/>
          <a:stretch>
            <a:fillRect/>
          </a:stretch>
        </p:blipFill>
        <p:spPr>
          <a:xfrm>
            <a:off x="10580509" y="7938840"/>
            <a:ext cx="307504" cy="225346"/>
          </a:xfrm>
          <a:prstGeom prst="rect">
            <a:avLst/>
          </a:prstGeom>
        </p:spPr>
      </p:pic>
      <p:pic>
        <p:nvPicPr>
          <p:cNvPr id="30" name="תמונה 29">
            <a:extLst>
              <a:ext uri="{FF2B5EF4-FFF2-40B4-BE49-F238E27FC236}">
                <a16:creationId xmlns:a16="http://schemas.microsoft.com/office/drawing/2014/main" id="{6BE9DCCA-8F0A-03EC-BFD2-09E822BF6E4D}"/>
              </a:ext>
            </a:extLst>
          </p:cNvPr>
          <p:cNvPicPr>
            <a:picLocks noChangeAspect="1"/>
          </p:cNvPicPr>
          <p:nvPr/>
        </p:nvPicPr>
        <p:blipFill>
          <a:blip r:embed="rId8"/>
          <a:stretch>
            <a:fillRect/>
          </a:stretch>
        </p:blipFill>
        <p:spPr>
          <a:xfrm>
            <a:off x="331120" y="1006553"/>
            <a:ext cx="6890243" cy="2864966"/>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31" name="תמונה 30">
            <a:extLst>
              <a:ext uri="{FF2B5EF4-FFF2-40B4-BE49-F238E27FC236}">
                <a16:creationId xmlns:a16="http://schemas.microsoft.com/office/drawing/2014/main" id="{F0F329B5-1D02-5ADE-CA6F-827FCEBDF84F}"/>
              </a:ext>
            </a:extLst>
          </p:cNvPr>
          <p:cNvPicPr>
            <a:picLocks noChangeAspect="1"/>
          </p:cNvPicPr>
          <p:nvPr/>
        </p:nvPicPr>
        <p:blipFill>
          <a:blip r:embed="rId9"/>
          <a:stretch>
            <a:fillRect/>
          </a:stretch>
        </p:blipFill>
        <p:spPr>
          <a:xfrm>
            <a:off x="780879" y="4255543"/>
            <a:ext cx="6388618" cy="357657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rot lat="0" lon="1200000" rev="0"/>
            </a:camera>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140238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72954" y="816663"/>
            <a:ext cx="7481768" cy="657820"/>
          </a:xfrm>
          <a:prstGeom prst="rect">
            <a:avLst/>
          </a:prstGeom>
          <a:noFill/>
          <a:ln/>
        </p:spPr>
        <p:txBody>
          <a:bodyPr wrap="none" lIns="0" tIns="0" rIns="0" bIns="0" rtlCol="0" anchor="t"/>
          <a:lstStyle/>
          <a:p>
            <a:pPr marL="0" indent="0" defTabSz="914400" rtl="1" eaLnBrk="1" latinLnBrk="0" hangingPunct="1">
              <a:lnSpc>
                <a:spcPts val="5150"/>
              </a:lnSpc>
              <a:buNone/>
            </a:pPr>
            <a:r>
              <a:rPr lang="he-IL" sz="5400" b="1" u="sng" dirty="0">
                <a:solidFill>
                  <a:schemeClr val="bg1"/>
                </a:solidFill>
                <a:latin typeface="Arial" panose="020B0604020202020204" pitchFamily="34" charset="0"/>
                <a:cs typeface="Arial" panose="020B0604020202020204" pitchFamily="34" charset="0"/>
              </a:rPr>
              <a:t>מודלים</a:t>
            </a:r>
            <a:endParaRPr lang="en-US" sz="5400" b="1" u="sng"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1408342" y="1617098"/>
            <a:ext cx="12946380" cy="1010126"/>
          </a:xfrm>
          <a:prstGeom prst="rect">
            <a:avLst/>
          </a:prstGeom>
          <a:noFill/>
          <a:ln/>
        </p:spPr>
        <p:txBody>
          <a:bodyPr wrap="square" lIns="0" tIns="0" rIns="0" bIns="0" rtlCol="0" anchor="t"/>
          <a:lstStyle/>
          <a:p>
            <a:pPr>
              <a:lnSpc>
                <a:spcPts val="2650"/>
              </a:lnSpc>
            </a:pPr>
            <a:r>
              <a:rPr lang="he-IL" sz="2400" dirty="0">
                <a:solidFill>
                  <a:schemeClr val="bg1"/>
                </a:solidFill>
                <a:latin typeface="Arial" panose="020B0604020202020204" pitchFamily="34" charset="0"/>
                <a:cs typeface="Arial" panose="020B0604020202020204" pitchFamily="34" charset="0"/>
              </a:rPr>
              <a:t>הערכנו מספר מודלים מתקדמים של למידת מכונה כדי לזהות את המתאים ביותר למשימת החיזוי שלנו. הפעולה הבסיסית של כל מודל נבדקה והביצועים שלהם הוערכו ונבחנו בצורה מדויקת. מערך הנתונים חולק לערכות אימון, אימות ובדיקות כדי להבטיח הערכה חזקה ולמנוע התאמת יתר.</a:t>
            </a:r>
            <a:endParaRPr lang="en-US" sz="2400" dirty="0">
              <a:solidFill>
                <a:schemeClr val="bg1"/>
              </a:solidFill>
              <a:latin typeface="Arial" panose="020B0604020202020204" pitchFamily="34" charset="0"/>
              <a:cs typeface="Arial" panose="020B0604020202020204" pitchFamily="34" charset="0"/>
            </a:endParaRPr>
          </a:p>
        </p:txBody>
      </p:sp>
      <p:sp>
        <p:nvSpPr>
          <p:cNvPr id="5" name="Text 2"/>
          <p:cNvSpPr/>
          <p:nvPr/>
        </p:nvSpPr>
        <p:spPr>
          <a:xfrm>
            <a:off x="842010" y="4993481"/>
            <a:ext cx="3132908" cy="272834"/>
          </a:xfrm>
          <a:prstGeom prst="rect">
            <a:avLst/>
          </a:prstGeom>
          <a:noFill/>
          <a:ln/>
        </p:spPr>
        <p:txBody>
          <a:bodyPr wrap="none" lIns="0" tIns="0" rIns="0" bIns="0" rtlCol="0" anchor="t"/>
          <a:lstStyle/>
          <a:p>
            <a:pPr marL="0" indent="0">
              <a:lnSpc>
                <a:spcPts val="2550"/>
              </a:lnSpc>
              <a:buNone/>
            </a:pPr>
            <a:r>
              <a:rPr lang="en-US" sz="2050" dirty="0">
                <a:solidFill>
                  <a:schemeClr val="bg1"/>
                </a:solidFill>
                <a:latin typeface="Arial" panose="020B0604020202020204" pitchFamily="34" charset="0"/>
                <a:ea typeface="Merriweather" pitchFamily="34" charset="-122"/>
                <a:cs typeface="Arial" panose="020B0604020202020204" pitchFamily="34" charset="0"/>
              </a:rPr>
              <a:t>CatBoost</a:t>
            </a:r>
            <a:endParaRPr lang="en-US" sz="2050" dirty="0">
              <a:solidFill>
                <a:schemeClr val="bg1"/>
              </a:solidFill>
              <a:latin typeface="Arial" panose="020B0604020202020204" pitchFamily="34" charset="0"/>
              <a:cs typeface="Arial" panose="020B0604020202020204" pitchFamily="34" charset="0"/>
            </a:endParaRPr>
          </a:p>
        </p:txBody>
      </p:sp>
      <p:sp>
        <p:nvSpPr>
          <p:cNvPr id="6" name="Text 3"/>
          <p:cNvSpPr/>
          <p:nvPr/>
        </p:nvSpPr>
        <p:spPr>
          <a:xfrm>
            <a:off x="888870" y="5448538"/>
            <a:ext cx="3039189" cy="1346835"/>
          </a:xfrm>
          <a:prstGeom prst="rect">
            <a:avLst/>
          </a:prstGeom>
          <a:noFill/>
          <a:ln/>
        </p:spPr>
        <p:txBody>
          <a:bodyPr wrap="square" lIns="0" tIns="0" rIns="0" bIns="0" rtlCol="0" anchor="t"/>
          <a:lstStyle/>
          <a:p>
            <a:pPr>
              <a:lnSpc>
                <a:spcPts val="2650"/>
              </a:lnSpc>
            </a:pPr>
            <a:r>
              <a:rPr lang="he-IL" sz="1650" dirty="0">
                <a:solidFill>
                  <a:schemeClr val="bg1"/>
                </a:solidFill>
                <a:latin typeface="Arial" panose="020B0604020202020204" pitchFamily="34" charset="0"/>
                <a:cs typeface="Arial" panose="020B0604020202020204" pitchFamily="34" charset="0"/>
              </a:rPr>
              <a:t>שיפור עץ ההחלטה לפי עצים קודמים והפחתת השגיאה.</a:t>
            </a:r>
          </a:p>
          <a:p>
            <a:pPr>
              <a:lnSpc>
                <a:spcPts val="2650"/>
              </a:lnSpc>
            </a:pPr>
            <a:r>
              <a:rPr lang="he-IL" sz="1650" dirty="0">
                <a:solidFill>
                  <a:schemeClr val="bg1"/>
                </a:solidFill>
                <a:latin typeface="Arial" panose="020B0604020202020204" pitchFamily="34" charset="0"/>
                <a:cs typeface="Arial" panose="020B0604020202020204" pitchFamily="34" charset="0"/>
              </a:rPr>
              <a:t>טיפול אוטומטי בערכים חסרים</a:t>
            </a:r>
            <a:endParaRPr lang="en-US" sz="1650" dirty="0">
              <a:solidFill>
                <a:schemeClr val="bg1"/>
              </a:solidFill>
              <a:latin typeface="Arial" panose="020B0604020202020204" pitchFamily="34" charset="0"/>
              <a:cs typeface="Arial" panose="020B0604020202020204" pitchFamily="34" charset="0"/>
            </a:endParaRPr>
          </a:p>
        </p:txBody>
      </p:sp>
      <p:sp>
        <p:nvSpPr>
          <p:cNvPr id="8" name="Text 4"/>
          <p:cNvSpPr/>
          <p:nvPr/>
        </p:nvSpPr>
        <p:spPr>
          <a:xfrm>
            <a:off x="4749480" y="4993481"/>
            <a:ext cx="2631400" cy="328851"/>
          </a:xfrm>
          <a:prstGeom prst="rect">
            <a:avLst/>
          </a:prstGeom>
          <a:noFill/>
          <a:ln/>
        </p:spPr>
        <p:txBody>
          <a:bodyPr wrap="none" lIns="0" tIns="0" rIns="0" bIns="0" rtlCol="0" anchor="t"/>
          <a:lstStyle/>
          <a:p>
            <a:pPr marL="0" indent="0">
              <a:lnSpc>
                <a:spcPts val="2550"/>
              </a:lnSpc>
              <a:buNone/>
            </a:pPr>
            <a:r>
              <a:rPr lang="en-US" sz="2050" dirty="0">
                <a:solidFill>
                  <a:schemeClr val="bg1"/>
                </a:solidFill>
                <a:latin typeface="Arial" panose="020B0604020202020204" pitchFamily="34" charset="0"/>
                <a:ea typeface="Merriweather" pitchFamily="34" charset="-122"/>
                <a:cs typeface="Arial" panose="020B0604020202020204" pitchFamily="34" charset="0"/>
              </a:rPr>
              <a:t>Random Forest</a:t>
            </a:r>
            <a:endParaRPr lang="en-US" sz="2050" dirty="0">
              <a:solidFill>
                <a:schemeClr val="bg1"/>
              </a:solidFill>
              <a:latin typeface="Arial" panose="020B0604020202020204" pitchFamily="34" charset="0"/>
              <a:cs typeface="Arial" panose="020B0604020202020204" pitchFamily="34" charset="0"/>
            </a:endParaRPr>
          </a:p>
        </p:txBody>
      </p:sp>
      <p:sp>
        <p:nvSpPr>
          <p:cNvPr id="9" name="Text 5"/>
          <p:cNvSpPr/>
          <p:nvPr/>
        </p:nvSpPr>
        <p:spPr>
          <a:xfrm>
            <a:off x="4310372" y="5448538"/>
            <a:ext cx="3039308" cy="1010126"/>
          </a:xfrm>
          <a:prstGeom prst="rect">
            <a:avLst/>
          </a:prstGeom>
          <a:noFill/>
          <a:ln/>
        </p:spPr>
        <p:txBody>
          <a:bodyPr wrap="square" lIns="0" tIns="0" rIns="0" bIns="0" rtlCol="0" anchor="t"/>
          <a:lstStyle/>
          <a:p>
            <a:pPr>
              <a:lnSpc>
                <a:spcPts val="2650"/>
              </a:lnSpc>
            </a:pPr>
            <a:r>
              <a:rPr lang="he-IL" sz="1650" dirty="0">
                <a:solidFill>
                  <a:schemeClr val="bg1"/>
                </a:solidFill>
                <a:latin typeface="Arial" panose="020B0604020202020204" pitchFamily="34" charset="0"/>
                <a:ea typeface="Merriweather" pitchFamily="34" charset="-122"/>
                <a:cs typeface="Arial" panose="020B0604020202020204" pitchFamily="34" charset="0"/>
              </a:rPr>
              <a:t>שילוב של עצי החלטה מרובים לדיוק משופר.</a:t>
            </a:r>
            <a:endParaRPr lang="en-US" sz="1650" dirty="0">
              <a:solidFill>
                <a:schemeClr val="bg1"/>
              </a:solidFill>
              <a:latin typeface="Arial" panose="020B0604020202020204" pitchFamily="34" charset="0"/>
              <a:cs typeface="Arial" panose="020B0604020202020204" pitchFamily="34" charset="0"/>
            </a:endParaRPr>
          </a:p>
        </p:txBody>
      </p:sp>
      <p:sp>
        <p:nvSpPr>
          <p:cNvPr id="11" name="Text 6"/>
          <p:cNvSpPr/>
          <p:nvPr/>
        </p:nvSpPr>
        <p:spPr>
          <a:xfrm>
            <a:off x="8155442" y="4993481"/>
            <a:ext cx="2631400" cy="328851"/>
          </a:xfrm>
          <a:prstGeom prst="rect">
            <a:avLst/>
          </a:prstGeom>
          <a:noFill/>
          <a:ln/>
        </p:spPr>
        <p:txBody>
          <a:bodyPr wrap="none" lIns="0" tIns="0" rIns="0" bIns="0" rtlCol="0" anchor="t"/>
          <a:lstStyle/>
          <a:p>
            <a:pPr marL="0" indent="0">
              <a:lnSpc>
                <a:spcPts val="2550"/>
              </a:lnSpc>
              <a:buNone/>
            </a:pPr>
            <a:r>
              <a:rPr lang="en-US" sz="2050">
                <a:solidFill>
                  <a:schemeClr val="bg1"/>
                </a:solidFill>
                <a:latin typeface="Arial" panose="020B0604020202020204" pitchFamily="34" charset="0"/>
                <a:ea typeface="Merriweather" pitchFamily="34" charset="-122"/>
                <a:cs typeface="Arial" panose="020B0604020202020204" pitchFamily="34" charset="0"/>
              </a:rPr>
              <a:t>Neural</a:t>
            </a:r>
            <a:r>
              <a:rPr lang="en-US" sz="2050" dirty="0">
                <a:solidFill>
                  <a:schemeClr val="bg1"/>
                </a:solidFill>
                <a:latin typeface="Arial" panose="020B0604020202020204" pitchFamily="34" charset="0"/>
                <a:ea typeface="Merriweather" pitchFamily="34" charset="-122"/>
                <a:cs typeface="Arial" panose="020B0604020202020204" pitchFamily="34" charset="0"/>
              </a:rPr>
              <a:t> Networks</a:t>
            </a:r>
            <a:endParaRPr lang="en-US" sz="2050" dirty="0">
              <a:solidFill>
                <a:schemeClr val="bg1"/>
              </a:solidFill>
              <a:latin typeface="Arial" panose="020B0604020202020204" pitchFamily="34" charset="0"/>
              <a:cs typeface="Arial" panose="020B0604020202020204" pitchFamily="34" charset="0"/>
            </a:endParaRPr>
          </a:p>
        </p:txBody>
      </p:sp>
      <p:sp>
        <p:nvSpPr>
          <p:cNvPr id="12" name="Text 7"/>
          <p:cNvSpPr/>
          <p:nvPr/>
        </p:nvSpPr>
        <p:spPr>
          <a:xfrm>
            <a:off x="7731993" y="5448538"/>
            <a:ext cx="3039189" cy="1010126"/>
          </a:xfrm>
          <a:prstGeom prst="rect">
            <a:avLst/>
          </a:prstGeom>
          <a:noFill/>
          <a:ln/>
        </p:spPr>
        <p:txBody>
          <a:bodyPr wrap="square" lIns="0" tIns="0" rIns="0" bIns="0" rtlCol="0" anchor="t"/>
          <a:lstStyle/>
          <a:p>
            <a:pPr marL="0" indent="0">
              <a:lnSpc>
                <a:spcPts val="2650"/>
              </a:lnSpc>
              <a:buNone/>
            </a:pPr>
            <a:r>
              <a:rPr lang="he-IL" sz="1650" dirty="0">
                <a:solidFill>
                  <a:schemeClr val="bg1"/>
                </a:solidFill>
                <a:latin typeface="Arial" panose="020B0604020202020204" pitchFamily="34" charset="0"/>
                <a:ea typeface="Merriweather" pitchFamily="34" charset="-122"/>
                <a:cs typeface="Arial" panose="020B0604020202020204" pitchFamily="34" charset="0"/>
              </a:rPr>
              <a:t>מודל למידה עמוקה לזיהוי דפוסים מורכבים בנתונים</a:t>
            </a:r>
            <a:endParaRPr lang="en-US" sz="1650" dirty="0">
              <a:solidFill>
                <a:schemeClr val="bg1"/>
              </a:solidFill>
              <a:latin typeface="Arial" panose="020B0604020202020204" pitchFamily="34" charset="0"/>
              <a:cs typeface="Arial" panose="020B0604020202020204" pitchFamily="34" charset="0"/>
            </a:endParaRPr>
          </a:p>
        </p:txBody>
      </p:sp>
      <p:sp>
        <p:nvSpPr>
          <p:cNvPr id="14" name="Text 8"/>
          <p:cNvSpPr/>
          <p:nvPr/>
        </p:nvSpPr>
        <p:spPr>
          <a:xfrm>
            <a:off x="11561403" y="4993481"/>
            <a:ext cx="2631400" cy="328851"/>
          </a:xfrm>
          <a:prstGeom prst="rect">
            <a:avLst/>
          </a:prstGeom>
          <a:noFill/>
          <a:ln/>
        </p:spPr>
        <p:txBody>
          <a:bodyPr wrap="none" lIns="0" tIns="0" rIns="0" bIns="0" rtlCol="0" anchor="t"/>
          <a:lstStyle/>
          <a:p>
            <a:pPr marL="0" indent="0">
              <a:lnSpc>
                <a:spcPts val="2550"/>
              </a:lnSpc>
              <a:buNone/>
            </a:pPr>
            <a:r>
              <a:rPr lang="en-US" sz="2050" dirty="0">
                <a:solidFill>
                  <a:schemeClr val="bg1"/>
                </a:solidFill>
                <a:latin typeface="Arial" panose="020B0604020202020204" pitchFamily="34" charset="0"/>
                <a:ea typeface="Merriweather" pitchFamily="34" charset="-122"/>
                <a:cs typeface="Arial" panose="020B0604020202020204" pitchFamily="34" charset="0"/>
              </a:rPr>
              <a:t>AdaBoost</a:t>
            </a:r>
            <a:endParaRPr lang="en-US" sz="2050" dirty="0">
              <a:solidFill>
                <a:schemeClr val="bg1"/>
              </a:solidFill>
              <a:latin typeface="Arial" panose="020B0604020202020204" pitchFamily="34" charset="0"/>
              <a:cs typeface="Arial" panose="020B0604020202020204" pitchFamily="34" charset="0"/>
            </a:endParaRPr>
          </a:p>
        </p:txBody>
      </p:sp>
      <p:sp>
        <p:nvSpPr>
          <p:cNvPr id="15" name="Text 9"/>
          <p:cNvSpPr/>
          <p:nvPr/>
        </p:nvSpPr>
        <p:spPr>
          <a:xfrm>
            <a:off x="11153495" y="5468720"/>
            <a:ext cx="3039308" cy="1010126"/>
          </a:xfrm>
          <a:prstGeom prst="rect">
            <a:avLst/>
          </a:prstGeom>
          <a:noFill/>
          <a:ln/>
        </p:spPr>
        <p:txBody>
          <a:bodyPr wrap="square" lIns="0" tIns="0" rIns="0" bIns="0" rtlCol="0" anchor="t"/>
          <a:lstStyle/>
          <a:p>
            <a:pPr marL="0" indent="0">
              <a:lnSpc>
                <a:spcPts val="2650"/>
              </a:lnSpc>
              <a:buNone/>
            </a:pPr>
            <a:r>
              <a:rPr lang="he-IL" sz="1650" dirty="0">
                <a:solidFill>
                  <a:schemeClr val="bg1"/>
                </a:solidFill>
                <a:latin typeface="Arial" panose="020B0604020202020204" pitchFamily="34" charset="0"/>
                <a:cs typeface="Arial" panose="020B0604020202020204" pitchFamily="34" charset="0"/>
              </a:rPr>
              <a:t>שימוש במודלים חלשים ליצירת מודל חזק ושיפור המודל</a:t>
            </a:r>
            <a:endParaRPr lang="en-US" sz="1650" dirty="0">
              <a:solidFill>
                <a:schemeClr val="bg1"/>
              </a:solidFill>
              <a:latin typeface="Arial" panose="020B0604020202020204" pitchFamily="34" charset="0"/>
              <a:cs typeface="Arial" panose="020B0604020202020204" pitchFamily="34" charset="0"/>
            </a:endParaRPr>
          </a:p>
        </p:txBody>
      </p:sp>
      <p:sp>
        <p:nvSpPr>
          <p:cNvPr id="16" name="Text 10"/>
          <p:cNvSpPr/>
          <p:nvPr/>
        </p:nvSpPr>
        <p:spPr>
          <a:xfrm>
            <a:off x="855560" y="6828334"/>
            <a:ext cx="12946380" cy="673418"/>
          </a:xfrm>
          <a:prstGeom prst="rect">
            <a:avLst/>
          </a:prstGeom>
          <a:noFill/>
          <a:ln/>
        </p:spPr>
        <p:txBody>
          <a:bodyPr wrap="square" lIns="0" tIns="0" rIns="0" bIns="0" rtlCol="0" anchor="t"/>
          <a:lstStyle/>
          <a:p>
            <a:pPr algn="ctr">
              <a:lnSpc>
                <a:spcPts val="2650"/>
              </a:lnSpc>
            </a:pPr>
            <a:r>
              <a:rPr lang="he-IL" sz="2400" dirty="0">
                <a:solidFill>
                  <a:schemeClr val="bg1"/>
                </a:solidFill>
                <a:latin typeface="Arial" panose="020B0604020202020204" pitchFamily="34" charset="0"/>
                <a:cs typeface="Arial" panose="020B0604020202020204" pitchFamily="34" charset="0"/>
              </a:rPr>
              <a:t>כוונון פרמטרים, שנערך באמצעות כלים מתקדים כמו </a:t>
            </a:r>
            <a:r>
              <a:rPr lang="en" sz="2400" dirty="0">
                <a:solidFill>
                  <a:schemeClr val="bg1"/>
                </a:solidFill>
                <a:latin typeface="Arial" panose="020B0604020202020204" pitchFamily="34" charset="0"/>
                <a:cs typeface="Arial" panose="020B0604020202020204" pitchFamily="34" charset="0"/>
              </a:rPr>
              <a:t>Optuna </a:t>
            </a:r>
            <a:r>
              <a:rPr lang="he-IL" sz="2400" dirty="0">
                <a:solidFill>
                  <a:schemeClr val="bg1"/>
                </a:solidFill>
                <a:latin typeface="Arial" panose="020B0604020202020204" pitchFamily="34" charset="0"/>
                <a:cs typeface="Arial" panose="020B0604020202020204" pitchFamily="34" charset="0"/>
              </a:rPr>
              <a:t> (כוונון אוטומטי של פרמטרי המודל) היה חיוני לאופטימיזציה של הביצועים של כל מודל, והבטיח שהם יממשו את הפוטנציאל של המודל בחיזוי אירועי סייבר.</a:t>
            </a:r>
            <a:endParaRPr lang="en-US" sz="2800" dirty="0">
              <a:solidFill>
                <a:schemeClr val="bg1"/>
              </a:solidFill>
              <a:latin typeface="Arial" panose="020B0604020202020204" pitchFamily="34" charset="0"/>
              <a:cs typeface="Arial" panose="020B0604020202020204" pitchFamily="34" charset="0"/>
            </a:endParaRPr>
          </a:p>
        </p:txBody>
      </p:sp>
      <p:pic>
        <p:nvPicPr>
          <p:cNvPr id="17" name="תמונה 16">
            <a:extLst>
              <a:ext uri="{FF2B5EF4-FFF2-40B4-BE49-F238E27FC236}">
                <a16:creationId xmlns:a16="http://schemas.microsoft.com/office/drawing/2014/main" id="{8C621A18-1A4F-04F6-3D01-5B134C6C42F2}"/>
              </a:ext>
            </a:extLst>
          </p:cNvPr>
          <p:cNvPicPr>
            <a:picLocks noChangeAspect="1"/>
          </p:cNvPicPr>
          <p:nvPr/>
        </p:nvPicPr>
        <p:blipFill>
          <a:blip r:embed="rId3"/>
          <a:stretch>
            <a:fillRect/>
          </a:stretch>
        </p:blipFill>
        <p:spPr>
          <a:xfrm>
            <a:off x="702838" y="2821364"/>
            <a:ext cx="3272082" cy="1989895"/>
          </a:xfrm>
          <a:prstGeom prst="rect">
            <a:avLst/>
          </a:prstGeom>
        </p:spPr>
      </p:pic>
      <p:pic>
        <p:nvPicPr>
          <p:cNvPr id="19" name="תמונה 18">
            <a:extLst>
              <a:ext uri="{FF2B5EF4-FFF2-40B4-BE49-F238E27FC236}">
                <a16:creationId xmlns:a16="http://schemas.microsoft.com/office/drawing/2014/main" id="{6ABB2420-0085-1007-27F0-28C77A6D8E06}"/>
              </a:ext>
            </a:extLst>
          </p:cNvPr>
          <p:cNvPicPr>
            <a:picLocks noChangeAspect="1"/>
          </p:cNvPicPr>
          <p:nvPr/>
        </p:nvPicPr>
        <p:blipFill>
          <a:blip r:embed="rId4"/>
          <a:stretch>
            <a:fillRect/>
          </a:stretch>
        </p:blipFill>
        <p:spPr>
          <a:xfrm>
            <a:off x="4408571" y="2821364"/>
            <a:ext cx="3039309" cy="1989895"/>
          </a:xfrm>
          <a:prstGeom prst="rect">
            <a:avLst/>
          </a:prstGeom>
        </p:spPr>
      </p:pic>
      <p:pic>
        <p:nvPicPr>
          <p:cNvPr id="20" name="תמונה 19">
            <a:extLst>
              <a:ext uri="{FF2B5EF4-FFF2-40B4-BE49-F238E27FC236}">
                <a16:creationId xmlns:a16="http://schemas.microsoft.com/office/drawing/2014/main" id="{3F9A3EB3-FAA1-3310-EDB1-F663B440E3DA}"/>
              </a:ext>
            </a:extLst>
          </p:cNvPr>
          <p:cNvPicPr>
            <a:picLocks noChangeAspect="1"/>
          </p:cNvPicPr>
          <p:nvPr/>
        </p:nvPicPr>
        <p:blipFill>
          <a:blip r:embed="rId5"/>
          <a:stretch>
            <a:fillRect/>
          </a:stretch>
        </p:blipFill>
        <p:spPr>
          <a:xfrm>
            <a:off x="7881532" y="2821365"/>
            <a:ext cx="2905310" cy="1989894"/>
          </a:xfrm>
          <a:prstGeom prst="rect">
            <a:avLst/>
          </a:prstGeom>
        </p:spPr>
      </p:pic>
      <p:pic>
        <p:nvPicPr>
          <p:cNvPr id="21" name="תמונה 20">
            <a:extLst>
              <a:ext uri="{FF2B5EF4-FFF2-40B4-BE49-F238E27FC236}">
                <a16:creationId xmlns:a16="http://schemas.microsoft.com/office/drawing/2014/main" id="{63B26BFB-9AFB-EB59-462B-E382EE212AE9}"/>
              </a:ext>
            </a:extLst>
          </p:cNvPr>
          <p:cNvPicPr>
            <a:picLocks noChangeAspect="1"/>
          </p:cNvPicPr>
          <p:nvPr/>
        </p:nvPicPr>
        <p:blipFill>
          <a:blip r:embed="rId6"/>
          <a:stretch>
            <a:fillRect/>
          </a:stretch>
        </p:blipFill>
        <p:spPr>
          <a:xfrm>
            <a:off x="11153614" y="2821365"/>
            <a:ext cx="3205324" cy="1989894"/>
          </a:xfrm>
          <a:prstGeom prst="rect">
            <a:avLst/>
          </a:prstGeom>
        </p:spPr>
      </p:pic>
      <p:pic>
        <p:nvPicPr>
          <p:cNvPr id="4" name="תמונה 3">
            <a:extLst>
              <a:ext uri="{FF2B5EF4-FFF2-40B4-BE49-F238E27FC236}">
                <a16:creationId xmlns:a16="http://schemas.microsoft.com/office/drawing/2014/main" id="{09EF4C56-0CB6-D373-050E-6546BC5E8279}"/>
              </a:ext>
            </a:extLst>
          </p:cNvPr>
          <p:cNvPicPr>
            <a:picLocks noChangeAspect="1"/>
          </p:cNvPicPr>
          <p:nvPr/>
        </p:nvPicPr>
        <p:blipFill>
          <a:blip r:embed="rId7"/>
          <a:stretch>
            <a:fillRect/>
          </a:stretch>
        </p:blipFill>
        <p:spPr>
          <a:xfrm>
            <a:off x="12777537" y="7549434"/>
            <a:ext cx="1852865" cy="666518"/>
          </a:xfrm>
          <a:prstGeom prst="rect">
            <a:avLst/>
          </a:prstGeom>
          <a:ln>
            <a:noFill/>
          </a:ln>
          <a:effectLst>
            <a:softEdge rad="112500"/>
          </a:effectLst>
        </p:spPr>
      </p:pic>
      <p:pic>
        <p:nvPicPr>
          <p:cNvPr id="7" name="תמונה 6"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F266DBCA-B5B2-B72D-0E77-6EF2883E3823}"/>
              </a:ext>
            </a:extLst>
          </p:cNvPr>
          <p:cNvPicPr>
            <a:picLocks noChangeAspect="1"/>
          </p:cNvPicPr>
          <p:nvPr/>
        </p:nvPicPr>
        <p:blipFill>
          <a:blip r:embed="rId8"/>
          <a:stretch>
            <a:fillRect/>
          </a:stretch>
        </p:blipFill>
        <p:spPr>
          <a:xfrm>
            <a:off x="13228320" y="23157"/>
            <a:ext cx="1402079" cy="660980"/>
          </a:xfrm>
          <a:prstGeom prst="rect">
            <a:avLst/>
          </a:prstGeom>
        </p:spPr>
      </p:pic>
      <p:sp>
        <p:nvSpPr>
          <p:cNvPr id="10" name="תיבת טקסט 9">
            <a:extLst>
              <a:ext uri="{FF2B5EF4-FFF2-40B4-BE49-F238E27FC236}">
                <a16:creationId xmlns:a16="http://schemas.microsoft.com/office/drawing/2014/main" id="{862F04FC-F873-809A-F5BE-8847ACE6CB4F}"/>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13" name="תיבת טקסט 12">
            <a:extLst>
              <a:ext uri="{FF2B5EF4-FFF2-40B4-BE49-F238E27FC236}">
                <a16:creationId xmlns:a16="http://schemas.microsoft.com/office/drawing/2014/main" id="{C305D5A3-0BBD-CEF7-0C7D-6AE8BF673D87}"/>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9"/>
              </a:rPr>
              <a:t>Bar Cohen</a:t>
            </a:r>
            <a:endParaRPr lang="he-IL" b="1" dirty="0"/>
          </a:p>
        </p:txBody>
      </p:sp>
      <p:sp>
        <p:nvSpPr>
          <p:cNvPr id="18" name="תיבת טקסט 17">
            <a:extLst>
              <a:ext uri="{FF2B5EF4-FFF2-40B4-BE49-F238E27FC236}">
                <a16:creationId xmlns:a16="http://schemas.microsoft.com/office/drawing/2014/main" id="{03935E2A-EAC4-EC0F-C80A-523B64245FD7}"/>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10"/>
              </a:rPr>
              <a:t>Sahar haim Yaccov</a:t>
            </a:r>
          </a:p>
          <a:p>
            <a:r>
              <a:rPr lang="en" b="1" dirty="0">
                <a:hlinkClick r:id="rId10"/>
              </a:rPr>
              <a:t> </a:t>
            </a:r>
            <a:endParaRPr lang="he-IL" dirty="0"/>
          </a:p>
        </p:txBody>
      </p:sp>
      <p:pic>
        <p:nvPicPr>
          <p:cNvPr id="22" name="תמונה 21" descr="תמונה שמכילה טקסט, צילום מסך, גרפיקה, סמל&#10;&#10;תוכן בינה מלאכותית גנרטיבית עשוי להיות שגוי.">
            <a:extLst>
              <a:ext uri="{FF2B5EF4-FFF2-40B4-BE49-F238E27FC236}">
                <a16:creationId xmlns:a16="http://schemas.microsoft.com/office/drawing/2014/main" id="{0CF2B9B0-CF0D-55AE-92C8-A19296D57581}"/>
              </a:ext>
            </a:extLst>
          </p:cNvPr>
          <p:cNvPicPr>
            <a:picLocks noChangeAspect="1"/>
          </p:cNvPicPr>
          <p:nvPr/>
        </p:nvPicPr>
        <p:blipFill>
          <a:blip r:embed="rId11"/>
          <a:stretch>
            <a:fillRect/>
          </a:stretch>
        </p:blipFill>
        <p:spPr>
          <a:xfrm>
            <a:off x="10580509" y="7621427"/>
            <a:ext cx="307504" cy="225346"/>
          </a:xfrm>
          <a:prstGeom prst="rect">
            <a:avLst/>
          </a:prstGeom>
        </p:spPr>
      </p:pic>
      <p:pic>
        <p:nvPicPr>
          <p:cNvPr id="23" name="תמונה 22" descr="תמונה שמכילה טקסט, צילום מסך, גרפיקה, סמל&#10;&#10;תוכן בינה מלאכותית גנרטיבית עשוי להיות שגוי.">
            <a:extLst>
              <a:ext uri="{FF2B5EF4-FFF2-40B4-BE49-F238E27FC236}">
                <a16:creationId xmlns:a16="http://schemas.microsoft.com/office/drawing/2014/main" id="{66B4065B-C2D5-2C9B-E42B-DE676472A424}"/>
              </a:ext>
            </a:extLst>
          </p:cNvPr>
          <p:cNvPicPr>
            <a:picLocks noChangeAspect="1"/>
          </p:cNvPicPr>
          <p:nvPr/>
        </p:nvPicPr>
        <p:blipFill>
          <a:blip r:embed="rId11"/>
          <a:stretch>
            <a:fillRect/>
          </a:stretch>
        </p:blipFill>
        <p:spPr>
          <a:xfrm>
            <a:off x="10580509" y="7938840"/>
            <a:ext cx="307504" cy="2253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0606127" y="935715"/>
            <a:ext cx="3584153" cy="503970"/>
          </a:xfrm>
          <a:prstGeom prst="rect">
            <a:avLst/>
          </a:prstGeom>
          <a:noFill/>
          <a:ln/>
        </p:spPr>
        <p:txBody>
          <a:bodyPr wrap="none" lIns="0" tIns="0" rIns="0" bIns="0" rtlCol="0" anchor="t"/>
          <a:lstStyle/>
          <a:p>
            <a:pPr marL="0" indent="0" algn="l">
              <a:lnSpc>
                <a:spcPts val="3050"/>
              </a:lnSpc>
              <a:buNone/>
            </a:pPr>
            <a:r>
              <a:rPr lang="he-IL" sz="5400" b="1" u="sng" dirty="0">
                <a:solidFill>
                  <a:srgbClr val="F5F0F0"/>
                </a:solidFill>
                <a:latin typeface="Arial" panose="020B0604020202020204" pitchFamily="34" charset="0"/>
                <a:ea typeface="Merriweather" pitchFamily="34" charset="-122"/>
                <a:cs typeface="Arial" panose="020B0604020202020204" pitchFamily="34" charset="0"/>
              </a:rPr>
              <a:t>הערכת המודל</a:t>
            </a:r>
          </a:p>
          <a:p>
            <a:pPr marL="0" indent="0" algn="l">
              <a:lnSpc>
                <a:spcPts val="3050"/>
              </a:lnSpc>
              <a:buNone/>
            </a:pPr>
            <a:endParaRPr lang="en-US" sz="2450" b="1" u="sng" dirty="0">
              <a:latin typeface="Arial" panose="020B0604020202020204" pitchFamily="34" charset="0"/>
              <a:cs typeface="Arial" panose="020B0604020202020204" pitchFamily="34" charset="0"/>
            </a:endParaRPr>
          </a:p>
        </p:txBody>
      </p:sp>
      <p:sp>
        <p:nvSpPr>
          <p:cNvPr id="3" name="Text 1"/>
          <p:cNvSpPr/>
          <p:nvPr/>
        </p:nvSpPr>
        <p:spPr>
          <a:xfrm>
            <a:off x="8019815" y="1307029"/>
            <a:ext cx="6767753" cy="2614412"/>
          </a:xfrm>
          <a:prstGeom prst="rect">
            <a:avLst/>
          </a:prstGeom>
          <a:noFill/>
          <a:ln/>
        </p:spPr>
        <p:txBody>
          <a:bodyPr wrap="square" lIns="0" tIns="0" rIns="0" bIns="0" rtlCol="0" anchor="t"/>
          <a:lstStyle/>
          <a:p>
            <a:pPr lvl="1">
              <a:lnSpc>
                <a:spcPct val="150000"/>
              </a:lnSpc>
            </a:pPr>
            <a:r>
              <a:rPr lang="he-IL" sz="2400" b="0" i="0" u="none" strike="noStrike" dirty="0">
                <a:solidFill>
                  <a:schemeClr val="bg1"/>
                </a:solidFill>
                <a:effectLst/>
                <a:latin typeface="Arial" panose="020B0604020202020204" pitchFamily="34" charset="0"/>
                <a:cs typeface="Arial" panose="020B0604020202020204" pitchFamily="34" charset="0"/>
              </a:rPr>
              <a:t>התוצאות הראשוניות הראו ביצועים משתנים בכל המודלים שהוערכו, כאשר חלקם עלו משמעותית על אחרים. השוואה מקיפה של מדדי מפתח סיפקה הבנה ברורה של נקודות החוזק והחולשה של כל מודל. מטריצות בלבול ועקומות ביצועים היו חיוניות בהדמיית התוצאות, בנוסף הבנה של תכונות משפיעות על המודל.</a:t>
            </a:r>
            <a:endParaRPr lang="en-US" sz="2400" dirty="0">
              <a:solidFill>
                <a:schemeClr val="bg1"/>
              </a:solidFill>
              <a:latin typeface="Arial" panose="020B0604020202020204" pitchFamily="34" charset="0"/>
              <a:cs typeface="Arial" panose="020B0604020202020204" pitchFamily="34" charset="0"/>
            </a:endParaRPr>
          </a:p>
        </p:txBody>
      </p:sp>
      <p:pic>
        <p:nvPicPr>
          <p:cNvPr id="9" name="תמונה 8">
            <a:extLst>
              <a:ext uri="{FF2B5EF4-FFF2-40B4-BE49-F238E27FC236}">
                <a16:creationId xmlns:a16="http://schemas.microsoft.com/office/drawing/2014/main" id="{41B636B3-4F8D-4AC2-C120-B1DE2D84FE1A}"/>
              </a:ext>
            </a:extLst>
          </p:cNvPr>
          <p:cNvPicPr>
            <a:picLocks noChangeAspect="1"/>
          </p:cNvPicPr>
          <p:nvPr/>
        </p:nvPicPr>
        <p:blipFill>
          <a:blip r:embed="rId3"/>
          <a:stretch>
            <a:fillRect/>
          </a:stretch>
        </p:blipFill>
        <p:spPr>
          <a:xfrm>
            <a:off x="12777537" y="7549434"/>
            <a:ext cx="1852865" cy="666518"/>
          </a:xfrm>
          <a:prstGeom prst="rect">
            <a:avLst/>
          </a:prstGeom>
          <a:ln>
            <a:noFill/>
          </a:ln>
          <a:effectLst>
            <a:softEdge rad="112500"/>
          </a:effectLst>
        </p:spPr>
      </p:pic>
      <p:pic>
        <p:nvPicPr>
          <p:cNvPr id="10" name="תמונה 9">
            <a:extLst>
              <a:ext uri="{FF2B5EF4-FFF2-40B4-BE49-F238E27FC236}">
                <a16:creationId xmlns:a16="http://schemas.microsoft.com/office/drawing/2014/main" id="{DA4B5962-70A7-4283-57F3-11E99FE0B1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821" y="831067"/>
            <a:ext cx="7786690" cy="600929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1" name="תיבת טקסט 10">
            <a:extLst>
              <a:ext uri="{FF2B5EF4-FFF2-40B4-BE49-F238E27FC236}">
                <a16:creationId xmlns:a16="http://schemas.microsoft.com/office/drawing/2014/main" id="{5038D152-0A8C-86E5-F298-18A0C367C86F}"/>
              </a:ext>
            </a:extLst>
          </p:cNvPr>
          <p:cNvSpPr txBox="1"/>
          <p:nvPr/>
        </p:nvSpPr>
        <p:spPr>
          <a:xfrm>
            <a:off x="8248536" y="5362803"/>
            <a:ext cx="6197068" cy="830997"/>
          </a:xfrm>
          <a:prstGeom prst="rect">
            <a:avLst/>
          </a:prstGeom>
          <a:noFill/>
        </p:spPr>
        <p:txBody>
          <a:bodyPr wrap="square" rtlCol="1">
            <a:spAutoFit/>
          </a:bodyPr>
          <a:lstStyle/>
          <a:p>
            <a:pPr marL="0" algn="r" defTabSz="914400" rtl="1" eaLnBrk="1" latinLnBrk="0" hangingPunct="1"/>
            <a:r>
              <a:rPr lang="he-IL" sz="2400" dirty="0">
                <a:solidFill>
                  <a:schemeClr val="bg1"/>
                </a:solidFill>
              </a:rPr>
              <a:t>בעזרת </a:t>
            </a:r>
            <a:r>
              <a:rPr lang="en-US" sz="2400" dirty="0">
                <a:solidFill>
                  <a:schemeClr val="bg1"/>
                </a:solidFill>
              </a:rPr>
              <a:t>Optuna</a:t>
            </a:r>
            <a:r>
              <a:rPr lang="he-IL" sz="2400" dirty="0">
                <a:solidFill>
                  <a:schemeClr val="bg1"/>
                </a:solidFill>
              </a:rPr>
              <a:t> הורץ מודלים שונים עם פרמטרים שונים למציאת המודל הטוב ביותר</a:t>
            </a:r>
          </a:p>
        </p:txBody>
      </p:sp>
      <p:pic>
        <p:nvPicPr>
          <p:cNvPr id="4" name="תמונה 3"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349AA657-D114-DE19-D17E-67A777B4FFA2}"/>
              </a:ext>
            </a:extLst>
          </p:cNvPr>
          <p:cNvPicPr>
            <a:picLocks noChangeAspect="1"/>
          </p:cNvPicPr>
          <p:nvPr/>
        </p:nvPicPr>
        <p:blipFill>
          <a:blip r:embed="rId5"/>
          <a:stretch>
            <a:fillRect/>
          </a:stretch>
        </p:blipFill>
        <p:spPr>
          <a:xfrm>
            <a:off x="13228320" y="23157"/>
            <a:ext cx="1402079" cy="660980"/>
          </a:xfrm>
          <a:prstGeom prst="rect">
            <a:avLst/>
          </a:prstGeom>
        </p:spPr>
      </p:pic>
      <p:sp>
        <p:nvSpPr>
          <p:cNvPr id="5" name="תיבת טקסט 4">
            <a:extLst>
              <a:ext uri="{FF2B5EF4-FFF2-40B4-BE49-F238E27FC236}">
                <a16:creationId xmlns:a16="http://schemas.microsoft.com/office/drawing/2014/main" id="{00C9F8CC-6EA5-4B7D-15AB-E114110C726E}"/>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6" name="תיבת טקסט 5">
            <a:extLst>
              <a:ext uri="{FF2B5EF4-FFF2-40B4-BE49-F238E27FC236}">
                <a16:creationId xmlns:a16="http://schemas.microsoft.com/office/drawing/2014/main" id="{82C3FC3E-7070-1DE9-BA8A-FC65C092789B}"/>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6"/>
              </a:rPr>
              <a:t>Bar Cohen</a:t>
            </a:r>
            <a:endParaRPr lang="he-IL" b="1" dirty="0"/>
          </a:p>
        </p:txBody>
      </p:sp>
      <p:sp>
        <p:nvSpPr>
          <p:cNvPr id="7" name="תיבת טקסט 6">
            <a:extLst>
              <a:ext uri="{FF2B5EF4-FFF2-40B4-BE49-F238E27FC236}">
                <a16:creationId xmlns:a16="http://schemas.microsoft.com/office/drawing/2014/main" id="{86011108-8FAF-6910-7A88-7E7C988967A8}"/>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7"/>
              </a:rPr>
              <a:t>Sahar haim Yaccov</a:t>
            </a:r>
          </a:p>
          <a:p>
            <a:r>
              <a:rPr lang="en" b="1" dirty="0">
                <a:hlinkClick r:id="rId7"/>
              </a:rPr>
              <a:t> </a:t>
            </a:r>
            <a:endParaRPr lang="he-IL" dirty="0"/>
          </a:p>
        </p:txBody>
      </p:sp>
      <p:pic>
        <p:nvPicPr>
          <p:cNvPr id="8" name="תמונה 7" descr="תמונה שמכילה טקסט, צילום מסך, גרפיקה, סמל&#10;&#10;תוכן בינה מלאכותית גנרטיבית עשוי להיות שגוי.">
            <a:extLst>
              <a:ext uri="{FF2B5EF4-FFF2-40B4-BE49-F238E27FC236}">
                <a16:creationId xmlns:a16="http://schemas.microsoft.com/office/drawing/2014/main" id="{2091303B-9909-87B7-6348-E2DEFFBBB30C}"/>
              </a:ext>
            </a:extLst>
          </p:cNvPr>
          <p:cNvPicPr>
            <a:picLocks noChangeAspect="1"/>
          </p:cNvPicPr>
          <p:nvPr/>
        </p:nvPicPr>
        <p:blipFill>
          <a:blip r:embed="rId8"/>
          <a:stretch>
            <a:fillRect/>
          </a:stretch>
        </p:blipFill>
        <p:spPr>
          <a:xfrm>
            <a:off x="10580509" y="7621427"/>
            <a:ext cx="307504" cy="225346"/>
          </a:xfrm>
          <a:prstGeom prst="rect">
            <a:avLst/>
          </a:prstGeom>
        </p:spPr>
      </p:pic>
      <p:pic>
        <p:nvPicPr>
          <p:cNvPr id="12" name="תמונה 11" descr="תמונה שמכילה טקסט, צילום מסך, גרפיקה, סמל&#10;&#10;תוכן בינה מלאכותית גנרטיבית עשוי להיות שגוי.">
            <a:extLst>
              <a:ext uri="{FF2B5EF4-FFF2-40B4-BE49-F238E27FC236}">
                <a16:creationId xmlns:a16="http://schemas.microsoft.com/office/drawing/2014/main" id="{D35C0B84-1E43-A67B-EA60-FDD8E3A1B1A8}"/>
              </a:ext>
            </a:extLst>
          </p:cNvPr>
          <p:cNvPicPr>
            <a:picLocks noChangeAspect="1"/>
          </p:cNvPicPr>
          <p:nvPr/>
        </p:nvPicPr>
        <p:blipFill>
          <a:blip r:embed="rId8"/>
          <a:stretch>
            <a:fillRect/>
          </a:stretch>
        </p:blipFill>
        <p:spPr>
          <a:xfrm>
            <a:off x="10580509" y="7938840"/>
            <a:ext cx="307504" cy="2253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1BCD6-DFD3-F1E0-DD26-C044CB22B98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FC1953-3167-C381-008B-637111B82415}"/>
              </a:ext>
            </a:extLst>
          </p:cNvPr>
          <p:cNvSpPr/>
          <p:nvPr/>
        </p:nvSpPr>
        <p:spPr>
          <a:xfrm>
            <a:off x="8467867" y="723893"/>
            <a:ext cx="5781862" cy="478773"/>
          </a:xfrm>
          <a:prstGeom prst="rect">
            <a:avLst/>
          </a:prstGeom>
          <a:noFill/>
          <a:ln/>
        </p:spPr>
        <p:txBody>
          <a:bodyPr wrap="none" lIns="0" tIns="0" rIns="0" bIns="0" rtlCol="0" anchor="t"/>
          <a:lstStyle/>
          <a:p>
            <a:pPr marL="0" indent="0" algn="l">
              <a:lnSpc>
                <a:spcPts val="3050"/>
              </a:lnSpc>
              <a:buNone/>
            </a:pPr>
            <a:r>
              <a:rPr lang="he-IL" sz="4000" b="1" u="sng" dirty="0">
                <a:solidFill>
                  <a:schemeClr val="bg1"/>
                </a:solidFill>
                <a:latin typeface="Arial" panose="020B0604020202020204" pitchFamily="34" charset="0"/>
                <a:cs typeface="Arial" panose="020B0604020202020204" pitchFamily="34" charset="0"/>
              </a:rPr>
              <a:t>המודל הנבחר - </a:t>
            </a:r>
            <a:r>
              <a:rPr lang="en-US" sz="4000" b="1" u="sng" dirty="0">
                <a:solidFill>
                  <a:schemeClr val="bg1"/>
                </a:solidFill>
                <a:latin typeface="Arial" panose="020B0604020202020204" pitchFamily="34" charset="0"/>
                <a:cs typeface="Arial" panose="020B0604020202020204" pitchFamily="34" charset="0"/>
              </a:rPr>
              <a:t>CatBoost</a:t>
            </a:r>
          </a:p>
        </p:txBody>
      </p:sp>
      <p:sp>
        <p:nvSpPr>
          <p:cNvPr id="3" name="Text 1">
            <a:extLst>
              <a:ext uri="{FF2B5EF4-FFF2-40B4-BE49-F238E27FC236}">
                <a16:creationId xmlns:a16="http://schemas.microsoft.com/office/drawing/2014/main" id="{2561D607-3A27-3FF5-E16F-085701535DA6}"/>
              </a:ext>
            </a:extLst>
          </p:cNvPr>
          <p:cNvSpPr/>
          <p:nvPr/>
        </p:nvSpPr>
        <p:spPr>
          <a:xfrm>
            <a:off x="8277170" y="1081680"/>
            <a:ext cx="5837601" cy="6121215"/>
          </a:xfrm>
          <a:prstGeom prst="rect">
            <a:avLst/>
          </a:prstGeom>
          <a:noFill/>
          <a:ln/>
        </p:spPr>
        <p:txBody>
          <a:bodyPr wrap="square" lIns="0" tIns="0" rIns="0" bIns="0" rtlCol="0" anchor="t"/>
          <a:lstStyle/>
          <a:p>
            <a:pPr marL="914400" lvl="1" indent="-457200">
              <a:lnSpc>
                <a:spcPct val="150000"/>
              </a:lnSpc>
              <a:buFont typeface="Arial" panose="020B0604020202020204" pitchFamily="34" charset="0"/>
              <a:buChar char="•"/>
            </a:pPr>
            <a:r>
              <a:rPr lang="he-IL" sz="2800" dirty="0">
                <a:solidFill>
                  <a:schemeClr val="bg1"/>
                </a:solidFill>
                <a:latin typeface="Arial" panose="020B0604020202020204" pitchFamily="34" charset="0"/>
                <a:cs typeface="Arial" panose="020B0604020202020204" pitchFamily="34" charset="0"/>
              </a:rPr>
              <a:t>המודל</a:t>
            </a:r>
            <a:r>
              <a:rPr lang="en" sz="2800" dirty="0">
                <a:solidFill>
                  <a:schemeClr val="bg1"/>
                </a:solidFill>
                <a:latin typeface="Arial" panose="020B0604020202020204" pitchFamily="34" charset="0"/>
                <a:cs typeface="Arial" panose="020B0604020202020204" pitchFamily="34" charset="0"/>
              </a:rPr>
              <a:t> </a:t>
            </a:r>
            <a:r>
              <a:rPr lang="he-IL" sz="2800" dirty="0">
                <a:solidFill>
                  <a:schemeClr val="bg1"/>
                </a:solidFill>
                <a:latin typeface="Arial" panose="020B0604020202020204" pitchFamily="34" charset="0"/>
                <a:cs typeface="Arial" panose="020B0604020202020204" pitchFamily="34" charset="0"/>
              </a:rPr>
              <a:t>מטפל בתכונות קטגוריאליות בצורה אוטומטית, ללא צורך בקידוד ידני.</a:t>
            </a:r>
          </a:p>
          <a:p>
            <a:pPr marL="914400" lvl="1" indent="-457200">
              <a:lnSpc>
                <a:spcPct val="150000"/>
              </a:lnSpc>
              <a:buFont typeface="Arial" panose="020B0604020202020204" pitchFamily="34" charset="0"/>
              <a:buChar char="•"/>
            </a:pPr>
            <a:r>
              <a:rPr lang="he-IL" sz="2800" dirty="0">
                <a:solidFill>
                  <a:schemeClr val="bg1"/>
                </a:solidFill>
                <a:latin typeface="Arial" panose="020B0604020202020204" pitchFamily="34" charset="0"/>
                <a:cs typeface="Arial" panose="020B0604020202020204" pitchFamily="34" charset="0"/>
              </a:rPr>
              <a:t>בניית עץ להפחתת השגיאה של הדגם הקודם, לפי מספר הרצות.</a:t>
            </a:r>
          </a:p>
          <a:p>
            <a:pPr marL="914400" lvl="1" indent="-457200">
              <a:lnSpc>
                <a:spcPct val="150000"/>
              </a:lnSpc>
              <a:buFont typeface="Arial" panose="020B0604020202020204" pitchFamily="34" charset="0"/>
              <a:buChar char="•"/>
            </a:pPr>
            <a:r>
              <a:rPr lang="he-IL" sz="2800" dirty="0">
                <a:solidFill>
                  <a:schemeClr val="bg1"/>
                </a:solidFill>
                <a:latin typeface="Arial" panose="020B0604020202020204" pitchFamily="34" charset="0"/>
                <a:cs typeface="Arial" panose="020B0604020202020204" pitchFamily="34" charset="0"/>
              </a:rPr>
              <a:t>משתמש בטכניקה בה מתמקד בתיקון שגיאות עצים קודמים על ידי </a:t>
            </a:r>
            <a:r>
              <a:rPr lang="en-US" sz="2800" dirty="0">
                <a:solidFill>
                  <a:schemeClr val="bg1"/>
                </a:solidFill>
                <a:latin typeface="Arial" panose="020B0604020202020204" pitchFamily="34" charset="0"/>
                <a:cs typeface="Arial" panose="020B0604020202020204" pitchFamily="34" charset="0"/>
              </a:rPr>
              <a:t>loss function</a:t>
            </a:r>
            <a:r>
              <a:rPr lang="he-IL" sz="2800" dirty="0">
                <a:solidFill>
                  <a:schemeClr val="bg1"/>
                </a:solidFill>
                <a:latin typeface="Arial" panose="020B0604020202020204" pitchFamily="34" charset="0"/>
                <a:cs typeface="Arial" panose="020B0604020202020204" pitchFamily="34" charset="0"/>
              </a:rPr>
              <a:t>.</a:t>
            </a:r>
          </a:p>
          <a:p>
            <a:pPr marL="914400" lvl="1" indent="-457200">
              <a:lnSpc>
                <a:spcPct val="150000"/>
              </a:lnSpc>
              <a:buFont typeface="Arial" panose="020B0604020202020204" pitchFamily="34" charset="0"/>
              <a:buChar char="•"/>
            </a:pPr>
            <a:r>
              <a:rPr lang="he-IL" sz="2800" dirty="0">
                <a:solidFill>
                  <a:schemeClr val="bg1"/>
                </a:solidFill>
                <a:latin typeface="Arial" panose="020B0604020202020204" pitchFamily="34" charset="0"/>
                <a:cs typeface="Arial" panose="020B0604020202020204" pitchFamily="34" charset="0"/>
              </a:rPr>
              <a:t>מחפש את העץ הטוב על ידי שימוש </a:t>
            </a:r>
            <a:r>
              <a:rPr lang="he-IL" sz="2800" dirty="0" err="1">
                <a:solidFill>
                  <a:schemeClr val="bg1"/>
                </a:solidFill>
                <a:latin typeface="Arial" panose="020B0604020202020204" pitchFamily="34" charset="0"/>
                <a:cs typeface="Arial" panose="020B0604020202020204" pitchFamily="34" charset="0"/>
              </a:rPr>
              <a:t>בגרדיאנט</a:t>
            </a:r>
            <a:r>
              <a:rPr lang="he-IL" sz="2800" dirty="0">
                <a:solidFill>
                  <a:schemeClr val="bg1"/>
                </a:solidFill>
                <a:latin typeface="Arial" panose="020B0604020202020204" pitchFamily="34" charset="0"/>
                <a:cs typeface="Arial" panose="020B0604020202020204" pitchFamily="34" charset="0"/>
              </a:rPr>
              <a:t>.</a:t>
            </a:r>
          </a:p>
        </p:txBody>
      </p:sp>
      <p:pic>
        <p:nvPicPr>
          <p:cNvPr id="19" name="תמונה 18">
            <a:extLst>
              <a:ext uri="{FF2B5EF4-FFF2-40B4-BE49-F238E27FC236}">
                <a16:creationId xmlns:a16="http://schemas.microsoft.com/office/drawing/2014/main" id="{EC3DE8F1-4594-F795-078E-0585A29703F8}"/>
              </a:ext>
            </a:extLst>
          </p:cNvPr>
          <p:cNvPicPr>
            <a:picLocks noChangeAspect="1"/>
          </p:cNvPicPr>
          <p:nvPr/>
        </p:nvPicPr>
        <p:blipFill>
          <a:blip r:embed="rId3"/>
          <a:stretch>
            <a:fillRect/>
          </a:stretch>
        </p:blipFill>
        <p:spPr>
          <a:xfrm>
            <a:off x="380671" y="1081680"/>
            <a:ext cx="7357382" cy="5943508"/>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pic>
        <p:nvPicPr>
          <p:cNvPr id="4" name="תמונה 3">
            <a:extLst>
              <a:ext uri="{FF2B5EF4-FFF2-40B4-BE49-F238E27FC236}">
                <a16:creationId xmlns:a16="http://schemas.microsoft.com/office/drawing/2014/main" id="{B5120B9D-83BB-C5C1-B109-5AF9D7D0EB0E}"/>
              </a:ext>
            </a:extLst>
          </p:cNvPr>
          <p:cNvPicPr>
            <a:picLocks noChangeAspect="1"/>
          </p:cNvPicPr>
          <p:nvPr/>
        </p:nvPicPr>
        <p:blipFill>
          <a:blip r:embed="rId4"/>
          <a:stretch>
            <a:fillRect/>
          </a:stretch>
        </p:blipFill>
        <p:spPr>
          <a:xfrm>
            <a:off x="12777537" y="7549434"/>
            <a:ext cx="1852865" cy="666518"/>
          </a:xfrm>
          <a:prstGeom prst="rect">
            <a:avLst/>
          </a:prstGeom>
          <a:ln>
            <a:noFill/>
          </a:ln>
          <a:effectLst>
            <a:softEdge rad="112500"/>
          </a:effectLst>
        </p:spPr>
      </p:pic>
      <p:pic>
        <p:nvPicPr>
          <p:cNvPr id="5" name="תמונה 4"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0BB2E5FB-D12F-59CC-E4A0-1162A2B7C083}"/>
              </a:ext>
            </a:extLst>
          </p:cNvPr>
          <p:cNvPicPr>
            <a:picLocks noChangeAspect="1"/>
          </p:cNvPicPr>
          <p:nvPr/>
        </p:nvPicPr>
        <p:blipFill>
          <a:blip r:embed="rId5"/>
          <a:stretch>
            <a:fillRect/>
          </a:stretch>
        </p:blipFill>
        <p:spPr>
          <a:xfrm>
            <a:off x="13228320" y="23157"/>
            <a:ext cx="1402079" cy="660980"/>
          </a:xfrm>
          <a:prstGeom prst="rect">
            <a:avLst/>
          </a:prstGeom>
        </p:spPr>
      </p:pic>
      <p:sp>
        <p:nvSpPr>
          <p:cNvPr id="6" name="תיבת טקסט 5">
            <a:extLst>
              <a:ext uri="{FF2B5EF4-FFF2-40B4-BE49-F238E27FC236}">
                <a16:creationId xmlns:a16="http://schemas.microsoft.com/office/drawing/2014/main" id="{7B5E0C07-7D1F-DF40-CCED-65ACF1AFFD9B}"/>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7" name="תיבת טקסט 6">
            <a:extLst>
              <a:ext uri="{FF2B5EF4-FFF2-40B4-BE49-F238E27FC236}">
                <a16:creationId xmlns:a16="http://schemas.microsoft.com/office/drawing/2014/main" id="{22561242-1209-6351-8E28-D28DBE654B87}"/>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6"/>
              </a:rPr>
              <a:t>Bar Cohen</a:t>
            </a:r>
            <a:endParaRPr lang="he-IL" b="1" dirty="0"/>
          </a:p>
        </p:txBody>
      </p:sp>
      <p:sp>
        <p:nvSpPr>
          <p:cNvPr id="8" name="תיבת טקסט 7">
            <a:extLst>
              <a:ext uri="{FF2B5EF4-FFF2-40B4-BE49-F238E27FC236}">
                <a16:creationId xmlns:a16="http://schemas.microsoft.com/office/drawing/2014/main" id="{829BCED3-2D2E-9FD7-DDB2-8116C30430BF}"/>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7"/>
              </a:rPr>
              <a:t>Sahar haim Yaccov</a:t>
            </a:r>
          </a:p>
          <a:p>
            <a:r>
              <a:rPr lang="en" b="1" dirty="0">
                <a:hlinkClick r:id="rId7"/>
              </a:rPr>
              <a:t> </a:t>
            </a:r>
            <a:endParaRPr lang="he-IL" dirty="0"/>
          </a:p>
        </p:txBody>
      </p:sp>
      <p:pic>
        <p:nvPicPr>
          <p:cNvPr id="9" name="תמונה 8" descr="תמונה שמכילה טקסט, צילום מסך, גרפיקה, סמל&#10;&#10;תוכן בינה מלאכותית גנרטיבית עשוי להיות שגוי.">
            <a:extLst>
              <a:ext uri="{FF2B5EF4-FFF2-40B4-BE49-F238E27FC236}">
                <a16:creationId xmlns:a16="http://schemas.microsoft.com/office/drawing/2014/main" id="{AD683077-1AB7-E790-6B5A-258B147277B3}"/>
              </a:ext>
            </a:extLst>
          </p:cNvPr>
          <p:cNvPicPr>
            <a:picLocks noChangeAspect="1"/>
          </p:cNvPicPr>
          <p:nvPr/>
        </p:nvPicPr>
        <p:blipFill>
          <a:blip r:embed="rId8"/>
          <a:stretch>
            <a:fillRect/>
          </a:stretch>
        </p:blipFill>
        <p:spPr>
          <a:xfrm>
            <a:off x="10580509" y="7621427"/>
            <a:ext cx="307504" cy="225346"/>
          </a:xfrm>
          <a:prstGeom prst="rect">
            <a:avLst/>
          </a:prstGeom>
        </p:spPr>
      </p:pic>
      <p:pic>
        <p:nvPicPr>
          <p:cNvPr id="10" name="תמונה 9" descr="תמונה שמכילה טקסט, צילום מסך, גרפיקה, סמל&#10;&#10;תוכן בינה מלאכותית גנרטיבית עשוי להיות שגוי.">
            <a:extLst>
              <a:ext uri="{FF2B5EF4-FFF2-40B4-BE49-F238E27FC236}">
                <a16:creationId xmlns:a16="http://schemas.microsoft.com/office/drawing/2014/main" id="{47D824DF-4022-A5F1-12B4-3A3A3D375B34}"/>
              </a:ext>
            </a:extLst>
          </p:cNvPr>
          <p:cNvPicPr>
            <a:picLocks noChangeAspect="1"/>
          </p:cNvPicPr>
          <p:nvPr/>
        </p:nvPicPr>
        <p:blipFill>
          <a:blip r:embed="rId8"/>
          <a:stretch>
            <a:fillRect/>
          </a:stretch>
        </p:blipFill>
        <p:spPr>
          <a:xfrm>
            <a:off x="10580509" y="7938840"/>
            <a:ext cx="307504" cy="225346"/>
          </a:xfrm>
          <a:prstGeom prst="rect">
            <a:avLst/>
          </a:prstGeom>
        </p:spPr>
      </p:pic>
    </p:spTree>
    <p:extLst>
      <p:ext uri="{BB962C8B-B14F-4D97-AF65-F5344CB8AC3E}">
        <p14:creationId xmlns:p14="http://schemas.microsoft.com/office/powerpoint/2010/main" val="2584886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129712" y="651771"/>
            <a:ext cx="4706685" cy="589717"/>
          </a:xfrm>
          <a:prstGeom prst="rect">
            <a:avLst/>
          </a:prstGeom>
          <a:noFill/>
          <a:ln/>
        </p:spPr>
        <p:txBody>
          <a:bodyPr wrap="none" lIns="0" tIns="0" rIns="0" bIns="0" rtlCol="0" anchor="t"/>
          <a:lstStyle/>
          <a:p>
            <a:pPr>
              <a:lnSpc>
                <a:spcPts val="4600"/>
              </a:lnSpc>
            </a:pPr>
            <a:r>
              <a:rPr lang="he-IL" sz="3700" b="1" u="sng" dirty="0">
                <a:solidFill>
                  <a:schemeClr val="bg1"/>
                </a:solidFill>
                <a:latin typeface="Arial" panose="020B0604020202020204" pitchFamily="34" charset="0"/>
                <a:ea typeface="Merriweather" pitchFamily="34" charset="-122"/>
                <a:cs typeface="Arial" panose="020B0604020202020204" pitchFamily="34" charset="0"/>
              </a:rPr>
              <a:t>תוכנית פריסה ותחזוקה</a:t>
            </a:r>
            <a:endParaRPr lang="en-US" sz="3700" b="1" u="sng"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754856" y="1298258"/>
            <a:ext cx="13120687" cy="792599"/>
          </a:xfrm>
          <a:prstGeom prst="rect">
            <a:avLst/>
          </a:prstGeom>
          <a:noFill/>
          <a:ln/>
        </p:spPr>
        <p:txBody>
          <a:bodyPr wrap="square" lIns="0" tIns="0" rIns="0" bIns="0" rtlCol="0" anchor="t"/>
          <a:lstStyle/>
          <a:p>
            <a:pPr>
              <a:lnSpc>
                <a:spcPts val="2350"/>
              </a:lnSpc>
            </a:pPr>
            <a:r>
              <a:rPr lang="he-IL" sz="2000" dirty="0">
                <a:solidFill>
                  <a:schemeClr val="bg1"/>
                </a:solidFill>
                <a:latin typeface="Arial" panose="020B0604020202020204" pitchFamily="34" charset="0"/>
                <a:cs typeface="Arial" panose="020B0604020202020204" pitchFamily="34" charset="0"/>
              </a:rPr>
              <a:t>תוכנית הפריסה הסופית מבטיחה נגישות ומדרגיות של מודל החיזוי שלנו. ארכיטקטורת המערכת נועדה לתמוך בתפעול רציף ובאינטראקציה עם המשתמש, מה שהופך את המודל לכלי מעשי עבור אנשי אבטחת סייבר.</a:t>
            </a:r>
            <a:endParaRPr lang="en-US" dirty="0">
              <a:solidFill>
                <a:schemeClr val="bg1"/>
              </a:solidFill>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grayscl/>
          </a:blip>
          <a:stretch>
            <a:fillRect/>
          </a:stretch>
        </p:blipFill>
        <p:spPr>
          <a:xfrm>
            <a:off x="754856" y="2303145"/>
            <a:ext cx="6560344" cy="754856"/>
          </a:xfrm>
          <a:prstGeom prst="rect">
            <a:avLst/>
          </a:prstGeom>
          <a:ln>
            <a:noFill/>
          </a:ln>
        </p:spPr>
      </p:pic>
      <p:sp>
        <p:nvSpPr>
          <p:cNvPr id="5" name="Text 2"/>
          <p:cNvSpPr/>
          <p:nvPr/>
        </p:nvSpPr>
        <p:spPr>
          <a:xfrm>
            <a:off x="1110019" y="2540199"/>
            <a:ext cx="1452877" cy="294799"/>
          </a:xfrm>
          <a:prstGeom prst="rect">
            <a:avLst/>
          </a:prstGeom>
          <a:noFill/>
          <a:ln/>
        </p:spPr>
        <p:txBody>
          <a:bodyPr wrap="none" lIns="0" tIns="0" rIns="0" bIns="0" rtlCol="0" anchor="t"/>
          <a:lstStyle/>
          <a:p>
            <a:pPr marL="0" indent="0">
              <a:lnSpc>
                <a:spcPts val="2300"/>
              </a:lnSpc>
              <a:buNone/>
            </a:pPr>
            <a:r>
              <a:rPr lang="en-US" sz="1850" dirty="0">
                <a:solidFill>
                  <a:schemeClr val="bg1"/>
                </a:solidFill>
                <a:latin typeface="Arial" panose="020B0604020202020204" pitchFamily="34" charset="0"/>
                <a:ea typeface="Merriweather" pitchFamily="34" charset="-122"/>
                <a:cs typeface="Arial" panose="020B0604020202020204" pitchFamily="34" charset="0"/>
              </a:rPr>
              <a:t>Code Hosting</a:t>
            </a:r>
            <a:endParaRPr lang="en-US" sz="1850" dirty="0">
              <a:solidFill>
                <a:schemeClr val="bg1"/>
              </a:solidFill>
              <a:latin typeface="Arial" panose="020B0604020202020204" pitchFamily="34" charset="0"/>
              <a:cs typeface="Arial" panose="020B0604020202020204" pitchFamily="34" charset="0"/>
            </a:endParaRPr>
          </a:p>
        </p:txBody>
      </p:sp>
      <p:sp>
        <p:nvSpPr>
          <p:cNvPr id="6" name="Text 3"/>
          <p:cNvSpPr/>
          <p:nvPr/>
        </p:nvSpPr>
        <p:spPr>
          <a:xfrm>
            <a:off x="904424" y="3388159"/>
            <a:ext cx="6182916" cy="603885"/>
          </a:xfrm>
          <a:prstGeom prst="rect">
            <a:avLst/>
          </a:prstGeom>
          <a:noFill/>
          <a:ln/>
        </p:spPr>
        <p:txBody>
          <a:bodyPr wrap="square" lIns="0" tIns="0" rIns="0" bIns="0" rtlCol="0" anchor="t"/>
          <a:lstStyle/>
          <a:p>
            <a:pPr>
              <a:lnSpc>
                <a:spcPts val="2350"/>
              </a:lnSpc>
            </a:pPr>
            <a:r>
              <a:rPr lang="he-IL" dirty="0">
                <a:solidFill>
                  <a:schemeClr val="bg1"/>
                </a:solidFill>
                <a:latin typeface="Arial" panose="020B0604020202020204" pitchFamily="34" charset="0"/>
                <a:ea typeface="Merriweather" pitchFamily="34" charset="-122"/>
                <a:cs typeface="Arial" panose="020B0604020202020204" pitchFamily="34" charset="0"/>
              </a:rPr>
              <a:t>כל קוד הפרויקט מתארח ב-</a:t>
            </a:r>
            <a:r>
              <a:rPr lang="en-US" dirty="0">
                <a:solidFill>
                  <a:schemeClr val="bg1"/>
                </a:solidFill>
                <a:latin typeface="Arial" panose="020B0604020202020204" pitchFamily="34" charset="0"/>
                <a:ea typeface="Merriweather" pitchFamily="34" charset="-122"/>
                <a:cs typeface="Arial" panose="020B0604020202020204" pitchFamily="34" charset="0"/>
              </a:rPr>
              <a:t>GitHub </a:t>
            </a:r>
            <a:r>
              <a:rPr lang="he-IL" dirty="0">
                <a:solidFill>
                  <a:schemeClr val="bg1"/>
                </a:solidFill>
                <a:latin typeface="Arial" panose="020B0604020202020204" pitchFamily="34" charset="0"/>
                <a:ea typeface="Merriweather" pitchFamily="34" charset="-122"/>
                <a:cs typeface="Arial" panose="020B0604020202020204" pitchFamily="34" charset="0"/>
              </a:rPr>
              <a:t>לבקרת גרסאות ושיתוף פעולה.</a:t>
            </a:r>
            <a:endParaRPr lang="en-US" dirty="0">
              <a:solidFill>
                <a:schemeClr val="bg1"/>
              </a:solidFill>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4">
            <a:duotone>
              <a:schemeClr val="accent4">
                <a:shade val="45000"/>
                <a:satMod val="135000"/>
              </a:schemeClr>
              <a:prstClr val="white"/>
            </a:duotone>
          </a:blip>
          <a:stretch>
            <a:fillRect/>
          </a:stretch>
        </p:blipFill>
        <p:spPr>
          <a:xfrm>
            <a:off x="7700976" y="2303145"/>
            <a:ext cx="6560344" cy="754856"/>
          </a:xfrm>
          <a:prstGeom prst="rect">
            <a:avLst/>
          </a:prstGeom>
        </p:spPr>
      </p:pic>
      <p:sp>
        <p:nvSpPr>
          <p:cNvPr id="8" name="Text 4"/>
          <p:cNvSpPr/>
          <p:nvPr/>
        </p:nvSpPr>
        <p:spPr>
          <a:xfrm>
            <a:off x="7889690" y="2540198"/>
            <a:ext cx="1452876" cy="294799"/>
          </a:xfrm>
          <a:prstGeom prst="rect">
            <a:avLst/>
          </a:prstGeom>
          <a:noFill/>
          <a:ln/>
        </p:spPr>
        <p:txBody>
          <a:bodyPr wrap="none" lIns="0" tIns="0" rIns="0" bIns="0" rtlCol="0" anchor="t"/>
          <a:lstStyle/>
          <a:p>
            <a:pPr marL="0" indent="0">
              <a:lnSpc>
                <a:spcPts val="2300"/>
              </a:lnSpc>
              <a:buNone/>
            </a:pPr>
            <a:r>
              <a:rPr lang="en-US" sz="1850" dirty="0">
                <a:solidFill>
                  <a:schemeClr val="bg1"/>
                </a:solidFill>
                <a:latin typeface="Arial" panose="020B0604020202020204" pitchFamily="34" charset="0"/>
                <a:ea typeface="Merriweather" pitchFamily="34" charset="-122"/>
                <a:cs typeface="Arial" panose="020B0604020202020204" pitchFamily="34" charset="0"/>
              </a:rPr>
              <a:t>Dashboards</a:t>
            </a:r>
            <a:endParaRPr lang="en-US" sz="1850" dirty="0">
              <a:solidFill>
                <a:schemeClr val="bg1"/>
              </a:solidFill>
              <a:latin typeface="Arial" panose="020B0604020202020204" pitchFamily="34" charset="0"/>
              <a:cs typeface="Arial" panose="020B0604020202020204" pitchFamily="34" charset="0"/>
            </a:endParaRPr>
          </a:p>
        </p:txBody>
      </p:sp>
      <p:sp>
        <p:nvSpPr>
          <p:cNvPr id="9" name="Text 5"/>
          <p:cNvSpPr/>
          <p:nvPr/>
        </p:nvSpPr>
        <p:spPr>
          <a:xfrm>
            <a:off x="7503914" y="3388159"/>
            <a:ext cx="6182916" cy="603885"/>
          </a:xfrm>
          <a:prstGeom prst="rect">
            <a:avLst/>
          </a:prstGeom>
          <a:noFill/>
          <a:ln/>
        </p:spPr>
        <p:txBody>
          <a:bodyPr wrap="square" lIns="0" tIns="0" rIns="0" bIns="0" rtlCol="0" anchor="t"/>
          <a:lstStyle/>
          <a:p>
            <a:pPr>
              <a:lnSpc>
                <a:spcPts val="2350"/>
              </a:lnSpc>
            </a:pPr>
            <a:r>
              <a:rPr lang="he-IL" dirty="0">
                <a:solidFill>
                  <a:schemeClr val="bg1"/>
                </a:solidFill>
                <a:latin typeface="Arial" panose="020B0604020202020204" pitchFamily="34" charset="0"/>
                <a:cs typeface="Arial" panose="020B0604020202020204" pitchFamily="34" charset="0"/>
              </a:rPr>
              <a:t>דאשבורדים איטראקטיביים להדמיית נתונים ב - </a:t>
            </a:r>
            <a:r>
              <a:rPr lang="en-US" dirty="0">
                <a:solidFill>
                  <a:schemeClr val="bg1"/>
                </a:solidFill>
                <a:latin typeface="Arial" panose="020B0604020202020204" pitchFamily="34" charset="0"/>
                <a:cs typeface="Arial" panose="020B0604020202020204" pitchFamily="34" charset="0"/>
              </a:rPr>
              <a:t>Tableau</a:t>
            </a:r>
          </a:p>
        </p:txBody>
      </p:sp>
      <p:pic>
        <p:nvPicPr>
          <p:cNvPr id="10" name="Image 2" descr="preencoded.png"/>
          <p:cNvPicPr>
            <a:picLocks noChangeAspect="1"/>
          </p:cNvPicPr>
          <p:nvPr/>
        </p:nvPicPr>
        <p:blipFill>
          <a:blip r:embed="rId5">
            <a:duotone>
              <a:schemeClr val="accent6">
                <a:shade val="45000"/>
                <a:satMod val="135000"/>
              </a:schemeClr>
              <a:prstClr val="white"/>
            </a:duotone>
          </a:blip>
          <a:stretch>
            <a:fillRect/>
          </a:stretch>
        </p:blipFill>
        <p:spPr>
          <a:xfrm>
            <a:off x="754856" y="4423768"/>
            <a:ext cx="6560344" cy="754856"/>
          </a:xfrm>
          <a:prstGeom prst="rect">
            <a:avLst/>
          </a:prstGeom>
        </p:spPr>
      </p:pic>
      <p:sp>
        <p:nvSpPr>
          <p:cNvPr id="11" name="Text 6"/>
          <p:cNvSpPr/>
          <p:nvPr/>
        </p:nvSpPr>
        <p:spPr>
          <a:xfrm>
            <a:off x="943570" y="4674928"/>
            <a:ext cx="1619326" cy="301943"/>
          </a:xfrm>
          <a:prstGeom prst="rect">
            <a:avLst/>
          </a:prstGeom>
          <a:noFill/>
          <a:ln/>
        </p:spPr>
        <p:txBody>
          <a:bodyPr wrap="none" lIns="0" tIns="0" rIns="0" bIns="0" rtlCol="0" anchor="t"/>
          <a:lstStyle/>
          <a:p>
            <a:pPr marL="0" indent="0">
              <a:lnSpc>
                <a:spcPts val="2300"/>
              </a:lnSpc>
              <a:buNone/>
            </a:pPr>
            <a:r>
              <a:rPr lang="en-US" sz="1850" dirty="0">
                <a:solidFill>
                  <a:schemeClr val="bg1"/>
                </a:solidFill>
                <a:latin typeface="Arial" panose="020B0604020202020204" pitchFamily="34" charset="0"/>
                <a:ea typeface="Merriweather" pitchFamily="34" charset="-122"/>
                <a:cs typeface="Arial" panose="020B0604020202020204" pitchFamily="34" charset="0"/>
              </a:rPr>
              <a:t>Data Storage</a:t>
            </a:r>
            <a:endParaRPr lang="en-US" sz="1850" dirty="0">
              <a:solidFill>
                <a:schemeClr val="bg1"/>
              </a:solidFill>
              <a:latin typeface="Arial" panose="020B0604020202020204" pitchFamily="34" charset="0"/>
              <a:cs typeface="Arial" panose="020B0604020202020204" pitchFamily="34" charset="0"/>
            </a:endParaRPr>
          </a:p>
        </p:txBody>
      </p:sp>
      <p:sp>
        <p:nvSpPr>
          <p:cNvPr id="12" name="Text 7"/>
          <p:cNvSpPr/>
          <p:nvPr/>
        </p:nvSpPr>
        <p:spPr>
          <a:xfrm>
            <a:off x="943570" y="5559565"/>
            <a:ext cx="6182916" cy="301943"/>
          </a:xfrm>
          <a:prstGeom prst="rect">
            <a:avLst/>
          </a:prstGeom>
          <a:noFill/>
          <a:ln/>
        </p:spPr>
        <p:txBody>
          <a:bodyPr wrap="none" lIns="0" tIns="0" rIns="0" bIns="0" rtlCol="0" anchor="t"/>
          <a:lstStyle/>
          <a:p>
            <a:pPr>
              <a:lnSpc>
                <a:spcPts val="2350"/>
              </a:lnSpc>
            </a:pPr>
            <a:r>
              <a:rPr lang="he-IL" dirty="0">
                <a:solidFill>
                  <a:schemeClr val="bg1"/>
                </a:solidFill>
                <a:latin typeface="Arial" panose="020B0604020202020204" pitchFamily="34" charset="0"/>
                <a:ea typeface="Merriweather" pitchFamily="34" charset="-122"/>
                <a:cs typeface="Arial" panose="020B0604020202020204" pitchFamily="34" charset="0"/>
              </a:rPr>
              <a:t>הנתונים מאוחסנים בצורה מאובטחת בבסיס נתונים של </a:t>
            </a:r>
            <a:r>
              <a:rPr lang="en-US" dirty="0">
                <a:solidFill>
                  <a:schemeClr val="bg1"/>
                </a:solidFill>
                <a:latin typeface="Arial" panose="020B0604020202020204" pitchFamily="34" charset="0"/>
                <a:ea typeface="Merriweather" pitchFamily="34" charset="-122"/>
                <a:cs typeface="Arial" panose="020B0604020202020204" pitchFamily="34" charset="0"/>
              </a:rPr>
              <a:t>MYSQL</a:t>
            </a:r>
            <a:r>
              <a:rPr lang="he-IL" dirty="0">
                <a:solidFill>
                  <a:schemeClr val="bg1"/>
                </a:solidFill>
                <a:latin typeface="Arial" panose="020B0604020202020204" pitchFamily="34" charset="0"/>
                <a:ea typeface="Merriweather" pitchFamily="34" charset="-122"/>
                <a:cs typeface="Arial" panose="020B0604020202020204" pitchFamily="34" charset="0"/>
              </a:rPr>
              <a:t> .</a:t>
            </a:r>
            <a:endParaRPr lang="en-US" dirty="0">
              <a:solidFill>
                <a:schemeClr val="bg1"/>
              </a:solidFill>
              <a:latin typeface="Arial" panose="020B0604020202020204" pitchFamily="34" charset="0"/>
              <a:cs typeface="Arial" panose="020B0604020202020204" pitchFamily="34" charset="0"/>
            </a:endParaRPr>
          </a:p>
        </p:txBody>
      </p:sp>
      <p:pic>
        <p:nvPicPr>
          <p:cNvPr id="13" name="Image 3" descr="preencoded.png"/>
          <p:cNvPicPr>
            <a:picLocks noChangeAspect="1"/>
          </p:cNvPicPr>
          <p:nvPr/>
        </p:nvPicPr>
        <p:blipFill>
          <a:blip r:embed="rId6">
            <a:duotone>
              <a:schemeClr val="accent2">
                <a:shade val="45000"/>
                <a:satMod val="135000"/>
              </a:schemeClr>
              <a:prstClr val="white"/>
            </a:duotone>
          </a:blip>
          <a:stretch>
            <a:fillRect/>
          </a:stretch>
        </p:blipFill>
        <p:spPr>
          <a:xfrm>
            <a:off x="7700976" y="4418766"/>
            <a:ext cx="6560344" cy="754856"/>
          </a:xfrm>
          <a:prstGeom prst="rect">
            <a:avLst/>
          </a:prstGeom>
        </p:spPr>
      </p:pic>
      <p:sp>
        <p:nvSpPr>
          <p:cNvPr id="14" name="Text 8"/>
          <p:cNvSpPr/>
          <p:nvPr/>
        </p:nvSpPr>
        <p:spPr>
          <a:xfrm>
            <a:off x="7718262" y="4682072"/>
            <a:ext cx="2358866" cy="294799"/>
          </a:xfrm>
          <a:prstGeom prst="rect">
            <a:avLst/>
          </a:prstGeom>
          <a:noFill/>
          <a:ln/>
        </p:spPr>
        <p:txBody>
          <a:bodyPr wrap="none" lIns="0" tIns="0" rIns="0" bIns="0" rtlCol="0" anchor="t"/>
          <a:lstStyle/>
          <a:p>
            <a:pPr marL="0" indent="0">
              <a:lnSpc>
                <a:spcPts val="2300"/>
              </a:lnSpc>
              <a:buNone/>
            </a:pPr>
            <a:r>
              <a:rPr lang="en-US" sz="1850" dirty="0">
                <a:solidFill>
                  <a:schemeClr val="bg1"/>
                </a:solidFill>
                <a:latin typeface="Arial" panose="020B0604020202020204" pitchFamily="34" charset="0"/>
                <a:ea typeface="Merriweather" pitchFamily="34" charset="-122"/>
                <a:cs typeface="Arial" panose="020B0604020202020204" pitchFamily="34" charset="0"/>
              </a:rPr>
              <a:t>Interactive Interface</a:t>
            </a:r>
            <a:endParaRPr lang="en-US" sz="1850" dirty="0">
              <a:solidFill>
                <a:schemeClr val="bg1"/>
              </a:solidFill>
              <a:latin typeface="Arial" panose="020B0604020202020204" pitchFamily="34" charset="0"/>
              <a:cs typeface="Arial" panose="020B0604020202020204" pitchFamily="34" charset="0"/>
            </a:endParaRPr>
          </a:p>
        </p:txBody>
      </p:sp>
      <p:sp>
        <p:nvSpPr>
          <p:cNvPr id="15" name="Text 9"/>
          <p:cNvSpPr/>
          <p:nvPr/>
        </p:nvSpPr>
        <p:spPr>
          <a:xfrm>
            <a:off x="7521053" y="5559565"/>
            <a:ext cx="6182916" cy="603885"/>
          </a:xfrm>
          <a:prstGeom prst="rect">
            <a:avLst/>
          </a:prstGeom>
          <a:noFill/>
          <a:ln/>
        </p:spPr>
        <p:txBody>
          <a:bodyPr wrap="square" lIns="0" tIns="0" rIns="0" bIns="0" rtlCol="0" anchor="t"/>
          <a:lstStyle/>
          <a:p>
            <a:pPr>
              <a:lnSpc>
                <a:spcPts val="2350"/>
              </a:lnSpc>
            </a:pPr>
            <a:r>
              <a:rPr lang="he-IL" dirty="0">
                <a:solidFill>
                  <a:schemeClr val="bg1"/>
                </a:solidFill>
                <a:latin typeface="Arial" panose="020B0604020202020204" pitchFamily="34" charset="0"/>
                <a:ea typeface="Merriweather" pitchFamily="34" charset="-122"/>
                <a:cs typeface="Arial" panose="020B0604020202020204" pitchFamily="34" charset="0"/>
              </a:rPr>
              <a:t>אינטראקציה עם המשתמש מתאפשרת באמצעות פלטפורמות כמו </a:t>
            </a:r>
            <a:r>
              <a:rPr lang="en-US" dirty="0">
                <a:solidFill>
                  <a:schemeClr val="bg1"/>
                </a:solidFill>
                <a:latin typeface="Arial" panose="020B0604020202020204" pitchFamily="34" charset="0"/>
                <a:ea typeface="Merriweather" pitchFamily="34" charset="-122"/>
                <a:cs typeface="Arial" panose="020B0604020202020204" pitchFamily="34" charset="0"/>
              </a:rPr>
              <a:t>Gradio , Flask , Hugging Face</a:t>
            </a:r>
            <a:r>
              <a:rPr lang="he-IL" dirty="0">
                <a:solidFill>
                  <a:schemeClr val="bg1"/>
                </a:solidFill>
                <a:latin typeface="Arial" panose="020B0604020202020204" pitchFamily="34" charset="0"/>
                <a:ea typeface="Merriweather" pitchFamily="34" charset="-122"/>
                <a:cs typeface="Arial" panose="020B0604020202020204" pitchFamily="34" charset="0"/>
              </a:rPr>
              <a:t> . </a:t>
            </a:r>
            <a:endParaRPr lang="en-US" dirty="0">
              <a:solidFill>
                <a:schemeClr val="bg1"/>
              </a:solidFill>
              <a:latin typeface="Arial" panose="020B0604020202020204" pitchFamily="34" charset="0"/>
              <a:cs typeface="Arial" panose="020B0604020202020204" pitchFamily="34" charset="0"/>
            </a:endParaRPr>
          </a:p>
        </p:txBody>
      </p:sp>
      <p:sp>
        <p:nvSpPr>
          <p:cNvPr id="16" name="Text 10"/>
          <p:cNvSpPr/>
          <p:nvPr/>
        </p:nvSpPr>
        <p:spPr>
          <a:xfrm>
            <a:off x="506014" y="6688434"/>
            <a:ext cx="13618369" cy="1118116"/>
          </a:xfrm>
          <a:prstGeom prst="rect">
            <a:avLst/>
          </a:prstGeom>
          <a:noFill/>
          <a:ln/>
        </p:spPr>
        <p:txBody>
          <a:bodyPr wrap="square" lIns="0" tIns="0" rIns="0" bIns="0" rtlCol="0" anchor="t"/>
          <a:lstStyle/>
          <a:p>
            <a:pPr>
              <a:lnSpc>
                <a:spcPts val="2350"/>
              </a:lnSpc>
            </a:pPr>
            <a:r>
              <a:rPr lang="he-IL" sz="2000" dirty="0">
                <a:solidFill>
                  <a:schemeClr val="bg1"/>
                </a:solidFill>
                <a:latin typeface="Arial" panose="020B0604020202020204" pitchFamily="34" charset="0"/>
                <a:cs typeface="Arial" panose="020B0604020202020204" pitchFamily="34" charset="0"/>
              </a:rPr>
              <a:t>להצלחה מתמשכת, קיימת תוכנית תחזוקה חזקה, כולל ניטור רציף של איכות הנתונים, דיוק המודל וביצועי המערכת. תוכנית זו גם מתארת שיטות לעדכון המודל, אימון מחדש עם נתונים חדשים וזיהוי חריגות או שינויים גדולים בסביבה, כדי להבטיח שהמודל יישאר יעיל ורלוונטי.</a:t>
            </a:r>
            <a:endParaRPr lang="en-US" dirty="0">
              <a:solidFill>
                <a:schemeClr val="bg1"/>
              </a:solidFill>
              <a:latin typeface="Arial" panose="020B0604020202020204" pitchFamily="34" charset="0"/>
              <a:cs typeface="Arial" panose="020B0604020202020204" pitchFamily="34" charset="0"/>
            </a:endParaRPr>
          </a:p>
        </p:txBody>
      </p:sp>
      <p:pic>
        <p:nvPicPr>
          <p:cNvPr id="18" name="תמונה 17">
            <a:extLst>
              <a:ext uri="{FF2B5EF4-FFF2-40B4-BE49-F238E27FC236}">
                <a16:creationId xmlns:a16="http://schemas.microsoft.com/office/drawing/2014/main" id="{72D4CFDA-5A50-6EFF-B746-140A403AFB80}"/>
              </a:ext>
            </a:extLst>
          </p:cNvPr>
          <p:cNvPicPr>
            <a:picLocks noChangeAspect="1"/>
          </p:cNvPicPr>
          <p:nvPr/>
        </p:nvPicPr>
        <p:blipFill>
          <a:blip r:embed="rId7"/>
          <a:stretch>
            <a:fillRect/>
          </a:stretch>
        </p:blipFill>
        <p:spPr>
          <a:xfrm>
            <a:off x="12777537" y="7549434"/>
            <a:ext cx="1852865" cy="666518"/>
          </a:xfrm>
          <a:prstGeom prst="rect">
            <a:avLst/>
          </a:prstGeom>
          <a:ln>
            <a:noFill/>
          </a:ln>
          <a:effectLst>
            <a:softEdge rad="112500"/>
          </a:effectLst>
        </p:spPr>
      </p:pic>
      <p:pic>
        <p:nvPicPr>
          <p:cNvPr id="17" name="תמונה 16"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812AF3C7-BFE0-BB40-869A-C0DE0167CE2B}"/>
              </a:ext>
            </a:extLst>
          </p:cNvPr>
          <p:cNvPicPr>
            <a:picLocks noChangeAspect="1"/>
          </p:cNvPicPr>
          <p:nvPr/>
        </p:nvPicPr>
        <p:blipFill>
          <a:blip r:embed="rId8"/>
          <a:stretch>
            <a:fillRect/>
          </a:stretch>
        </p:blipFill>
        <p:spPr>
          <a:xfrm>
            <a:off x="13228320" y="23157"/>
            <a:ext cx="1402079" cy="660980"/>
          </a:xfrm>
          <a:prstGeom prst="rect">
            <a:avLst/>
          </a:prstGeom>
        </p:spPr>
      </p:pic>
      <p:sp>
        <p:nvSpPr>
          <p:cNvPr id="19" name="תיבת טקסט 18">
            <a:extLst>
              <a:ext uri="{FF2B5EF4-FFF2-40B4-BE49-F238E27FC236}">
                <a16:creationId xmlns:a16="http://schemas.microsoft.com/office/drawing/2014/main" id="{912933B2-FE8A-318B-96D5-4D082AEC667F}"/>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20" name="תיבת טקסט 19">
            <a:extLst>
              <a:ext uri="{FF2B5EF4-FFF2-40B4-BE49-F238E27FC236}">
                <a16:creationId xmlns:a16="http://schemas.microsoft.com/office/drawing/2014/main" id="{D320A3DB-571F-6B6A-E18B-6B1CA8FC2879}"/>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9"/>
              </a:rPr>
              <a:t>Bar Cohen</a:t>
            </a:r>
            <a:endParaRPr lang="he-IL" b="1" dirty="0"/>
          </a:p>
        </p:txBody>
      </p:sp>
      <p:sp>
        <p:nvSpPr>
          <p:cNvPr id="21" name="תיבת טקסט 20">
            <a:extLst>
              <a:ext uri="{FF2B5EF4-FFF2-40B4-BE49-F238E27FC236}">
                <a16:creationId xmlns:a16="http://schemas.microsoft.com/office/drawing/2014/main" id="{3C0036B1-FD31-2FC0-5C66-6229A4CCC3DE}"/>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10"/>
              </a:rPr>
              <a:t>Sahar haim Yaccov</a:t>
            </a:r>
          </a:p>
          <a:p>
            <a:r>
              <a:rPr lang="en" b="1" dirty="0">
                <a:hlinkClick r:id="rId10"/>
              </a:rPr>
              <a:t> </a:t>
            </a:r>
            <a:endParaRPr lang="he-IL" dirty="0"/>
          </a:p>
        </p:txBody>
      </p:sp>
      <p:pic>
        <p:nvPicPr>
          <p:cNvPr id="22" name="תמונה 21" descr="תמונה שמכילה טקסט, צילום מסך, גרפיקה, סמל&#10;&#10;תוכן בינה מלאכותית גנרטיבית עשוי להיות שגוי.">
            <a:extLst>
              <a:ext uri="{FF2B5EF4-FFF2-40B4-BE49-F238E27FC236}">
                <a16:creationId xmlns:a16="http://schemas.microsoft.com/office/drawing/2014/main" id="{3C8EF4A1-B6CD-2617-9206-53A2E78C747B}"/>
              </a:ext>
            </a:extLst>
          </p:cNvPr>
          <p:cNvPicPr>
            <a:picLocks noChangeAspect="1"/>
          </p:cNvPicPr>
          <p:nvPr/>
        </p:nvPicPr>
        <p:blipFill>
          <a:blip r:embed="rId11"/>
          <a:stretch>
            <a:fillRect/>
          </a:stretch>
        </p:blipFill>
        <p:spPr>
          <a:xfrm>
            <a:off x="10580509" y="7621427"/>
            <a:ext cx="307504" cy="225346"/>
          </a:xfrm>
          <a:prstGeom prst="rect">
            <a:avLst/>
          </a:prstGeom>
        </p:spPr>
      </p:pic>
      <p:pic>
        <p:nvPicPr>
          <p:cNvPr id="23" name="תמונה 22" descr="תמונה שמכילה טקסט, צילום מסך, גרפיקה, סמל&#10;&#10;תוכן בינה מלאכותית גנרטיבית עשוי להיות שגוי.">
            <a:extLst>
              <a:ext uri="{FF2B5EF4-FFF2-40B4-BE49-F238E27FC236}">
                <a16:creationId xmlns:a16="http://schemas.microsoft.com/office/drawing/2014/main" id="{3D7B5837-6981-7AF2-3E5D-0583F7E40EEF}"/>
              </a:ext>
            </a:extLst>
          </p:cNvPr>
          <p:cNvPicPr>
            <a:picLocks noChangeAspect="1"/>
          </p:cNvPicPr>
          <p:nvPr/>
        </p:nvPicPr>
        <p:blipFill>
          <a:blip r:embed="rId11"/>
          <a:stretch>
            <a:fillRect/>
          </a:stretch>
        </p:blipFill>
        <p:spPr>
          <a:xfrm>
            <a:off x="10580509" y="7938840"/>
            <a:ext cx="307504" cy="22534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11887200" y="891897"/>
            <a:ext cx="1879401" cy="904202"/>
          </a:xfrm>
          <a:prstGeom prst="rect">
            <a:avLst/>
          </a:prstGeom>
          <a:noFill/>
          <a:ln/>
        </p:spPr>
        <p:txBody>
          <a:bodyPr wrap="square" lIns="0" tIns="0" rIns="0" bIns="0" rtlCol="0" anchor="t"/>
          <a:lstStyle/>
          <a:p>
            <a:pPr marL="0" indent="0">
              <a:lnSpc>
                <a:spcPts val="5300"/>
              </a:lnSpc>
              <a:buNone/>
            </a:pPr>
            <a:r>
              <a:rPr lang="he-IL" sz="4250" b="1" u="sng" dirty="0">
                <a:solidFill>
                  <a:srgbClr val="F5F0F0"/>
                </a:solidFill>
                <a:latin typeface="Arial" panose="020B0604020202020204" pitchFamily="34" charset="0"/>
                <a:ea typeface="Merriweather" pitchFamily="34" charset="-122"/>
                <a:cs typeface="Arial" panose="020B0604020202020204" pitchFamily="34" charset="0"/>
              </a:rPr>
              <a:t>סיכום</a:t>
            </a:r>
            <a:endParaRPr lang="en-US" sz="4250" b="1" u="sng" dirty="0">
              <a:latin typeface="Arial" panose="020B0604020202020204" pitchFamily="34" charset="0"/>
              <a:cs typeface="Arial" panose="020B0604020202020204" pitchFamily="34" charset="0"/>
            </a:endParaRPr>
          </a:p>
        </p:txBody>
      </p:sp>
      <p:sp>
        <p:nvSpPr>
          <p:cNvPr id="4" name="Text 1"/>
          <p:cNvSpPr/>
          <p:nvPr/>
        </p:nvSpPr>
        <p:spPr>
          <a:xfrm>
            <a:off x="6035040" y="1930400"/>
            <a:ext cx="7731561" cy="2362637"/>
          </a:xfrm>
          <a:prstGeom prst="rect">
            <a:avLst/>
          </a:prstGeom>
          <a:noFill/>
          <a:ln/>
        </p:spPr>
        <p:txBody>
          <a:bodyPr wrap="square" lIns="0" tIns="0" rIns="0" bIns="0" rtlCol="0" anchor="t"/>
          <a:lstStyle/>
          <a:p>
            <a:pPr>
              <a:lnSpc>
                <a:spcPts val="2700"/>
              </a:lnSpc>
            </a:pPr>
            <a:r>
              <a:rPr lang="he-IL" sz="2000" dirty="0">
                <a:solidFill>
                  <a:schemeClr val="bg1"/>
                </a:solidFill>
                <a:latin typeface="Arial" panose="020B0604020202020204" pitchFamily="34" charset="0"/>
                <a:cs typeface="Arial" panose="020B0604020202020204" pitchFamily="34" charset="0"/>
              </a:rPr>
              <a:t>הפרויקט פיתח מודל תחזיתי לאירועי אבטחת סייבר הקשורים למיקרוסופט, המדגים ערך עסקי מדיד ומניח את היסודות לשיפורים עתידיים. התהליך כולו סיפק תובנות יקרות ערך לגבי ניתוח אבטחה מונחה נתונים ולגבי המורכבות של פריסת למידת מכונה בעולם האמיתי.</a:t>
            </a:r>
            <a:endParaRPr lang="en-US" sz="2000" dirty="0">
              <a:solidFill>
                <a:schemeClr val="bg1"/>
              </a:solidFill>
              <a:latin typeface="Arial" panose="020B0604020202020204" pitchFamily="34" charset="0"/>
              <a:cs typeface="Arial" panose="020B0604020202020204" pitchFamily="34" charset="0"/>
            </a:endParaRPr>
          </a:p>
        </p:txBody>
      </p:sp>
      <p:sp>
        <p:nvSpPr>
          <p:cNvPr id="5" name="Text 2"/>
          <p:cNvSpPr/>
          <p:nvPr/>
        </p:nvSpPr>
        <p:spPr>
          <a:xfrm>
            <a:off x="863799" y="3777018"/>
            <a:ext cx="6837283" cy="691039"/>
          </a:xfrm>
          <a:prstGeom prst="rect">
            <a:avLst/>
          </a:prstGeom>
          <a:noFill/>
          <a:ln/>
        </p:spPr>
        <p:txBody>
          <a:bodyPr wrap="square" lIns="0" tIns="0" rIns="0" bIns="0" rtlCol="0" anchor="t"/>
          <a:lstStyle/>
          <a:p>
            <a:pPr marL="0" indent="0" algn="l">
              <a:lnSpc>
                <a:spcPts val="2700"/>
              </a:lnSpc>
              <a:buNone/>
            </a:pPr>
            <a:r>
              <a:rPr lang="en-US" sz="1700" dirty="0">
                <a:solidFill>
                  <a:srgbClr val="E2E6E9"/>
                </a:solidFill>
                <a:latin typeface="Arial" panose="020B0604020202020204" pitchFamily="34" charset="0"/>
                <a:ea typeface="Merriweather" pitchFamily="34" charset="-122"/>
                <a:cs typeface="Arial" panose="020B0604020202020204" pitchFamily="34" charset="0"/>
              </a:rPr>
              <a:t>"The future of cybersecurity lies in proactive prediction, not just reactive defense."</a:t>
            </a:r>
            <a:endParaRPr lang="en-US" sz="1700" dirty="0">
              <a:latin typeface="Arial" panose="020B0604020202020204" pitchFamily="34" charset="0"/>
              <a:cs typeface="Arial" panose="020B0604020202020204" pitchFamily="34" charset="0"/>
            </a:endParaRPr>
          </a:p>
        </p:txBody>
      </p:sp>
      <p:sp>
        <p:nvSpPr>
          <p:cNvPr id="6" name="Shape 3"/>
          <p:cNvSpPr/>
          <p:nvPr/>
        </p:nvSpPr>
        <p:spPr>
          <a:xfrm flipH="1">
            <a:off x="654002" y="3816838"/>
            <a:ext cx="45719" cy="691040"/>
          </a:xfrm>
          <a:prstGeom prst="rect">
            <a:avLst/>
          </a:prstGeom>
          <a:solidFill>
            <a:srgbClr val="609DFF"/>
          </a:solidFill>
          <a:ln/>
        </p:spPr>
        <p:txBody>
          <a:bodyPr/>
          <a:lstStyle/>
          <a:p>
            <a:pPr marL="0" algn="r" defTabSz="914400" rtl="1" eaLnBrk="1" latinLnBrk="0" hangingPunct="1"/>
            <a:endParaRPr lang="he-IL">
              <a:latin typeface="Arial" panose="020B0604020202020204" pitchFamily="34" charset="0"/>
              <a:cs typeface="Arial" panose="020B0604020202020204" pitchFamily="34" charset="0"/>
            </a:endParaRPr>
          </a:p>
        </p:txBody>
      </p:sp>
      <p:sp>
        <p:nvSpPr>
          <p:cNvPr id="7" name="Text 4"/>
          <p:cNvSpPr/>
          <p:nvPr/>
        </p:nvSpPr>
        <p:spPr>
          <a:xfrm>
            <a:off x="6202778" y="4925539"/>
            <a:ext cx="7711241" cy="1382078"/>
          </a:xfrm>
          <a:prstGeom prst="rect">
            <a:avLst/>
          </a:prstGeom>
          <a:noFill/>
          <a:ln/>
        </p:spPr>
        <p:txBody>
          <a:bodyPr wrap="square" lIns="0" tIns="0" rIns="0" bIns="0" rtlCol="0" anchor="t"/>
          <a:lstStyle/>
          <a:p>
            <a:pPr>
              <a:lnSpc>
                <a:spcPts val="2700"/>
              </a:lnSpc>
            </a:pPr>
            <a:r>
              <a:rPr lang="he-IL" sz="2000" dirty="0">
                <a:solidFill>
                  <a:schemeClr val="bg1"/>
                </a:solidFill>
                <a:latin typeface="Arial" panose="020B0604020202020204" pitchFamily="34" charset="0"/>
                <a:cs typeface="Arial" panose="020B0604020202020204" pitchFamily="34" charset="0"/>
              </a:rPr>
              <a:t>אנו בטוחים שמודל זה יתרום משמעותית לחיזוק עמדות אבטחת הסייבר ולאפשר החלטות מושכלות ופרואקטיביות יותר עבור ארגונים. אנו מקדמים בברכה כל שאלה או משוב בעודנו ממשיכים לחדד ולהרחיב את העבודה הקריטית הזו.</a:t>
            </a:r>
            <a:endParaRPr lang="en-US" sz="2000" dirty="0">
              <a:solidFill>
                <a:schemeClr val="bg1"/>
              </a:solidFill>
              <a:latin typeface="Arial" panose="020B0604020202020204" pitchFamily="34" charset="0"/>
              <a:cs typeface="Arial" panose="020B0604020202020204" pitchFamily="34" charset="0"/>
            </a:endParaRPr>
          </a:p>
        </p:txBody>
      </p:sp>
      <p:sp>
        <p:nvSpPr>
          <p:cNvPr id="8" name="AutoShape 4" descr="תמונה של ">
            <a:extLst>
              <a:ext uri="{FF2B5EF4-FFF2-40B4-BE49-F238E27FC236}">
                <a16:creationId xmlns:a16="http://schemas.microsoft.com/office/drawing/2014/main" id="{42422E48-DC7C-F5A8-2747-F3F099C0EC71}"/>
              </a:ext>
            </a:extLst>
          </p:cNvPr>
          <p:cNvSpPr>
            <a:spLocks noChangeAspect="1" noChangeArrowheads="1"/>
          </p:cNvSpPr>
          <p:nvPr/>
        </p:nvSpPr>
        <p:spPr bwMode="auto">
          <a:xfrm>
            <a:off x="6999317" y="41225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latin typeface="Arial" panose="020B0604020202020204" pitchFamily="34" charset="0"/>
              <a:cs typeface="Arial" panose="020B0604020202020204" pitchFamily="34" charset="0"/>
            </a:endParaRPr>
          </a:p>
        </p:txBody>
      </p:sp>
      <p:pic>
        <p:nvPicPr>
          <p:cNvPr id="2" name="תמונה 1">
            <a:extLst>
              <a:ext uri="{FF2B5EF4-FFF2-40B4-BE49-F238E27FC236}">
                <a16:creationId xmlns:a16="http://schemas.microsoft.com/office/drawing/2014/main" id="{96346EBD-CB3C-41DB-A379-76DA13FB9D0B}"/>
              </a:ext>
            </a:extLst>
          </p:cNvPr>
          <p:cNvPicPr>
            <a:picLocks noChangeAspect="1"/>
          </p:cNvPicPr>
          <p:nvPr/>
        </p:nvPicPr>
        <p:blipFill>
          <a:blip r:embed="rId3"/>
          <a:stretch>
            <a:fillRect/>
          </a:stretch>
        </p:blipFill>
        <p:spPr>
          <a:xfrm>
            <a:off x="12777537" y="7549434"/>
            <a:ext cx="1852865" cy="666518"/>
          </a:xfrm>
          <a:prstGeom prst="rect">
            <a:avLst/>
          </a:prstGeom>
          <a:ln>
            <a:noFill/>
          </a:ln>
          <a:effectLst>
            <a:softEdge rad="112500"/>
          </a:effectLst>
        </p:spPr>
      </p:pic>
      <p:pic>
        <p:nvPicPr>
          <p:cNvPr id="11" name="תמונה 10" descr="תמונה שמכילה צילום מסך, גרפיקה&#10;&#10;תוכן בינה מלאכותית גנרטיבית עשוי להיות שגוי.">
            <a:extLst>
              <a:ext uri="{FF2B5EF4-FFF2-40B4-BE49-F238E27FC236}">
                <a16:creationId xmlns:a16="http://schemas.microsoft.com/office/drawing/2014/main" id="{3D90E34C-065E-2D05-5CAA-B7F8D5518347}"/>
              </a:ext>
            </a:extLst>
          </p:cNvPr>
          <p:cNvPicPr>
            <a:picLocks noChangeAspect="1"/>
          </p:cNvPicPr>
          <p:nvPr/>
        </p:nvPicPr>
        <p:blipFill>
          <a:blip r:embed="rId4"/>
          <a:stretch>
            <a:fillRect/>
          </a:stretch>
        </p:blipFill>
        <p:spPr>
          <a:xfrm rot="5400000">
            <a:off x="1357092" y="3654417"/>
            <a:ext cx="3276125" cy="5586548"/>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12" name="תמונה 11">
            <a:extLst>
              <a:ext uri="{FF2B5EF4-FFF2-40B4-BE49-F238E27FC236}">
                <a16:creationId xmlns:a16="http://schemas.microsoft.com/office/drawing/2014/main" id="{C68D3A7F-25BA-E646-8E6F-3CB087BE81D4}"/>
              </a:ext>
            </a:extLst>
          </p:cNvPr>
          <p:cNvPicPr>
            <a:picLocks noChangeAspect="1"/>
          </p:cNvPicPr>
          <p:nvPr/>
        </p:nvPicPr>
        <p:blipFill>
          <a:blip r:embed="rId5"/>
          <a:stretch>
            <a:fillRect/>
          </a:stretch>
        </p:blipFill>
        <p:spPr>
          <a:xfrm>
            <a:off x="128847" y="124814"/>
            <a:ext cx="3112087" cy="311208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9" name="תמונה 8"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7A306F8D-490C-4D56-E05C-6F53B1096417}"/>
              </a:ext>
            </a:extLst>
          </p:cNvPr>
          <p:cNvPicPr>
            <a:picLocks noChangeAspect="1"/>
          </p:cNvPicPr>
          <p:nvPr/>
        </p:nvPicPr>
        <p:blipFill>
          <a:blip r:embed="rId6"/>
          <a:stretch>
            <a:fillRect/>
          </a:stretch>
        </p:blipFill>
        <p:spPr>
          <a:xfrm>
            <a:off x="13228320" y="23157"/>
            <a:ext cx="1402079" cy="660980"/>
          </a:xfrm>
          <a:prstGeom prst="rect">
            <a:avLst/>
          </a:prstGeom>
        </p:spPr>
      </p:pic>
      <p:sp>
        <p:nvSpPr>
          <p:cNvPr id="10" name="תיבת טקסט 9">
            <a:extLst>
              <a:ext uri="{FF2B5EF4-FFF2-40B4-BE49-F238E27FC236}">
                <a16:creationId xmlns:a16="http://schemas.microsoft.com/office/drawing/2014/main" id="{EBF544B1-B028-0865-11F0-14389609103B}"/>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13" name="תיבת טקסט 12">
            <a:extLst>
              <a:ext uri="{FF2B5EF4-FFF2-40B4-BE49-F238E27FC236}">
                <a16:creationId xmlns:a16="http://schemas.microsoft.com/office/drawing/2014/main" id="{736EBB8C-2D27-7D0C-00BD-279911DA8C5A}"/>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7"/>
              </a:rPr>
              <a:t>Bar Cohen</a:t>
            </a:r>
            <a:endParaRPr lang="he-IL" b="1" dirty="0"/>
          </a:p>
        </p:txBody>
      </p:sp>
      <p:sp>
        <p:nvSpPr>
          <p:cNvPr id="14" name="תיבת טקסט 13">
            <a:extLst>
              <a:ext uri="{FF2B5EF4-FFF2-40B4-BE49-F238E27FC236}">
                <a16:creationId xmlns:a16="http://schemas.microsoft.com/office/drawing/2014/main" id="{BCE27F9C-F626-3A92-7B93-C9D8E0A3A047}"/>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8"/>
              </a:rPr>
              <a:t>Sahar haim Yaccov</a:t>
            </a:r>
          </a:p>
          <a:p>
            <a:r>
              <a:rPr lang="en" b="1" dirty="0">
                <a:hlinkClick r:id="rId8"/>
              </a:rPr>
              <a:t> </a:t>
            </a:r>
            <a:endParaRPr lang="he-IL" dirty="0"/>
          </a:p>
        </p:txBody>
      </p:sp>
      <p:pic>
        <p:nvPicPr>
          <p:cNvPr id="15" name="תמונה 14" descr="תמונה שמכילה טקסט, צילום מסך, גרפיקה, סמל&#10;&#10;תוכן בינה מלאכותית גנרטיבית עשוי להיות שגוי.">
            <a:extLst>
              <a:ext uri="{FF2B5EF4-FFF2-40B4-BE49-F238E27FC236}">
                <a16:creationId xmlns:a16="http://schemas.microsoft.com/office/drawing/2014/main" id="{4FA13B17-1E4B-76D7-38A0-DE3F43A8BF99}"/>
              </a:ext>
            </a:extLst>
          </p:cNvPr>
          <p:cNvPicPr>
            <a:picLocks noChangeAspect="1"/>
          </p:cNvPicPr>
          <p:nvPr/>
        </p:nvPicPr>
        <p:blipFill>
          <a:blip r:embed="rId9"/>
          <a:stretch>
            <a:fillRect/>
          </a:stretch>
        </p:blipFill>
        <p:spPr>
          <a:xfrm>
            <a:off x="10580509" y="7621427"/>
            <a:ext cx="307504" cy="225346"/>
          </a:xfrm>
          <a:prstGeom prst="rect">
            <a:avLst/>
          </a:prstGeom>
        </p:spPr>
      </p:pic>
      <p:pic>
        <p:nvPicPr>
          <p:cNvPr id="16" name="תמונה 15" descr="תמונה שמכילה טקסט, צילום מסך, גרפיקה, סמל&#10;&#10;תוכן בינה מלאכותית גנרטיבית עשוי להיות שגוי.">
            <a:extLst>
              <a:ext uri="{FF2B5EF4-FFF2-40B4-BE49-F238E27FC236}">
                <a16:creationId xmlns:a16="http://schemas.microsoft.com/office/drawing/2014/main" id="{BE65641E-F4FD-35FA-5A5A-6127FC921A5B}"/>
              </a:ext>
            </a:extLst>
          </p:cNvPr>
          <p:cNvPicPr>
            <a:picLocks noChangeAspect="1"/>
          </p:cNvPicPr>
          <p:nvPr/>
        </p:nvPicPr>
        <p:blipFill>
          <a:blip r:embed="rId9"/>
          <a:stretch>
            <a:fillRect/>
          </a:stretch>
        </p:blipFill>
        <p:spPr>
          <a:xfrm>
            <a:off x="10580509" y="7938840"/>
            <a:ext cx="307504" cy="22534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3AB51-361A-8348-B8A9-109539103104}"/>
            </a:ext>
          </a:extLst>
        </p:cNvPr>
        <p:cNvGrpSpPr/>
        <p:nvPr/>
      </p:nvGrpSpPr>
      <p:grpSpPr>
        <a:xfrm>
          <a:off x="0" y="0"/>
          <a:ext cx="0" cy="0"/>
          <a:chOff x="0" y="0"/>
          <a:chExt cx="0" cy="0"/>
        </a:xfrm>
      </p:grpSpPr>
      <p:pic>
        <p:nvPicPr>
          <p:cNvPr id="18" name="תמונה 17">
            <a:extLst>
              <a:ext uri="{FF2B5EF4-FFF2-40B4-BE49-F238E27FC236}">
                <a16:creationId xmlns:a16="http://schemas.microsoft.com/office/drawing/2014/main" id="{E45742D4-C244-2AF5-8627-82A68E2ABF55}"/>
              </a:ext>
            </a:extLst>
          </p:cNvPr>
          <p:cNvPicPr>
            <a:picLocks noChangeAspect="1"/>
          </p:cNvPicPr>
          <p:nvPr/>
        </p:nvPicPr>
        <p:blipFill>
          <a:blip r:embed="rId3"/>
          <a:stretch>
            <a:fillRect/>
          </a:stretch>
        </p:blipFill>
        <p:spPr>
          <a:xfrm>
            <a:off x="0" y="0"/>
            <a:ext cx="10153403" cy="8229600"/>
          </a:xfrm>
          <a:prstGeom prst="rect">
            <a:avLst/>
          </a:prstGeom>
          <a:ln>
            <a:noFill/>
          </a:ln>
          <a:effectLst>
            <a:softEdge rad="112500"/>
          </a:effectLst>
        </p:spPr>
      </p:pic>
      <p:sp>
        <p:nvSpPr>
          <p:cNvPr id="10" name="מלבן מעוגל 9">
            <a:hlinkClick r:id="rId4"/>
            <a:extLst>
              <a:ext uri="{FF2B5EF4-FFF2-40B4-BE49-F238E27FC236}">
                <a16:creationId xmlns:a16="http://schemas.microsoft.com/office/drawing/2014/main" id="{989D3792-E0CC-D622-C905-28213A7BFFA0}"/>
              </a:ext>
            </a:extLst>
          </p:cNvPr>
          <p:cNvSpPr/>
          <p:nvPr/>
        </p:nvSpPr>
        <p:spPr>
          <a:xfrm>
            <a:off x="437662" y="3962052"/>
            <a:ext cx="3823854" cy="1567543"/>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he-IL"/>
          </a:p>
        </p:txBody>
      </p:sp>
      <p:sp>
        <p:nvSpPr>
          <p:cNvPr id="6" name="מלבן מעוגל 5">
            <a:hlinkClick r:id="rId5"/>
            <a:extLst>
              <a:ext uri="{FF2B5EF4-FFF2-40B4-BE49-F238E27FC236}">
                <a16:creationId xmlns:a16="http://schemas.microsoft.com/office/drawing/2014/main" id="{D153D97A-6578-221F-934D-47F4BC934463}"/>
              </a:ext>
            </a:extLst>
          </p:cNvPr>
          <p:cNvSpPr/>
          <p:nvPr/>
        </p:nvSpPr>
        <p:spPr>
          <a:xfrm>
            <a:off x="437662" y="1978566"/>
            <a:ext cx="3823854" cy="1567543"/>
          </a:xfrm>
          <a:prstGeom prst="round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he-IL"/>
          </a:p>
        </p:txBody>
      </p:sp>
      <p:sp>
        <p:nvSpPr>
          <p:cNvPr id="3" name="Text 0">
            <a:extLst>
              <a:ext uri="{FF2B5EF4-FFF2-40B4-BE49-F238E27FC236}">
                <a16:creationId xmlns:a16="http://schemas.microsoft.com/office/drawing/2014/main" id="{577FFE40-4AE5-F572-8E48-0F9C87A9BE7E}"/>
              </a:ext>
            </a:extLst>
          </p:cNvPr>
          <p:cNvSpPr/>
          <p:nvPr/>
        </p:nvSpPr>
        <p:spPr>
          <a:xfrm>
            <a:off x="672403" y="633361"/>
            <a:ext cx="3284713" cy="688697"/>
          </a:xfrm>
          <a:prstGeom prst="rect">
            <a:avLst/>
          </a:prstGeom>
          <a:noFill/>
          <a:ln/>
        </p:spPr>
        <p:txBody>
          <a:bodyPr wrap="square" lIns="0" tIns="0" rIns="0" bIns="0" rtlCol="0" anchor="t"/>
          <a:lstStyle/>
          <a:p>
            <a:pPr marL="0" indent="0" algn="l" defTabSz="914400" rtl="0" eaLnBrk="1" latinLnBrk="0" hangingPunct="1">
              <a:lnSpc>
                <a:spcPts val="5300"/>
              </a:lnSpc>
              <a:buNone/>
            </a:pPr>
            <a:r>
              <a:rPr lang="en-US" sz="4250" b="1" u="sng" dirty="0">
                <a:solidFill>
                  <a:schemeClr val="bg1"/>
                </a:solidFill>
                <a:latin typeface="Arial" panose="020B0604020202020204" pitchFamily="34" charset="0"/>
                <a:cs typeface="Arial" panose="020B0604020202020204" pitchFamily="34" charset="0"/>
              </a:rPr>
              <a:t>Links</a:t>
            </a:r>
          </a:p>
        </p:txBody>
      </p:sp>
      <p:sp>
        <p:nvSpPr>
          <p:cNvPr id="4" name="Text 1">
            <a:extLst>
              <a:ext uri="{FF2B5EF4-FFF2-40B4-BE49-F238E27FC236}">
                <a16:creationId xmlns:a16="http://schemas.microsoft.com/office/drawing/2014/main" id="{65F92A08-C078-5A21-2573-85ECD3035666}"/>
              </a:ext>
            </a:extLst>
          </p:cNvPr>
          <p:cNvSpPr/>
          <p:nvPr/>
        </p:nvSpPr>
        <p:spPr>
          <a:xfrm>
            <a:off x="2435350" y="2394509"/>
            <a:ext cx="1635966" cy="888718"/>
          </a:xfrm>
          <a:prstGeom prst="rect">
            <a:avLst/>
          </a:prstGeom>
          <a:noFill/>
          <a:ln/>
        </p:spPr>
        <p:txBody>
          <a:bodyPr wrap="square" lIns="0" tIns="0" rIns="0" bIns="0" rtlCol="0" anchor="t"/>
          <a:lstStyle/>
          <a:p>
            <a:pPr algn="l" rtl="0">
              <a:lnSpc>
                <a:spcPct val="150000"/>
              </a:lnSpc>
            </a:pPr>
            <a:r>
              <a:rPr lang="en-US" sz="3600" dirty="0">
                <a:solidFill>
                  <a:schemeClr val="bg1"/>
                </a:solidFill>
                <a:latin typeface="Arial" panose="020B0604020202020204" pitchFamily="34" charset="0"/>
                <a:cs typeface="Arial" panose="020B0604020202020204" pitchFamily="34" charset="0"/>
                <a:hlinkClick r:id="rId5"/>
              </a:rPr>
              <a:t>GitHub</a:t>
            </a:r>
            <a:r>
              <a:rPr lang="en-US" sz="3600" dirty="0">
                <a:solidFill>
                  <a:schemeClr val="bg1"/>
                </a:solidFill>
                <a:latin typeface="Arial" panose="020B0604020202020204" pitchFamily="34" charset="0"/>
                <a:cs typeface="Arial" panose="020B0604020202020204" pitchFamily="34" charset="0"/>
              </a:rPr>
              <a:t> </a:t>
            </a:r>
            <a:endParaRPr lang="en-US" sz="3600" dirty="0">
              <a:solidFill>
                <a:schemeClr val="bg1"/>
              </a:solidFill>
              <a:latin typeface="Arial" panose="020B0604020202020204" pitchFamily="34" charset="0"/>
              <a:cs typeface="Arial" panose="020B0604020202020204" pitchFamily="34" charset="0"/>
              <a:hlinkClick r:id="rId6"/>
            </a:endParaRPr>
          </a:p>
          <a:p>
            <a:pPr marL="0" algn="l" defTabSz="914400" rtl="0" eaLnBrk="1" latinLnBrk="0" hangingPunct="1">
              <a:lnSpc>
                <a:spcPct val="150000"/>
              </a:lnSpc>
            </a:pPr>
            <a:endParaRPr lang="en-US" sz="3600" dirty="0">
              <a:solidFill>
                <a:schemeClr val="bg1"/>
              </a:solidFill>
              <a:latin typeface="Arial" panose="020B0604020202020204" pitchFamily="34" charset="0"/>
              <a:cs typeface="Arial" panose="020B0604020202020204" pitchFamily="34" charset="0"/>
              <a:hlinkClick r:id="rId4"/>
            </a:endParaRPr>
          </a:p>
          <a:p>
            <a:pPr marL="0" algn="l" defTabSz="914400" rtl="0" eaLnBrk="1" latinLnBrk="0" hangingPunct="1">
              <a:lnSpc>
                <a:spcPct val="150000"/>
              </a:lnSpc>
            </a:pPr>
            <a:r>
              <a:rPr lang="en-US" sz="3600" dirty="0">
                <a:solidFill>
                  <a:schemeClr val="bg1"/>
                </a:solidFill>
                <a:latin typeface="Arial" panose="020B0604020202020204" pitchFamily="34" charset="0"/>
                <a:cs typeface="Arial" panose="020B0604020202020204" pitchFamily="34" charset="0"/>
                <a:hlinkClick r:id="rId4"/>
              </a:rPr>
              <a:t> </a:t>
            </a:r>
            <a:endParaRPr lang="en-US" sz="3600" dirty="0">
              <a:solidFill>
                <a:schemeClr val="bg1"/>
              </a:solidFill>
              <a:latin typeface="Arial" panose="020B0604020202020204" pitchFamily="34" charset="0"/>
              <a:cs typeface="Arial" panose="020B0604020202020204" pitchFamily="34" charset="0"/>
            </a:endParaRPr>
          </a:p>
          <a:p>
            <a:pPr marL="0" algn="l" defTabSz="914400" rtl="0" eaLnBrk="1" latinLnBrk="0" hangingPunct="1">
              <a:lnSpc>
                <a:spcPct val="150000"/>
              </a:lnSpc>
            </a:pPr>
            <a:endParaRPr lang="en-US" sz="3600" dirty="0">
              <a:solidFill>
                <a:schemeClr val="bg1"/>
              </a:solidFill>
              <a:latin typeface="Arial" panose="020B0604020202020204" pitchFamily="34" charset="0"/>
              <a:cs typeface="Arial" panose="020B0604020202020204" pitchFamily="34" charset="0"/>
            </a:endParaRPr>
          </a:p>
        </p:txBody>
      </p:sp>
      <p:pic>
        <p:nvPicPr>
          <p:cNvPr id="8" name="תמונה 7">
            <a:extLst>
              <a:ext uri="{FF2B5EF4-FFF2-40B4-BE49-F238E27FC236}">
                <a16:creationId xmlns:a16="http://schemas.microsoft.com/office/drawing/2014/main" id="{62894C0F-1365-E9D5-7CFB-B481A8D00B14}"/>
              </a:ext>
            </a:extLst>
          </p:cNvPr>
          <p:cNvPicPr>
            <a:picLocks noChangeAspect="1"/>
          </p:cNvPicPr>
          <p:nvPr/>
        </p:nvPicPr>
        <p:blipFill>
          <a:blip r:embed="rId7"/>
          <a:stretch>
            <a:fillRect/>
          </a:stretch>
        </p:blipFill>
        <p:spPr>
          <a:xfrm>
            <a:off x="937023" y="2203301"/>
            <a:ext cx="1174863" cy="1079925"/>
          </a:xfrm>
          <a:prstGeom prst="ellipse">
            <a:avLst/>
          </a:prstGeom>
          <a:ln>
            <a:noFill/>
          </a:ln>
          <a:effectLst>
            <a:softEdge rad="112500"/>
          </a:effectLst>
        </p:spPr>
      </p:pic>
      <p:pic>
        <p:nvPicPr>
          <p:cNvPr id="11" name="תמונה 10">
            <a:hlinkClick r:id="rId4"/>
            <a:extLst>
              <a:ext uri="{FF2B5EF4-FFF2-40B4-BE49-F238E27FC236}">
                <a16:creationId xmlns:a16="http://schemas.microsoft.com/office/drawing/2014/main" id="{BCFFB61B-EE70-232F-8F06-441C2CA9C75F}"/>
              </a:ext>
            </a:extLst>
          </p:cNvPr>
          <p:cNvPicPr>
            <a:picLocks noChangeAspect="1"/>
          </p:cNvPicPr>
          <p:nvPr/>
        </p:nvPicPr>
        <p:blipFill>
          <a:blip r:embed="rId8"/>
          <a:stretch>
            <a:fillRect/>
          </a:stretch>
        </p:blipFill>
        <p:spPr>
          <a:xfrm>
            <a:off x="827821" y="4363534"/>
            <a:ext cx="1393265" cy="820690"/>
          </a:xfrm>
          <a:prstGeom prst="rect">
            <a:avLst/>
          </a:prstGeom>
          <a:ln>
            <a:noFill/>
          </a:ln>
          <a:effectLst>
            <a:softEdge rad="112500"/>
          </a:effectLst>
        </p:spPr>
      </p:pic>
      <p:grpSp>
        <p:nvGrpSpPr>
          <p:cNvPr id="9" name="קבוצה 8">
            <a:extLst>
              <a:ext uri="{FF2B5EF4-FFF2-40B4-BE49-F238E27FC236}">
                <a16:creationId xmlns:a16="http://schemas.microsoft.com/office/drawing/2014/main" id="{EAE1D4EA-2E4A-18DE-E003-0C68C916EC47}"/>
              </a:ext>
            </a:extLst>
          </p:cNvPr>
          <p:cNvGrpSpPr/>
          <p:nvPr/>
        </p:nvGrpSpPr>
        <p:grpSpPr>
          <a:xfrm>
            <a:off x="5076701" y="1978566"/>
            <a:ext cx="8151619" cy="1567543"/>
            <a:chOff x="6160192" y="3649657"/>
            <a:chExt cx="8125823" cy="1563610"/>
          </a:xfrm>
          <a:solidFill>
            <a:schemeClr val="bg1"/>
          </a:solidFill>
        </p:grpSpPr>
        <p:sp>
          <p:nvSpPr>
            <p:cNvPr id="7" name="מלבן מעוגל 6">
              <a:extLst>
                <a:ext uri="{FF2B5EF4-FFF2-40B4-BE49-F238E27FC236}">
                  <a16:creationId xmlns:a16="http://schemas.microsoft.com/office/drawing/2014/main" id="{D88BD1BC-99B0-54CE-7874-FA4519DDF5E6}"/>
                </a:ext>
              </a:extLst>
            </p:cNvPr>
            <p:cNvSpPr/>
            <p:nvPr/>
          </p:nvSpPr>
          <p:spPr>
            <a:xfrm>
              <a:off x="6160192" y="3649657"/>
              <a:ext cx="8125823" cy="1563610"/>
            </a:xfrm>
            <a:prstGeom prst="roundRect">
              <a:avLst/>
            </a:prstGeom>
            <a:grp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he-IL"/>
            </a:p>
          </p:txBody>
        </p:sp>
        <p:sp>
          <p:nvSpPr>
            <p:cNvPr id="12" name="Text 1">
              <a:extLst>
                <a:ext uri="{FF2B5EF4-FFF2-40B4-BE49-F238E27FC236}">
                  <a16:creationId xmlns:a16="http://schemas.microsoft.com/office/drawing/2014/main" id="{8428ADE2-80A5-2DBF-D417-3C035BABB453}"/>
                </a:ext>
              </a:extLst>
            </p:cNvPr>
            <p:cNvSpPr/>
            <p:nvPr/>
          </p:nvSpPr>
          <p:spPr>
            <a:xfrm>
              <a:off x="7802667" y="4037560"/>
              <a:ext cx="6248401" cy="963453"/>
            </a:xfrm>
            <a:prstGeom prst="rect">
              <a:avLst/>
            </a:prstGeom>
            <a:grpFill/>
            <a:ln>
              <a:noFill/>
            </a:ln>
          </p:spPr>
          <p:txBody>
            <a:bodyPr wrap="square" lIns="0" tIns="0" rIns="0" bIns="0" rtlCol="0" anchor="t"/>
            <a:lstStyle/>
            <a:p>
              <a:pPr algn="l" rtl="0">
                <a:lnSpc>
                  <a:spcPct val="150000"/>
                </a:lnSpc>
              </a:pPr>
              <a:r>
                <a:rPr lang="en-US" sz="3600" dirty="0">
                  <a:latin typeface="Arial" panose="020B0604020202020204" pitchFamily="34" charset="0"/>
                  <a:cs typeface="Arial" panose="020B0604020202020204" pitchFamily="34" charset="0"/>
                </a:rPr>
                <a:t> Hugging Face - </a:t>
              </a:r>
              <a:r>
                <a:rPr lang="en-US" sz="3600" dirty="0">
                  <a:latin typeface="Arial" panose="020B0604020202020204" pitchFamily="34" charset="0"/>
                  <a:cs typeface="Arial" panose="020B0604020202020204" pitchFamily="34" charset="0"/>
                  <a:hlinkClick r:id="rId6"/>
                </a:rPr>
                <a:t>Gradio</a:t>
              </a:r>
              <a:r>
                <a:rPr lang="en-US" sz="3600" dirty="0">
                  <a:latin typeface="Arial" panose="020B0604020202020204" pitchFamily="34" charset="0"/>
                  <a:cs typeface="Arial" panose="020B0604020202020204" pitchFamily="34" charset="0"/>
                </a:rPr>
                <a:t> , </a:t>
              </a:r>
              <a:r>
                <a:rPr lang="en-US" sz="3600" dirty="0">
                  <a:latin typeface="Arial" panose="020B0604020202020204" pitchFamily="34" charset="0"/>
                  <a:cs typeface="Arial" panose="020B0604020202020204" pitchFamily="34" charset="0"/>
                  <a:hlinkClick r:id="rId9"/>
                </a:rPr>
                <a:t>Flask</a:t>
              </a:r>
              <a:endParaRPr lang="en-US" sz="3600" dirty="0">
                <a:latin typeface="Arial" panose="020B0604020202020204" pitchFamily="34" charset="0"/>
                <a:cs typeface="Arial" panose="020B0604020202020204" pitchFamily="34" charset="0"/>
              </a:endParaRPr>
            </a:p>
            <a:p>
              <a:pPr algn="l" rtl="0">
                <a:lnSpc>
                  <a:spcPct val="150000"/>
                </a:lnSpc>
              </a:pPr>
              <a:endParaRPr lang="en-US" sz="3600" dirty="0">
                <a:solidFill>
                  <a:schemeClr val="bg1"/>
                </a:solidFill>
                <a:latin typeface="Arial" panose="020B0604020202020204" pitchFamily="34" charset="0"/>
                <a:cs typeface="Arial" panose="020B0604020202020204" pitchFamily="34" charset="0"/>
              </a:endParaRPr>
            </a:p>
            <a:p>
              <a:pPr marL="0" algn="l" defTabSz="914400" rtl="0" eaLnBrk="1" latinLnBrk="0" hangingPunct="1">
                <a:lnSpc>
                  <a:spcPct val="150000"/>
                </a:lnSpc>
              </a:pPr>
              <a:endParaRPr lang="en-US" sz="3600" dirty="0">
                <a:solidFill>
                  <a:schemeClr val="bg1"/>
                </a:solidFill>
                <a:latin typeface="Arial" panose="020B0604020202020204" pitchFamily="34" charset="0"/>
                <a:cs typeface="Arial" panose="020B0604020202020204" pitchFamily="34" charset="0"/>
              </a:endParaRPr>
            </a:p>
          </p:txBody>
        </p:sp>
        <p:pic>
          <p:nvPicPr>
            <p:cNvPr id="14" name="תמונה 13">
              <a:hlinkClick r:id="rId6"/>
              <a:extLst>
                <a:ext uri="{FF2B5EF4-FFF2-40B4-BE49-F238E27FC236}">
                  <a16:creationId xmlns:a16="http://schemas.microsoft.com/office/drawing/2014/main" id="{9A8AC568-4D5E-DC74-370A-2E17F37C371E}"/>
                </a:ext>
              </a:extLst>
            </p:cNvPr>
            <p:cNvPicPr>
              <a:picLocks noChangeAspect="1"/>
            </p:cNvPicPr>
            <p:nvPr/>
          </p:nvPicPr>
          <p:blipFill>
            <a:blip r:embed="rId10"/>
            <a:stretch>
              <a:fillRect/>
            </a:stretch>
          </p:blipFill>
          <p:spPr>
            <a:xfrm>
              <a:off x="6405727" y="3839537"/>
              <a:ext cx="1375242" cy="1206501"/>
            </a:xfrm>
            <a:prstGeom prst="rect">
              <a:avLst/>
            </a:prstGeom>
            <a:ln>
              <a:noFill/>
            </a:ln>
            <a:effectLst>
              <a:softEdge rad="112500"/>
            </a:effectLst>
          </p:spPr>
        </p:pic>
      </p:grpSp>
      <p:sp>
        <p:nvSpPr>
          <p:cNvPr id="2" name="לחצן פעולה: בית 1">
            <a:hlinkClick r:id="" action="ppaction://hlinkshowjump?jump=firstslide" highlightClick="1"/>
            <a:extLst>
              <a:ext uri="{FF2B5EF4-FFF2-40B4-BE49-F238E27FC236}">
                <a16:creationId xmlns:a16="http://schemas.microsoft.com/office/drawing/2014/main" id="{B6A39107-F655-A83B-0F72-FF52F9EB2BC4}"/>
              </a:ext>
            </a:extLst>
          </p:cNvPr>
          <p:cNvSpPr/>
          <p:nvPr/>
        </p:nvSpPr>
        <p:spPr>
          <a:xfrm>
            <a:off x="200423" y="6932730"/>
            <a:ext cx="812800" cy="688697"/>
          </a:xfrm>
          <a:prstGeom prst="actionButtonHom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he-IL">
              <a:latin typeface="Arial" panose="020B0604020202020204" pitchFamily="34" charset="0"/>
              <a:cs typeface="Arial" panose="020B0604020202020204" pitchFamily="34" charset="0"/>
            </a:endParaRPr>
          </a:p>
        </p:txBody>
      </p:sp>
      <p:pic>
        <p:nvPicPr>
          <p:cNvPr id="5" name="תמונה 4">
            <a:extLst>
              <a:ext uri="{FF2B5EF4-FFF2-40B4-BE49-F238E27FC236}">
                <a16:creationId xmlns:a16="http://schemas.microsoft.com/office/drawing/2014/main" id="{962EC4BE-F2FC-AF6F-DCD6-38B6E4C22E5A}"/>
              </a:ext>
            </a:extLst>
          </p:cNvPr>
          <p:cNvPicPr>
            <a:picLocks noChangeAspect="1"/>
          </p:cNvPicPr>
          <p:nvPr/>
        </p:nvPicPr>
        <p:blipFill>
          <a:blip r:embed="rId11"/>
          <a:stretch>
            <a:fillRect/>
          </a:stretch>
        </p:blipFill>
        <p:spPr>
          <a:xfrm>
            <a:off x="12777537" y="7549434"/>
            <a:ext cx="1852865" cy="666518"/>
          </a:xfrm>
          <a:prstGeom prst="rect">
            <a:avLst/>
          </a:prstGeom>
          <a:ln>
            <a:noFill/>
          </a:ln>
          <a:effectLst>
            <a:softEdge rad="112500"/>
          </a:effectLst>
        </p:spPr>
      </p:pic>
      <p:pic>
        <p:nvPicPr>
          <p:cNvPr id="16" name="תמונה 15" descr="תמונה שמכילה גופן, צילום מסך, טקסט, גרפיקה&#10;&#10;תוכן בינה מלאכותית גנרטיבית עשוי להיות שגוי.">
            <a:extLst>
              <a:ext uri="{FF2B5EF4-FFF2-40B4-BE49-F238E27FC236}">
                <a16:creationId xmlns:a16="http://schemas.microsoft.com/office/drawing/2014/main" id="{F07F08F8-A20D-33F3-74A4-41154522F8F1}"/>
              </a:ext>
            </a:extLst>
          </p:cNvPr>
          <p:cNvPicPr>
            <a:picLocks noChangeAspect="1"/>
          </p:cNvPicPr>
          <p:nvPr/>
        </p:nvPicPr>
        <p:blipFill>
          <a:blip r:embed="rId12"/>
          <a:stretch>
            <a:fillRect/>
          </a:stretch>
        </p:blipFill>
        <p:spPr>
          <a:xfrm>
            <a:off x="13228320" y="23157"/>
            <a:ext cx="1402079" cy="660980"/>
          </a:xfrm>
          <a:prstGeom prst="rect">
            <a:avLst/>
          </a:prstGeom>
        </p:spPr>
      </p:pic>
      <p:sp>
        <p:nvSpPr>
          <p:cNvPr id="17" name="תיבת טקסט 16">
            <a:extLst>
              <a:ext uri="{FF2B5EF4-FFF2-40B4-BE49-F238E27FC236}">
                <a16:creationId xmlns:a16="http://schemas.microsoft.com/office/drawing/2014/main" id="{C87FFA9E-BEB9-2A36-C235-89341D84A707}"/>
              </a:ext>
            </a:extLst>
          </p:cNvPr>
          <p:cNvSpPr txBox="1"/>
          <p:nvPr/>
        </p:nvSpPr>
        <p:spPr>
          <a:xfrm>
            <a:off x="9858509" y="101486"/>
            <a:ext cx="3422819" cy="461665"/>
          </a:xfrm>
          <a:prstGeom prst="rect">
            <a:avLst/>
          </a:prstGeom>
          <a:noFill/>
        </p:spPr>
        <p:txBody>
          <a:bodyPr wrap="square" rtlCol="1">
            <a:spAutoFit/>
          </a:bodyPr>
          <a:lstStyle/>
          <a:p>
            <a:r>
              <a:rPr lang="he-IL" sz="1200" dirty="0">
                <a:solidFill>
                  <a:schemeClr val="bg1"/>
                </a:solidFill>
              </a:rPr>
              <a:t>החוג למערכות מידע </a:t>
            </a:r>
            <a:br>
              <a:rPr lang="en-US" sz="1200" dirty="0">
                <a:solidFill>
                  <a:schemeClr val="bg1"/>
                </a:solidFill>
              </a:rPr>
            </a:br>
            <a:r>
              <a:rPr lang="he-IL" sz="1200" dirty="0">
                <a:solidFill>
                  <a:schemeClr val="bg1"/>
                </a:solidFill>
              </a:rPr>
              <a:t>פרויקט גמר תשפ״ה – מצגת כללית</a:t>
            </a:r>
          </a:p>
        </p:txBody>
      </p:sp>
      <p:sp>
        <p:nvSpPr>
          <p:cNvPr id="20" name="תיבת טקסט 19">
            <a:extLst>
              <a:ext uri="{FF2B5EF4-FFF2-40B4-BE49-F238E27FC236}">
                <a16:creationId xmlns:a16="http://schemas.microsoft.com/office/drawing/2014/main" id="{0CEC6AE9-8F3A-4F6E-0457-F31A85893AD8}"/>
              </a:ext>
            </a:extLst>
          </p:cNvPr>
          <p:cNvSpPr txBox="1"/>
          <p:nvPr/>
        </p:nvSpPr>
        <p:spPr>
          <a:xfrm>
            <a:off x="2349588" y="4393878"/>
            <a:ext cx="1497422" cy="646331"/>
          </a:xfrm>
          <a:prstGeom prst="rect">
            <a:avLst/>
          </a:prstGeom>
          <a:noFill/>
        </p:spPr>
        <p:txBody>
          <a:bodyPr wrap="square" rtlCol="1">
            <a:spAutoFit/>
          </a:bodyPr>
          <a:lstStyle/>
          <a:p>
            <a:r>
              <a:rPr lang="en-US" sz="3600" dirty="0">
                <a:solidFill>
                  <a:schemeClr val="bg1"/>
                </a:solidFill>
                <a:latin typeface="Arial" panose="020B0604020202020204" pitchFamily="34" charset="0"/>
                <a:cs typeface="Arial" panose="020B0604020202020204" pitchFamily="34" charset="0"/>
                <a:hlinkClick r:id="rId4"/>
              </a:rPr>
              <a:t>Colab</a:t>
            </a:r>
            <a:endParaRPr lang="he-IL" sz="3600" dirty="0"/>
          </a:p>
        </p:txBody>
      </p:sp>
      <p:grpSp>
        <p:nvGrpSpPr>
          <p:cNvPr id="21" name="קבוצה 20">
            <a:extLst>
              <a:ext uri="{FF2B5EF4-FFF2-40B4-BE49-F238E27FC236}">
                <a16:creationId xmlns:a16="http://schemas.microsoft.com/office/drawing/2014/main" id="{B9534242-07F9-EBEE-45C1-B667516D5D71}"/>
              </a:ext>
            </a:extLst>
          </p:cNvPr>
          <p:cNvGrpSpPr/>
          <p:nvPr/>
        </p:nvGrpSpPr>
        <p:grpSpPr>
          <a:xfrm>
            <a:off x="5076701" y="3962052"/>
            <a:ext cx="6426186" cy="1562623"/>
            <a:chOff x="6193878" y="5248185"/>
            <a:chExt cx="7873029" cy="1563610"/>
          </a:xfrm>
          <a:solidFill>
            <a:schemeClr val="bg1"/>
          </a:solidFill>
        </p:grpSpPr>
        <p:sp>
          <p:nvSpPr>
            <p:cNvPr id="22" name="מלבן מעוגל 21">
              <a:extLst>
                <a:ext uri="{FF2B5EF4-FFF2-40B4-BE49-F238E27FC236}">
                  <a16:creationId xmlns:a16="http://schemas.microsoft.com/office/drawing/2014/main" id="{434B3192-4816-3808-AAD5-2036B3E9FDAA}"/>
                </a:ext>
              </a:extLst>
            </p:cNvPr>
            <p:cNvSpPr/>
            <p:nvPr/>
          </p:nvSpPr>
          <p:spPr>
            <a:xfrm>
              <a:off x="6193878" y="5248185"/>
              <a:ext cx="7873029" cy="1563610"/>
            </a:xfrm>
            <a:prstGeom prst="roundRect">
              <a:avLst/>
            </a:prstGeom>
            <a:grp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he-IL"/>
            </a:p>
          </p:txBody>
        </p:sp>
        <p:pic>
          <p:nvPicPr>
            <p:cNvPr id="25" name="תמונה 24">
              <a:hlinkClick r:id="rId13"/>
              <a:extLst>
                <a:ext uri="{FF2B5EF4-FFF2-40B4-BE49-F238E27FC236}">
                  <a16:creationId xmlns:a16="http://schemas.microsoft.com/office/drawing/2014/main" id="{DA20D4AF-42AE-8AC8-F6A5-F1780AECE42D}"/>
                </a:ext>
              </a:extLst>
            </p:cNvPr>
            <p:cNvPicPr>
              <a:picLocks noChangeAspect="1"/>
            </p:cNvPicPr>
            <p:nvPr/>
          </p:nvPicPr>
          <p:blipFill>
            <a:blip r:embed="rId14"/>
            <a:stretch>
              <a:fillRect/>
            </a:stretch>
          </p:blipFill>
          <p:spPr>
            <a:xfrm>
              <a:off x="6427025" y="5400910"/>
              <a:ext cx="1717446" cy="1206500"/>
            </a:xfrm>
            <a:prstGeom prst="rect">
              <a:avLst/>
            </a:prstGeom>
            <a:ln>
              <a:noFill/>
            </a:ln>
            <a:effectLst>
              <a:softEdge rad="112500"/>
            </a:effectLst>
          </p:spPr>
        </p:pic>
      </p:grpSp>
      <p:sp>
        <p:nvSpPr>
          <p:cNvPr id="27" name="תיבת טקסט 26">
            <a:extLst>
              <a:ext uri="{FF2B5EF4-FFF2-40B4-BE49-F238E27FC236}">
                <a16:creationId xmlns:a16="http://schemas.microsoft.com/office/drawing/2014/main" id="{E4BDBE00-E45E-E55B-6674-1A5B61A71487}"/>
              </a:ext>
            </a:extLst>
          </p:cNvPr>
          <p:cNvSpPr txBox="1"/>
          <p:nvPr/>
        </p:nvSpPr>
        <p:spPr>
          <a:xfrm>
            <a:off x="6668829" y="4419771"/>
            <a:ext cx="4489367" cy="1200329"/>
          </a:xfrm>
          <a:prstGeom prst="rect">
            <a:avLst/>
          </a:prstGeom>
          <a:noFill/>
        </p:spPr>
        <p:txBody>
          <a:bodyPr wrap="square" rtlCol="1">
            <a:spAutoFit/>
          </a:bodyPr>
          <a:lstStyle/>
          <a:p>
            <a:r>
              <a:rPr lang="en-US" sz="3600" dirty="0">
                <a:latin typeface="Arial" panose="020B0604020202020204" pitchFamily="34" charset="0"/>
                <a:cs typeface="Arial" panose="020B0604020202020204" pitchFamily="34" charset="0"/>
              </a:rPr>
              <a:t>Dashboard</a:t>
            </a:r>
            <a:r>
              <a:rPr lang="en-US" sz="3600" dirty="0">
                <a:solidFill>
                  <a:schemeClr val="bg1"/>
                </a:solidFill>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a:t>
            </a:r>
            <a:r>
              <a:rPr lang="en-US" sz="3600" dirty="0">
                <a:solidFill>
                  <a:schemeClr val="bg1"/>
                </a:solidFill>
                <a:latin typeface="Arial" panose="020B0604020202020204" pitchFamily="34" charset="0"/>
                <a:cs typeface="Arial" panose="020B0604020202020204" pitchFamily="34" charset="0"/>
              </a:rPr>
              <a:t>  </a:t>
            </a:r>
            <a:r>
              <a:rPr lang="en-US" sz="3600" dirty="0">
                <a:solidFill>
                  <a:schemeClr val="bg1"/>
                </a:solidFill>
                <a:latin typeface="Arial" panose="020B0604020202020204" pitchFamily="34" charset="0"/>
                <a:cs typeface="Arial" panose="020B0604020202020204" pitchFamily="34" charset="0"/>
                <a:hlinkClick r:id="rId13"/>
              </a:rPr>
              <a:t>1</a:t>
            </a:r>
            <a:r>
              <a:rPr lang="en-US" sz="3600" dirty="0">
                <a:solidFill>
                  <a:schemeClr val="bg1"/>
                </a:solidFill>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a:t>
            </a:r>
            <a:r>
              <a:rPr lang="en-US" sz="3600" dirty="0">
                <a:solidFill>
                  <a:schemeClr val="bg1"/>
                </a:solidFill>
                <a:latin typeface="Arial" panose="020B0604020202020204" pitchFamily="34" charset="0"/>
                <a:cs typeface="Arial" panose="020B0604020202020204" pitchFamily="34" charset="0"/>
              </a:rPr>
              <a:t>   </a:t>
            </a:r>
            <a:r>
              <a:rPr lang="en-US" sz="3600" dirty="0">
                <a:solidFill>
                  <a:schemeClr val="bg1"/>
                </a:solidFill>
                <a:latin typeface="Arial" panose="020B0604020202020204" pitchFamily="34" charset="0"/>
                <a:cs typeface="Arial" panose="020B0604020202020204" pitchFamily="34" charset="0"/>
                <a:hlinkClick r:id="rId15"/>
              </a:rPr>
              <a:t>2</a:t>
            </a:r>
            <a:endParaRPr lang="en-US" sz="3600" dirty="0">
              <a:solidFill>
                <a:schemeClr val="bg1"/>
              </a:solidFill>
              <a:latin typeface="Arial" panose="020B0604020202020204" pitchFamily="34" charset="0"/>
              <a:cs typeface="Arial" panose="020B0604020202020204" pitchFamily="34" charset="0"/>
            </a:endParaRPr>
          </a:p>
          <a:p>
            <a:endParaRPr lang="he-IL" sz="3600" dirty="0"/>
          </a:p>
        </p:txBody>
      </p:sp>
      <p:sp>
        <p:nvSpPr>
          <p:cNvPr id="30" name="תיבת טקסט 29">
            <a:extLst>
              <a:ext uri="{FF2B5EF4-FFF2-40B4-BE49-F238E27FC236}">
                <a16:creationId xmlns:a16="http://schemas.microsoft.com/office/drawing/2014/main" id="{C2DD1121-C4AC-268F-ADAE-D6BBAF8AC88F}"/>
              </a:ext>
            </a:extLst>
          </p:cNvPr>
          <p:cNvSpPr txBox="1"/>
          <p:nvPr/>
        </p:nvSpPr>
        <p:spPr>
          <a:xfrm>
            <a:off x="10832942" y="7549434"/>
            <a:ext cx="2910784" cy="369332"/>
          </a:xfrm>
          <a:prstGeom prst="rect">
            <a:avLst/>
          </a:prstGeom>
          <a:noFill/>
        </p:spPr>
        <p:txBody>
          <a:bodyPr wrap="square" rtlCol="1">
            <a:spAutoFit/>
          </a:bodyPr>
          <a:lstStyle/>
          <a:p>
            <a:pPr marL="0" algn="l" defTabSz="914400" rtl="0" eaLnBrk="1" latinLnBrk="0" hangingPunct="1"/>
            <a:r>
              <a:rPr lang="en-US" b="1" dirty="0">
                <a:hlinkClick r:id="rId16"/>
              </a:rPr>
              <a:t>Bar Cohen</a:t>
            </a:r>
            <a:endParaRPr lang="he-IL" b="1" dirty="0"/>
          </a:p>
        </p:txBody>
      </p:sp>
      <p:sp>
        <p:nvSpPr>
          <p:cNvPr id="31" name="תיבת טקסט 30">
            <a:extLst>
              <a:ext uri="{FF2B5EF4-FFF2-40B4-BE49-F238E27FC236}">
                <a16:creationId xmlns:a16="http://schemas.microsoft.com/office/drawing/2014/main" id="{1F7AB408-B376-9B34-0D8A-7DE250889A1F}"/>
              </a:ext>
            </a:extLst>
          </p:cNvPr>
          <p:cNvSpPr txBox="1"/>
          <p:nvPr/>
        </p:nvSpPr>
        <p:spPr>
          <a:xfrm>
            <a:off x="10734261" y="7841021"/>
            <a:ext cx="2043276" cy="646331"/>
          </a:xfrm>
          <a:prstGeom prst="rect">
            <a:avLst/>
          </a:prstGeom>
          <a:noFill/>
        </p:spPr>
        <p:txBody>
          <a:bodyPr wrap="square" rtlCol="1">
            <a:spAutoFit/>
          </a:bodyPr>
          <a:lstStyle/>
          <a:p>
            <a:pPr fontAlgn="ctr"/>
            <a:r>
              <a:rPr lang="en" b="1" dirty="0">
                <a:hlinkClick r:id="rId17"/>
              </a:rPr>
              <a:t>Sahar haim Yaccov</a:t>
            </a:r>
          </a:p>
          <a:p>
            <a:r>
              <a:rPr lang="en" b="1" dirty="0">
                <a:hlinkClick r:id="rId17"/>
              </a:rPr>
              <a:t> </a:t>
            </a:r>
            <a:endParaRPr lang="he-IL" dirty="0"/>
          </a:p>
        </p:txBody>
      </p:sp>
      <p:pic>
        <p:nvPicPr>
          <p:cNvPr id="35" name="תמונה 34" descr="תמונה שמכילה טקסט, צילום מסך, גרפיקה, סמל&#10;&#10;תוכן בינה מלאכותית גנרטיבית עשוי להיות שגוי.">
            <a:extLst>
              <a:ext uri="{FF2B5EF4-FFF2-40B4-BE49-F238E27FC236}">
                <a16:creationId xmlns:a16="http://schemas.microsoft.com/office/drawing/2014/main" id="{76BBD2E9-5107-0225-2788-ABB68262C67F}"/>
              </a:ext>
            </a:extLst>
          </p:cNvPr>
          <p:cNvPicPr>
            <a:picLocks noChangeAspect="1"/>
          </p:cNvPicPr>
          <p:nvPr/>
        </p:nvPicPr>
        <p:blipFill>
          <a:blip r:embed="rId18"/>
          <a:stretch>
            <a:fillRect/>
          </a:stretch>
        </p:blipFill>
        <p:spPr>
          <a:xfrm>
            <a:off x="10580509" y="7621427"/>
            <a:ext cx="307504" cy="225346"/>
          </a:xfrm>
          <a:prstGeom prst="rect">
            <a:avLst/>
          </a:prstGeom>
        </p:spPr>
      </p:pic>
      <p:pic>
        <p:nvPicPr>
          <p:cNvPr id="36" name="תמונה 35" descr="תמונה שמכילה טקסט, צילום מסך, גרפיקה, סמל&#10;&#10;תוכן בינה מלאכותית גנרטיבית עשוי להיות שגוי.">
            <a:extLst>
              <a:ext uri="{FF2B5EF4-FFF2-40B4-BE49-F238E27FC236}">
                <a16:creationId xmlns:a16="http://schemas.microsoft.com/office/drawing/2014/main" id="{89B2619F-9135-538C-6F71-B828586C1C5C}"/>
              </a:ext>
            </a:extLst>
          </p:cNvPr>
          <p:cNvPicPr>
            <a:picLocks noChangeAspect="1"/>
          </p:cNvPicPr>
          <p:nvPr/>
        </p:nvPicPr>
        <p:blipFill>
          <a:blip r:embed="rId18"/>
          <a:stretch>
            <a:fillRect/>
          </a:stretch>
        </p:blipFill>
        <p:spPr>
          <a:xfrm>
            <a:off x="10580509" y="7938840"/>
            <a:ext cx="307504" cy="225346"/>
          </a:xfrm>
          <a:prstGeom prst="rect">
            <a:avLst/>
          </a:prstGeom>
        </p:spPr>
      </p:pic>
      <p:sp>
        <p:nvSpPr>
          <p:cNvPr id="37" name="תיבת טקסט 36">
            <a:extLst>
              <a:ext uri="{FF2B5EF4-FFF2-40B4-BE49-F238E27FC236}">
                <a16:creationId xmlns:a16="http://schemas.microsoft.com/office/drawing/2014/main" id="{F7914FF5-183F-1BA7-EA41-8E47A26663CF}"/>
              </a:ext>
            </a:extLst>
          </p:cNvPr>
          <p:cNvSpPr txBox="1"/>
          <p:nvPr/>
        </p:nvSpPr>
        <p:spPr>
          <a:xfrm>
            <a:off x="-376603" y="7595600"/>
            <a:ext cx="2098012" cy="646331"/>
          </a:xfrm>
          <a:prstGeom prst="rect">
            <a:avLst/>
          </a:prstGeom>
          <a:noFill/>
        </p:spPr>
        <p:txBody>
          <a:bodyPr wrap="square" rtlCol="1">
            <a:spAutoFit/>
          </a:bodyPr>
          <a:lstStyle/>
          <a:p>
            <a:pPr marL="0" algn="ctr" defTabSz="914400" rtl="1" eaLnBrk="1" latinLnBrk="0" hangingPunct="1"/>
            <a:r>
              <a:rPr lang="he-IL" b="1" dirty="0">
                <a:solidFill>
                  <a:schemeClr val="bg1"/>
                </a:solidFill>
              </a:rPr>
              <a:t>חזרה לתחילת המצגת</a:t>
            </a:r>
          </a:p>
        </p:txBody>
      </p:sp>
    </p:spTree>
    <p:extLst>
      <p:ext uri="{BB962C8B-B14F-4D97-AF65-F5344CB8AC3E}">
        <p14:creationId xmlns:p14="http://schemas.microsoft.com/office/powerpoint/2010/main" val="74486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546</TotalTime>
  <Words>1681</Words>
  <Application>Microsoft Macintosh PowerPoint</Application>
  <PresentationFormat>מותאם אישית</PresentationFormat>
  <Paragraphs>198</Paragraphs>
  <Slides>14</Slides>
  <Notes>14</Notes>
  <HiddenSlides>0</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14</vt:i4>
      </vt:variant>
    </vt:vector>
  </HeadingPairs>
  <TitlesOfParts>
    <vt:vector size="17" baseType="lpstr">
      <vt:lpstr>Arial</vt:lpstr>
      <vt:lpstr>Wingdings</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סהר חיים יעקב</cp:lastModifiedBy>
  <cp:revision>75</cp:revision>
  <dcterms:created xsi:type="dcterms:W3CDTF">2025-08-06T20:28:08Z</dcterms:created>
  <dcterms:modified xsi:type="dcterms:W3CDTF">2025-08-12T19:15:07Z</dcterms:modified>
</cp:coreProperties>
</file>

<file path=[Content_Types].xml><?xml version="1.0" encoding="utf-8"?>
<Types xmlns="http://schemas.openxmlformats.org/package/2006/content-types">
  <Default Extension="fntdata" ContentType="application/x-fontdata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5" r:id="rId3"/>
    <p:sldId id="257" r:id="rId4"/>
    <p:sldId id="258" r:id="rId5"/>
    <p:sldId id="259" r:id="rId6"/>
    <p:sldId id="260" r:id="rId7"/>
    <p:sldId id="264" r:id="rId8"/>
  </p:sldIdLst>
  <p:sldSz cx="14630400" cy="8229600"/>
  <p:notesSz cx="8229600" cy="14630400"/>
  <p:embeddedFontLst>
    <p:embeddedFont>
      <p:font typeface="Instrument Sans Medium" pitchFamily="2" charset="0"/>
      <p:regular r:id="rId10"/>
    </p:embeddedFont>
    <p:embeddedFont>
      <p:font typeface="Instrument Sans Semi Bold" pitchFamily="2" charset="0"/>
      <p:regular r:id="rId11"/>
    </p:embeddedFont>
  </p:embeddedFontLst>
  <p:defaultTextStyle>
    <a:defPPr>
      <a:defRPr lang="en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22"/>
    <p:restoredTop sz="73640"/>
  </p:normalViewPr>
  <p:slideViewPr>
    <p:cSldViewPr snapToGrid="0" snapToObjects="1">
      <p:cViewPr varScale="1">
        <p:scale>
          <a:sx n="75" d="100"/>
          <a:sy n="75" d="100"/>
        </p:scale>
        <p:origin x="1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130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xmlns:a="http://schemas.openxmlformats.org/drawingml/2006/main" algn="ctr"/>
            <a:r xmlns:a="http://schemas.openxmlformats.org/drawingml/2006/main">
              <a:rPr lang="en" b="1" dirty="0"/>
              <a:t>Slide 1: Opening slide (title image with " </a:t>
            </a:r>
            <a:r xmlns:a="http://schemas.openxmlformats.org/drawingml/2006/main">
              <a:rPr lang="en" b="1" dirty="0"/>
              <a:t>CYBER WARFARE EXPOSED")</a:t>
            </a:r>
          </a:p>
          <a:p>
            <a:pPr xmlns:a="http://schemas.openxmlformats.org/drawingml/2006/main" algn="ctr"/>
            <a:r xmlns:a="http://schemas.openxmlformats.org/drawingml/2006/main">
              <a:rPr lang="en" dirty="0"/>
              <a:t>Introducing the participants.</a:t>
            </a:r>
          </a:p>
          <a:p>
            <a:pPr xmlns:a="http://schemas.openxmlformats.org/drawingml/2006/main" algn="ctr"/>
            <a:r xmlns:a="http://schemas.openxmlformats.org/drawingml/2006/main">
              <a:rPr lang="en" dirty="0"/>
              <a:t>Introducing the project topic: </a:t>
            </a:r>
            <a:r xmlns:a="http://schemas.openxmlformats.org/drawingml/2006/main">
              <a:rPr lang="en" b="1" dirty="0"/>
              <a:t>Predicting Cybersecurity Threats </a:t>
            </a:r>
            <a:r xmlns:a="http://schemas.openxmlformats.org/drawingml/2006/main">
              <a:rPr lang="en" dirty="0"/>
              <a:t>.</a:t>
            </a:r>
          </a:p>
          <a:p>
            <a:pPr xmlns:a="http://schemas.openxmlformats.org/drawingml/2006/main" algn="ctr"/>
            <a:r xmlns:a="http://schemas.openxmlformats.org/drawingml/2006/main">
              <a:rPr lang="en" dirty="0"/>
              <a:t>The importance of cybersecurity in the modern world.</a:t>
            </a:r>
          </a:p>
          <a:p>
            <a:pPr xmlns:a="http://schemas.openxmlformats.org/drawingml/2006/main" algn="ctr"/>
            <a:r xmlns:a="http://schemas.openxmlformats.org/drawingml/2006/main">
              <a:rPr lang="en" dirty="0"/>
              <a:t>Project goal: Developing a </a:t>
            </a:r>
            <a:r xmlns:a="http://schemas.openxmlformats.org/drawingml/2006/main">
              <a:rPr lang="en" dirty="0" err="1"/>
              <a:t>predictive approach </a:t>
            </a:r>
            <a:r xmlns:a="http://schemas.openxmlformats.org/drawingml/2006/main">
              <a:rPr lang="en" dirty="0"/>
              <a:t>to cyber threats.</a:t>
            </a:r>
          </a:p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27348-D452-EB6E-6794-AEF989113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FC64B0-883B-8177-9E8F-F333C15B89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7291A8-ACE8-E1DB-EF2A-90E40472E4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xmlns:a="http://schemas.openxmlformats.org/drawingml/2006/main" algn="ctr"/>
            <a:r xmlns:a="http://schemas.openxmlformats.org/drawingml/2006/main">
              <a:rPr lang="en" b="1" dirty="0"/>
              <a:t>Video</a:t>
            </a:r>
            <a:endParaRPr xmlns:a="http://schemas.openxmlformats.org/drawingml/2006/main"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48683C-21AB-4396-8494-3E38B9A5A0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269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xmlns:a="http://schemas.openxmlformats.org/drawingml/2006/main" algn="ctr"/>
            <a:r xmlns:a="http://schemas.openxmlformats.org/drawingml/2006/main">
              <a:rPr lang="en" b="1" dirty="0"/>
              <a:t>Slide 2: " </a:t>
            </a:r>
            <a:r xmlns:a="http://schemas.openxmlformats.org/drawingml/2006/main">
              <a:rPr lang="en" b="1" dirty="0"/>
              <a:t>CYBER SECURITY THREAT DETECTION"</a:t>
            </a:r>
          </a:p>
          <a:p>
            <a:pPr xmlns:a="http://schemas.openxmlformats.org/drawingml/2006/main" algn="ctr"/>
            <a:r xmlns:a="http://schemas.openxmlformats.org/drawingml/2006/main">
              <a:rPr lang="en" dirty="0"/>
              <a:t>Project goal: </a:t>
            </a:r>
            <a:r xmlns:a="http://schemas.openxmlformats.org/drawingml/2006/main">
              <a:rPr lang="en" b="1" dirty="0"/>
              <a:t>Identifying and predicting cyber threats </a:t>
            </a:r>
            <a:r xmlns:a="http://schemas.openxmlformats.org/drawingml/2006/main">
              <a:rPr lang="en" dirty="0"/>
              <a:t>.</a:t>
            </a:r>
          </a:p>
          <a:p>
            <a:pPr xmlns:a="http://schemas.openxmlformats.org/drawingml/2006/main" algn="ctr"/>
            <a:r xmlns:a="http://schemas.openxmlformats.org/drawingml/2006/main">
              <a:rPr lang="en" dirty="0"/>
              <a:t>The need for advanced information security solutions and why.</a:t>
            </a:r>
          </a:p>
          <a:p>
            <a:pPr xmlns:a="http://schemas.openxmlformats.org/drawingml/2006/main" algn="ctr"/>
            <a:r xmlns:a="http://schemas.openxmlformats.org/drawingml/2006/main">
              <a:rPr lang="en" dirty="0"/>
              <a:t>Briefly about each infrastructure where the data is stored</a:t>
            </a:r>
          </a:p>
          <a:p>
            <a:pPr algn="ctr"/>
            <a:endParaRPr lang="he-IL" dirty="0"/>
          </a:p>
          <a:p>
            <a:pPr xmlns:a="http://schemas.openxmlformats.org/drawingml/2006/main"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 xmlns:a="http://schemas.openxmlformats.org/drawingml/2006/main">
              <a:rPr lang="en" b="1" dirty="0"/>
              <a:t>MongoDB</a:t>
            </a:r>
            <a:r xmlns:a="http://schemas.openxmlformats.org/drawingml/2006/main">
              <a:rPr lang="en" dirty="0"/>
              <a:t> </a:t>
            </a:r>
            <a:r xmlns:a="http://schemas.openxmlformats.org/drawingml/2006/main">
              <a:rPr lang="en" dirty="0"/>
              <a:t>- Flexible and scalable data storage.</a:t>
            </a:r>
          </a:p>
          <a:p>
            <a:pPr xmlns:a="http://schemas.openxmlformats.org/drawingml/2006/main"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 xmlns:a="http://schemas.openxmlformats.org/drawingml/2006/main">
              <a:rPr lang="en" dirty="0"/>
              <a:t> </a:t>
            </a:r>
            <a:r xmlns:a="http://schemas.openxmlformats.org/drawingml/2006/main">
              <a:rPr lang="en" b="1" dirty="0"/>
              <a:t>MySQL </a:t>
            </a:r>
            <a:r xmlns:a="http://schemas.openxmlformats.org/drawingml/2006/main">
              <a:rPr lang="en" b="1" dirty="0"/>
              <a:t>- </a:t>
            </a:r>
            <a:r xmlns:a="http://schemas.openxmlformats.org/drawingml/2006/main">
              <a:rPr lang="en" dirty="0"/>
              <a:t>Structured data management and complex queries.</a:t>
            </a:r>
          </a:p>
          <a:p>
            <a:pPr xmlns:a="http://schemas.openxmlformats.org/drawingml/2006/main"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 xmlns:a="http://schemas.openxmlformats.org/drawingml/2006/main">
              <a:rPr lang="en" b="1" dirty="0"/>
              <a:t>Google Sheets</a:t>
            </a:r>
            <a:r xmlns:a="http://schemas.openxmlformats.org/drawingml/2006/main">
              <a:rPr lang="en" dirty="0"/>
              <a:t> </a:t>
            </a:r>
            <a:r xmlns:a="http://schemas.openxmlformats.org/drawingml/2006/main">
              <a:rPr lang="en" dirty="0"/>
              <a:t>- Initial data capture and real-time collaboration.</a:t>
            </a:r>
          </a:p>
          <a:p>
            <a:pPr xmlns:a="http://schemas.openxmlformats.org/drawingml/2006/main"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 xmlns:a="http://schemas.openxmlformats.org/drawingml/2006/main">
              <a:rPr lang="en" b="1" dirty="0"/>
              <a:t>OneDrive</a:t>
            </a:r>
            <a:r xmlns:a="http://schemas.openxmlformats.org/drawingml/2006/main">
              <a:rPr lang="en" dirty="0"/>
              <a:t> </a:t>
            </a:r>
            <a:r xmlns:a="http://schemas.openxmlformats.org/drawingml/2006/main">
              <a:rPr lang="en" dirty="0"/>
              <a:t>]Secure cloud storage, data backup, and version control.</a:t>
            </a:r>
          </a:p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xmlns:a="http://schemas.openxmlformats.org/drawingml/2006/main" algn="ctr"/>
            <a:r xmlns:a="http://schemas.openxmlformats.org/drawingml/2006/main">
              <a:rPr lang="en" b="1" dirty="0"/>
              <a:t>Briefly explain each of the dashboards and what they are used for in the project.</a:t>
            </a:r>
          </a:p>
          <a:p>
            <a:pPr xmlns:a="http://schemas.openxmlformats.org/drawingml/2006/main"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 xmlns:a="http://schemas.openxmlformats.org/drawingml/2006/main">
              <a:rPr lang="en" b="1" dirty="0"/>
              <a:t>Tableau </a:t>
            </a:r>
            <a:r xmlns:a="http://schemas.openxmlformats.org/drawingml/2006/main">
              <a:rPr lang="en" b="1" dirty="0"/>
              <a:t>, </a:t>
            </a:r>
            <a:r xmlns:a="http://schemas.openxmlformats.org/drawingml/2006/main">
              <a:rPr lang="en" b="1" dirty="0"/>
              <a:t>Power BI </a:t>
            </a:r>
            <a:r xmlns:a="http://schemas.openxmlformats.org/drawingml/2006/main">
              <a:rPr lang="en" b="1" dirty="0"/>
              <a:t>, </a:t>
            </a:r>
            <a:r xmlns:a="http://schemas.openxmlformats.org/drawingml/2006/main">
              <a:rPr lang="en" b="1" dirty="0"/>
              <a:t>Google Data Studio </a:t>
            </a:r>
            <a:r xmlns:a="http://schemas.openxmlformats.org/drawingml/2006/main">
              <a:rPr lang="en" b="1" dirty="0"/>
              <a:t>, </a:t>
            </a:r>
            <a:r xmlns:a="http://schemas.openxmlformats.org/drawingml/2006/main">
              <a:rPr lang="en" sz="1200" dirty="0" err="1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Funnel.io</a:t>
            </a:r>
            <a:r xmlns:a="http://schemas.openxmlformats.org/drawingml/2006/main">
              <a:rPr lang="en" sz="1200" b="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</a:t>
            </a:r>
            <a:r xmlns:a="http://schemas.openxmlformats.org/drawingml/2006/main">
              <a:rPr lang="en" b="1" dirty="0"/>
              <a:t>- </a:t>
            </a:r>
            <a:r xmlns:a="http://schemas.openxmlformats.org/drawingml/2006/main">
              <a:rPr lang="en" dirty="0"/>
              <a:t>Creating interactive </a:t>
            </a:r>
            <a:r xmlns:a="http://schemas.openxmlformats.org/drawingml/2006/main">
              <a:rPr lang="en" dirty="0" err="1"/>
              <a:t>dashboards </a:t>
            </a:r>
            <a:r xmlns:a="http://schemas.openxmlformats.org/drawingml/2006/main">
              <a:rPr lang="en" dirty="0"/>
              <a:t>, producing reports and advanced dashboards, dynamic dashboards for measuring performance </a:t>
            </a:r>
            <a:r xmlns:a="http://schemas.openxmlformats.org/drawingml/2006/main">
              <a:rPr lang="en" b="1" dirty="0"/>
              <a:t>.</a:t>
            </a:r>
            <a:endParaRPr xmlns:a="http://schemas.openxmlformats.org/drawingml/2006/main"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xmlns:a="http://schemas.openxmlformats.org/drawingml/2006/main"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 xmlns:a="http://schemas.openxmlformats.org/drawingml/2006/main">
              <a:rPr lang="en" dirty="0"/>
              <a:t>Role tools </a:t>
            </a:r>
            <a:r xmlns:a="http://schemas.openxmlformats.org/drawingml/2006/main">
              <a:rPr lang="en" b="1" dirty="0"/>
              <a:t>Matplotlib, Seaborn, </a:t>
            </a:r>
            <a:r xmlns:a="http://schemas.openxmlformats.org/drawingml/2006/main">
              <a:rPr lang="en" b="1" dirty="0" err="1"/>
              <a:t>Yellowbrick</a:t>
            </a:r>
            <a:r xmlns:a="http://schemas.openxmlformats.org/drawingml/2006/main">
              <a:rPr lang="en" dirty="0"/>
              <a:t> </a:t>
            </a:r>
            <a:r xmlns:a="http://schemas.openxmlformats.org/drawingml/2006/main">
              <a:rPr lang="en" dirty="0"/>
              <a:t>- Creating graphs and charts.</a:t>
            </a:r>
          </a:p>
          <a:p>
            <a:pPr xmlns:a="http://schemas.openxmlformats.org/drawingml/2006/main"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 xmlns:a="http://schemas.openxmlformats.org/drawingml/2006/main">
              <a:rPr lang="en" dirty="0"/>
              <a:t> </a:t>
            </a:r>
            <a:r xmlns:a="http://schemas.openxmlformats.org/drawingml/2006/main">
              <a:rPr lang="en" b="1" dirty="0"/>
              <a:t>Hugging Face ( </a:t>
            </a:r>
            <a:r xmlns:a="http://schemas.openxmlformats.org/drawingml/2006/main">
              <a:rPr lang="en" b="1" dirty="0" err="1"/>
              <a:t>Gradio </a:t>
            </a:r>
            <a:r xmlns:a="http://schemas.openxmlformats.org/drawingml/2006/main">
              <a:rPr lang="en" b="1" dirty="0"/>
              <a:t>)</a:t>
            </a:r>
            <a:r xmlns:a="http://schemas.openxmlformats.org/drawingml/2006/main">
              <a:rPr lang="en" dirty="0"/>
              <a:t> </a:t>
            </a:r>
            <a:r xmlns:a="http://schemas.openxmlformats.org/drawingml/2006/main">
              <a:rPr lang="en" dirty="0"/>
              <a:t>Building intuitive interfaces for models.</a:t>
            </a:r>
          </a:p>
          <a:p>
            <a:pPr xmlns:a="http://schemas.openxmlformats.org/drawingml/2006/main"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 xmlns:a="http://schemas.openxmlformats.org/drawingml/2006/main">
              <a:rPr lang="en" dirty="0"/>
              <a:t> </a:t>
            </a:r>
            <a:r xmlns:a="http://schemas.openxmlformats.org/drawingml/2006/main">
              <a:rPr lang="en" b="1" dirty="0" err="1"/>
              <a:t>ydata </a:t>
            </a:r>
            <a:r xmlns:a="http://schemas.openxmlformats.org/drawingml/2006/main">
              <a:rPr lang="en" b="1" dirty="0"/>
              <a:t>-profiling</a:t>
            </a:r>
            <a:r xmlns:a="http://schemas.openxmlformats.org/drawingml/2006/main">
              <a:rPr lang="en" dirty="0"/>
              <a:t> </a:t>
            </a:r>
            <a:r xmlns:a="http://schemas.openxmlformats.org/drawingml/2006/main">
              <a:rPr lang="en" dirty="0"/>
              <a:t>- Generating automatic reports on data.</a:t>
            </a:r>
          </a:p>
          <a:p>
            <a:pPr xmlns:a="http://schemas.openxmlformats.org/drawingml/2006/main"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 xmlns:a="http://schemas.openxmlformats.org/drawingml/2006/main">
              <a:rPr lang="en" b="1" dirty="0"/>
              <a:t>Flask</a:t>
            </a:r>
            <a:r xmlns:a="http://schemas.openxmlformats.org/drawingml/2006/main">
              <a:rPr lang="en" dirty="0"/>
              <a:t> </a:t>
            </a:r>
            <a:r xmlns:a="http://schemas.openxmlformats.org/drawingml/2006/main">
              <a:rPr lang="en" dirty="0"/>
              <a:t>- Implementing models in organizational work processes.</a:t>
            </a:r>
          </a:p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xmlns:a="http://schemas.openxmlformats.org/drawingml/2006/main" algn="ctr"/>
            <a:r xmlns:a="http://schemas.openxmlformats.org/drawingml/2006/main">
              <a:rPr lang="en" b="1" dirty="0" err="1"/>
              <a:t>CatBoost </a:t>
            </a:r>
            <a:r xmlns:a="http://schemas.openxmlformats.org/drawingml/2006/main">
              <a:rPr lang="en" dirty="0"/>
              <a:t>: </a:t>
            </a:r>
            <a:r xmlns:a="http://schemas.openxmlformats.org/drawingml/2006/main">
              <a:rPr lang="en" dirty="0"/>
              <a:t>- Handling of categorical features and resistance to overfitting.</a:t>
            </a:r>
          </a:p>
          <a:p>
            <a:pPr xmlns:a="http://schemas.openxmlformats.org/drawingml/2006/main" algn="ctr"/>
            <a:r xmlns:a="http://schemas.openxmlformats.org/drawingml/2006/main">
              <a:rPr lang="en" b="1" dirty="0" err="1"/>
              <a:t>XGBoost </a:t>
            </a:r>
            <a:r xmlns:a="http://schemas.openxmlformats.org/drawingml/2006/main">
              <a:rPr lang="en" b="1" dirty="0"/>
              <a:t>&amp; </a:t>
            </a:r>
            <a:r xmlns:a="http://schemas.openxmlformats.org/drawingml/2006/main">
              <a:rPr lang="en" b="1" dirty="0" err="1"/>
              <a:t>LightGBM </a:t>
            </a:r>
            <a:r xmlns:a="http://schemas.openxmlformats.org/drawingml/2006/main">
              <a:rPr lang="en" dirty="0"/>
              <a:t>: </a:t>
            </a:r>
            <a:r xmlns:a="http://schemas.openxmlformats.org/drawingml/2006/main">
              <a:rPr lang="en" dirty="0"/>
              <a:t>- Speed and performance with large datasets.</a:t>
            </a:r>
          </a:p>
          <a:p>
            <a:pPr xmlns:a="http://schemas.openxmlformats.org/drawingml/2006/main" algn="ctr"/>
            <a:r xmlns:a="http://schemas.openxmlformats.org/drawingml/2006/main">
              <a:rPr lang="en" b="1" dirty="0"/>
              <a:t>Extra Trees Classifier </a:t>
            </a:r>
            <a:r xmlns:a="http://schemas.openxmlformats.org/drawingml/2006/main">
              <a:rPr lang="en" dirty="0"/>
              <a:t>: </a:t>
            </a:r>
            <a:r xmlns:a="http://schemas.openxmlformats.org/drawingml/2006/main">
              <a:rPr lang="en" dirty="0"/>
              <a:t>- Improved generalization ability.</a:t>
            </a:r>
          </a:p>
          <a:p>
            <a:pPr xmlns:a="http://schemas.openxmlformats.org/drawingml/2006/main" algn="ctr"/>
            <a:r xmlns:a="http://schemas.openxmlformats.org/drawingml/2006/main">
              <a:rPr lang="en" b="1" dirty="0" err="1"/>
              <a:t>TabNet </a:t>
            </a:r>
            <a:r xmlns:a="http://schemas.openxmlformats.org/drawingml/2006/main">
              <a:rPr lang="en" dirty="0"/>
              <a:t>: </a:t>
            </a:r>
            <a:r xmlns:a="http://schemas.openxmlformats.org/drawingml/2006/main">
              <a:rPr lang="en" dirty="0"/>
              <a:t>- Identifying </a:t>
            </a:r>
            <a:r xmlns:a="http://schemas.openxmlformats.org/drawingml/2006/main">
              <a:rPr lang="en" dirty="0" err="1"/>
              <a:t>and refining </a:t>
            </a:r>
            <a:r xmlns:a="http://schemas.openxmlformats.org/drawingml/2006/main">
              <a:rPr lang="en" dirty="0"/>
              <a:t>key features.</a:t>
            </a:r>
          </a:p>
          <a:p>
            <a:pPr xmlns:a="http://schemas.openxmlformats.org/drawingml/2006/main" algn="ctr"/>
            <a:r xmlns:a="http://schemas.openxmlformats.org/drawingml/2006/main">
              <a:rPr lang="en" b="1" dirty="0"/>
              <a:t>Optuna </a:t>
            </a:r>
            <a:r xmlns:a="http://schemas.openxmlformats.org/drawingml/2006/main">
              <a:rPr lang="en" dirty="0"/>
              <a:t>: </a:t>
            </a:r>
            <a:r xmlns:a="http://schemas.openxmlformats.org/drawingml/2006/main">
              <a:rPr lang="en" dirty="0"/>
              <a:t>- Automatic optimization of </a:t>
            </a:r>
            <a:r xmlns:a="http://schemas.openxmlformats.org/drawingml/2006/main">
              <a:rPr lang="en" dirty="0" err="1"/>
              <a:t>hyperparameters </a:t>
            </a:r>
            <a:r xmlns:a="http://schemas.openxmlformats.org/drawingml/2006/main">
              <a:rPr lang="en" dirty="0"/>
              <a:t>.</a:t>
            </a:r>
          </a:p>
          <a:p>
            <a:pPr algn="ctr"/>
            <a:endParaRPr lang="he-IL" dirty="0"/>
          </a:p>
          <a:p>
            <a:pPr xmlns:a="http://schemas.openxmlformats.org/drawingml/2006/main" algn="ctr"/>
            <a:r xmlns:a="http://schemas.openxmlformats.org/drawingml/2006/main">
              <a:rPr lang="en" b="1" dirty="0" err="1"/>
              <a:t>CatBoost </a:t>
            </a:r>
            <a:r xmlns:a="http://schemas.openxmlformats.org/drawingml/2006/main">
              <a:rPr lang="en" b="1" dirty="0"/>
              <a:t>Model </a:t>
            </a:r>
            <a:r xmlns:a="http://schemas.openxmlformats.org/drawingml/2006/main">
              <a:rPr lang="en" b="1" dirty="0"/>
              <a:t>– </a:t>
            </a:r>
            <a:r xmlns:a="http://schemas.openxmlformats.org/drawingml/2006/main">
              <a:rPr lang="en" b="1" dirty="0"/>
              <a:t>Key Points –</a:t>
            </a:r>
          </a:p>
          <a:p>
            <a:pPr xmlns:a="http://schemas.openxmlformats.org/drawingml/2006/main" algn="ctr"/>
            <a:r xmlns:a="http://schemas.openxmlformats.org/drawingml/2006/main">
              <a:rPr lang="en" b="1" dirty="0"/>
              <a:t>Specializes in handling categorical features </a:t>
            </a:r>
            <a:r xmlns:a="http://schemas.openxmlformats.org/drawingml/2006/main">
              <a:rPr lang="en" dirty="0"/>
              <a:t>without the need for prior coding </a:t>
            </a:r>
            <a:r xmlns:a="http://schemas.openxmlformats.org/drawingml/2006/main">
              <a:rPr lang="en" dirty="0"/>
              <a:t>.</a:t>
            </a:r>
          </a:p>
          <a:p>
            <a:pPr xmlns:a="http://schemas.openxmlformats.org/drawingml/2006/main" algn="ctr"/>
            <a:r xmlns:a="http://schemas.openxmlformats.org/drawingml/2006/main">
              <a:rPr lang="en" b="1" dirty="0"/>
              <a:t>Resistant to overfitting</a:t>
            </a:r>
            <a:r xmlns:a="http://schemas.openxmlformats.org/drawingml/2006/main">
              <a:rPr lang="en" dirty="0"/>
              <a:t> </a:t>
            </a:r>
            <a:endParaRPr xmlns:a="http://schemas.openxmlformats.org/drawingml/2006/main" lang="en" dirty="0"/>
          </a:p>
          <a:p>
            <a:pPr xmlns:a="http://schemas.openxmlformats.org/drawingml/2006/main" algn="ctr"/>
            <a:r xmlns:a="http://schemas.openxmlformats.org/drawingml/2006/main">
              <a:rPr lang="en" sz="1400" b="1" dirty="0">
                <a:solidFill>
                  <a:srgbClr val="FF0000"/>
                </a:solidFill>
              </a:rPr>
              <a:t>Innovative techniques:</a:t>
            </a:r>
          </a:p>
          <a:p>
            <a:pPr xmlns:a="http://schemas.openxmlformats.org/drawingml/2006/main" algn="ctr"/>
            <a:r xmlns:a="http://schemas.openxmlformats.org/drawingml/2006/main">
              <a:rPr lang="en" b="1" dirty="0"/>
              <a:t>Ordered Boosting </a:t>
            </a:r>
            <a:r xmlns:a="http://schemas.openxmlformats.org/drawingml/2006/main">
              <a:rPr lang="en" dirty="0"/>
              <a:t>– </a:t>
            </a:r>
            <a:r xmlns:a="http://schemas.openxmlformats.org/drawingml/2006/main">
              <a:rPr lang="en" dirty="0"/>
              <a:t>improves prediction accuracy </a:t>
            </a:r>
            <a:r xmlns:a="http://schemas.openxmlformats.org/drawingml/2006/main">
              <a:rPr lang="en" dirty="0"/>
              <a:t>.</a:t>
            </a:r>
          </a:p>
          <a:p>
            <a:pPr xmlns:a="http://schemas.openxmlformats.org/drawingml/2006/main" lvl="1" algn="ctr"/>
            <a:r xmlns:a="http://schemas.openxmlformats.org/drawingml/2006/main">
              <a:rPr lang="en" b="1" dirty="0"/>
              <a:t>Ordered Target Statistics </a:t>
            </a:r>
            <a:r xmlns:a="http://schemas.openxmlformats.org/drawingml/2006/main">
              <a:rPr lang="en" dirty="0"/>
              <a:t>– </a:t>
            </a:r>
            <a:r xmlns:a="http://schemas.openxmlformats.org/drawingml/2006/main">
              <a:rPr lang="en" dirty="0"/>
              <a:t>reduces noise in data.</a:t>
            </a:r>
          </a:p>
          <a:p>
            <a:pPr xmlns:a="http://schemas.openxmlformats.org/drawingml/2006/main" algn="ctr"/>
            <a:r xmlns:a="http://schemas.openxmlformats.org/drawingml/2006/main">
              <a:rPr lang="en" b="1" dirty="0"/>
              <a:t>Key advantages </a:t>
            </a:r>
            <a:r xmlns:a="http://schemas.openxmlformats.org/drawingml/2006/main">
              <a:rPr lang="en" dirty="0"/>
              <a:t>:</a:t>
            </a:r>
          </a:p>
          <a:p>
            <a:pPr xmlns:a="http://schemas.openxmlformats.org/drawingml/2006/main" lvl="1" algn="ctr"/>
            <a:r xmlns:a="http://schemas.openxmlformats.org/drawingml/2006/main">
              <a:rPr lang="en" dirty="0"/>
              <a:t>High prediction accuracy, even with complex data sets.</a:t>
            </a:r>
          </a:p>
          <a:p>
            <a:pPr xmlns:a="http://schemas.openxmlformats.org/drawingml/2006/main" lvl="1" algn="ctr"/>
            <a:r xmlns:a="http://schemas.openxmlformats.org/drawingml/2006/main">
              <a:rPr lang="en" dirty="0"/>
              <a:t>Resilience to problems such as missing values or unbalanced features.</a:t>
            </a:r>
          </a:p>
          <a:p>
            <a:pPr xmlns:a="http://schemas.openxmlformats.org/drawingml/2006/main" algn="ctr"/>
            <a:r xmlns:a="http://schemas.openxmlformats.org/drawingml/2006/main">
              <a:rPr lang="en" b="1" dirty="0"/>
              <a:t>Project use </a:t>
            </a:r>
            <a:r xmlns:a="http://schemas.openxmlformats.org/drawingml/2006/main">
              <a:rPr lang="en" dirty="0"/>
              <a:t>:</a:t>
            </a:r>
          </a:p>
          <a:p>
            <a:pPr xmlns:a="http://schemas.openxmlformats.org/drawingml/2006/main" lvl="1" algn="ctr"/>
            <a:r xmlns:a="http://schemas.openxmlformats.org/drawingml/2006/main">
              <a:rPr lang="en" dirty="0"/>
              <a:t>Chosen for its ability to provide accurate and reliable forecasts.</a:t>
            </a:r>
          </a:p>
          <a:p>
            <a:pPr xmlns:a="http://schemas.openxmlformats.org/drawingml/2006/main" lvl="1" algn="ctr"/>
            <a:r xmlns:a="http://schemas.openxmlformats.org/drawingml/2006/main">
              <a:rPr lang="en" dirty="0"/>
              <a:t>It is </a:t>
            </a:r>
            <a:r xmlns:a="http://schemas.openxmlformats.org/drawingml/2006/main">
              <a:rPr lang="en" b="1" dirty="0"/>
              <a:t>a key tool </a:t>
            </a:r>
            <a:r xmlns:a="http://schemas.openxmlformats.org/drawingml/2006/main">
              <a:rPr lang="en" dirty="0"/>
              <a:t>for predicting cyber threats.</a:t>
            </a:r>
          </a:p>
          <a:p>
            <a:pPr algn="ctr"/>
            <a:endParaRPr lang="he-IL" dirty="0"/>
          </a:p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245E9-F147-CD37-1793-56761C08E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493542-1E99-2E92-0F70-329D5B292C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AA45E9-C00A-2D5D-E729-5FFA34F1B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B8E481-E360-B912-569D-376BCB0E53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169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huggingface.co/spaces/sahar-yaccov/Microsoft-Type-Attack" TargetMode="External"/><Relationship Id="rId13" Type="http://schemas.openxmlformats.org/officeDocument/2006/relationships/image" Target="../media/image21.png"/><Relationship Id="rId18" Type="http://schemas.openxmlformats.org/officeDocument/2006/relationships/hyperlink" Target="https://colab.research.google.com/drive/1_VcG-HvtXihENWJ1fWx-U91AwFp6KmUR?usp=sharing" TargetMode="External"/><Relationship Id="rId26" Type="http://schemas.openxmlformats.org/officeDocument/2006/relationships/hyperlink" Target="https://public.tableau.com/app/profile/sahar.yacoov/viz/_19_7/Dashboard1" TargetMode="External"/><Relationship Id="rId3" Type="http://schemas.openxmlformats.org/officeDocument/2006/relationships/image" Target="../media/image9.png"/><Relationship Id="rId21" Type="http://schemas.openxmlformats.org/officeDocument/2006/relationships/image" Target="../media/image25.png"/><Relationship Id="rId7" Type="http://schemas.openxmlformats.org/officeDocument/2006/relationships/image" Target="../media/image18.png"/><Relationship Id="rId12" Type="http://schemas.openxmlformats.org/officeDocument/2006/relationships/hyperlink" Target="https://app.powerbi.com/groups/me/reports/201e1116-caa0-4aff-b77f-1edd2d736985/67dae8b95800ab9a6403?ctid=748f780a-24aa-46e4-98bb-d7852c9a5fec&amp;experience=power-bi" TargetMode="External"/><Relationship Id="rId17" Type="http://schemas.openxmlformats.org/officeDocument/2006/relationships/image" Target="../media/image23.png"/><Relationship Id="rId25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6" Type="http://schemas.openxmlformats.org/officeDocument/2006/relationships/hyperlink" Target="https://analysis.funnel.io/dashboards/qBhx1pO0VGVeC2irsFpexV" TargetMode="External"/><Relationship Id="rId20" Type="http://schemas.openxmlformats.org/officeDocument/2006/relationships/hyperlink" Target="https://colab.research.google.com/drive/1iV5HzlPEduqu1VsxM0ieArOFICZZNNgf" TargetMode="External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huggingface.co/spaces/sahar-yaccov/Microsoft-Attack" TargetMode="External"/><Relationship Id="rId11" Type="http://schemas.openxmlformats.org/officeDocument/2006/relationships/image" Target="../media/image20.png"/><Relationship Id="rId24" Type="http://schemas.openxmlformats.org/officeDocument/2006/relationships/hyperlink" Target="https://docs.google.com/spreadsheets/d/1l90t8_W-ONJ2Wz4msPEY7h-4dhggCJ8_/edit?gid=474301616#gid=474301616" TargetMode="External"/><Relationship Id="rId5" Type="http://schemas.openxmlformats.org/officeDocument/2006/relationships/image" Target="../media/image17.png"/><Relationship Id="rId15" Type="http://schemas.openxmlformats.org/officeDocument/2006/relationships/image" Target="../media/image22.png"/><Relationship Id="rId23" Type="http://schemas.openxmlformats.org/officeDocument/2006/relationships/image" Target="../media/image26.png"/><Relationship Id="rId28" Type="http://schemas.openxmlformats.org/officeDocument/2006/relationships/image" Target="../media/image28.png"/><Relationship Id="rId10" Type="http://schemas.openxmlformats.org/officeDocument/2006/relationships/hyperlink" Target="https://public.tableau.com/app/profile/bar.cohen4006/viz/Book1_17535246082780/Dashboard1" TargetMode="External"/><Relationship Id="rId19" Type="http://schemas.openxmlformats.org/officeDocument/2006/relationships/image" Target="../media/image24.png"/><Relationship Id="rId4" Type="http://schemas.openxmlformats.org/officeDocument/2006/relationships/hyperlink" Target="https://huggingface.co/spaces/sahar-yaccov/microsoft-cyber-attack" TargetMode="External"/><Relationship Id="rId9" Type="http://schemas.openxmlformats.org/officeDocument/2006/relationships/image" Target="../media/image19.png"/><Relationship Id="rId14" Type="http://schemas.openxmlformats.org/officeDocument/2006/relationships/hyperlink" Target="https://lookerstudio.google.com/u/0/reporting/4a5ccff8-7e3e-4821-a2ed-9e0660eaf417" TargetMode="External"/><Relationship Id="rId22" Type="http://schemas.openxmlformats.org/officeDocument/2006/relationships/hyperlink" Target="https://yvcstudents-my.sharepoint.com/:x:/r/personal/314741851_students_yvc_ac_il/_layouts/15/Doc.aspx?sourcedoc=%7B61D19296-267D-4630-AC6D-19C23C48DE6F%7D&amp;file=Merged_Bulletin_Data.xlsx&amp;action=default&amp;mobileredirect=true" TargetMode="External"/><Relationship Id="rId27" Type="http://schemas.openxmlformats.org/officeDocument/2006/relationships/hyperlink" Target="https://github.com/ss331144/FinalProject-MSFT-AttackAnalysi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79142" y="1176650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xmlns:a="http://schemas.openxmlformats.org/drawingml/2006/main">
              <a:lnSpc>
                <a:spcPts val="4850"/>
              </a:lnSpc>
            </a:pPr>
            <a:r xmlns:a="http://schemas.openxmlformats.org/drawingml/2006/main">
              <a:rPr lang="en" sz="3200" dirty="0">
                <a:solidFill>
                  <a:schemeClr val="bg1"/>
                </a:solidFill>
              </a:rPr>
              <a:t>Final project motivation video – predicting cyber attacks</a:t>
            </a:r>
            <a:endParaRPr xmlns:a="http://schemas.openxmlformats.org/drawingml/2006/main" lang="en-US" sz="5400" dirty="0">
              <a:solidFill>
                <a:schemeClr val="bg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1285103" y="2430253"/>
            <a:ext cx="7250460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xmlns:a="http://schemas.openxmlformats.org/drawingml/2006/main">
              <a:lnSpc>
                <a:spcPts val="2500"/>
              </a:lnSpc>
            </a:pPr>
            <a:r xmlns:a="http://schemas.openxmlformats.org/drawingml/2006/main">
              <a:rPr lang="en" dirty="0">
                <a:solidFill>
                  <a:schemeClr val="bg1"/>
                </a:solidFill>
              </a:rPr>
              <a:t>This presentation systematically describes the main components and processes of our cybersecurity threat prediction project, ensuring clarity and a logical flow of information for technical stakeholders and product teams.</a:t>
            </a:r>
            <a:endParaRPr xmlns:a="http://schemas.openxmlformats.org/drawingml/2006/main" lang="en-US" sz="1550" dirty="0">
              <a:solidFill>
                <a:schemeClr val="bg1"/>
              </a:solidFill>
            </a:endParaRP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CF5F5D6E-AF8B-0690-4A83-5B834A40E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265" y="3683856"/>
            <a:ext cx="3112087" cy="311208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0BC5CD4F-0301-27CE-29B6-FC1D3691D0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5045" r="1604"/>
          <a:stretch>
            <a:fillRect/>
          </a:stretch>
        </p:blipFill>
        <p:spPr>
          <a:xfrm>
            <a:off x="9062043" y="0"/>
            <a:ext cx="5568357" cy="82296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7DD00D-0521-7CB0-3ABE-92E71E963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ideo_with_subs_he">
            <a:hlinkClick r:id="" action="ppaction://media"/>
            <a:extLst>
              <a:ext uri="{FF2B5EF4-FFF2-40B4-BE49-F238E27FC236}">
                <a16:creationId xmlns:a16="http://schemas.microsoft.com/office/drawing/2014/main" id="{33C37ABF-87F5-F39D-D4B8-E6520CD5617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428664" y="439270"/>
            <a:ext cx="9502363" cy="735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134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05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16399" y="1001911"/>
            <a:ext cx="13197602" cy="559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xmlns:a="http://schemas.openxmlformats.org/drawingml/2006/main" marL="0" indent="0">
              <a:lnSpc>
                <a:spcPts val="4400"/>
              </a:lnSpc>
              <a:buNone/>
            </a:pPr>
            <a:r xmlns:a="http://schemas.openxmlformats.org/drawingml/2006/main">
              <a:rPr lang="en" sz="35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 integration</a:t>
            </a:r>
            <a:endParaRPr xmlns:a="http://schemas.openxmlformats.org/drawingml/2006/main"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716399" y="1830229"/>
            <a:ext cx="13197602" cy="572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xmlns:a="http://schemas.openxmlformats.org/drawingml/2006/main">
              <a:lnSpc>
                <a:spcPts val="2250"/>
              </a:lnSpc>
            </a:pPr>
            <a:r xmlns:a="http://schemas.openxmlformats.org/drawingml/2006/main">
              <a:rPr lang="en" sz="1400" dirty="0">
                <a:solidFill>
                  <a:schemeClr val="bg1"/>
                </a:solidFill>
              </a:rPr>
              <a:t>project </a:t>
            </a:r>
            <a:r xmlns:a="http://schemas.openxmlformats.org/drawingml/2006/main">
              <a:rPr lang="en" dirty="0">
                <a:solidFill>
                  <a:schemeClr val="bg1"/>
                </a:solidFill>
              </a:rPr>
              <a:t>relied on a carefully selected suite of data storage, management, and analytics platforms. This infrastructure was designed for flexibility, scalability, and collaborative efficiency, essential for handling diverse cybersecurity threat data.</a:t>
            </a:r>
            <a:endParaRPr xmlns:a="http://schemas.openxmlformats.org/drawingml/2006/main" lang="en-US" sz="14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716399" y="2873216"/>
            <a:ext cx="4279821" cy="2469356"/>
          </a:xfrm>
          <a:prstGeom prst="roundRect">
            <a:avLst>
              <a:gd name="adj" fmla="val 4444"/>
            </a:avLst>
          </a:prstGeom>
          <a:solidFill>
            <a:srgbClr val="2A2A2D">
              <a:alpha val="95000"/>
            </a:srgbClr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399" y="2850356"/>
            <a:ext cx="4279821" cy="9144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7645" y="2604611"/>
            <a:ext cx="537329" cy="53732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48855" y="2738914"/>
            <a:ext cx="214908" cy="268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xmlns:a="http://schemas.openxmlformats.org/drawingml/2006/main" marL="0" indent="0">
              <a:lnSpc>
                <a:spcPts val="2700"/>
              </a:lnSpc>
              <a:buNone/>
            </a:pPr>
            <a:r xmlns:a="http://schemas.openxmlformats.org/drawingml/2006/main">
              <a:rPr lang="en" sz="16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xmlns:a="http://schemas.openxmlformats.org/drawingml/2006/main"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918329" y="3321010"/>
            <a:ext cx="2238970" cy="279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xmlns:a="http://schemas.openxmlformats.org/drawingml/2006/main" marL="0" indent="0" algn="l">
              <a:lnSpc>
                <a:spcPts val="2200"/>
              </a:lnSpc>
              <a:buNone/>
            </a:pPr>
            <a:r xmlns:a="http://schemas.openxmlformats.org/drawingml/2006/main">
              <a:rPr lang="en" sz="17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MongoDB</a:t>
            </a:r>
            <a:endParaRPr xmlns:a="http://schemas.openxmlformats.org/drawingml/2006/main"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918329" y="3708321"/>
            <a:ext cx="3875961" cy="1432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xmlns:a="http://schemas.openxmlformats.org/drawingml/2006/main">
              <a:lnSpc>
                <a:spcPts val="2250"/>
              </a:lnSpc>
            </a:pPr>
            <a:r xmlns:a="http://schemas.openxmlformats.org/drawingml/2006/main">
              <a:rPr lang="en" dirty="0">
                <a:solidFill>
                  <a:schemeClr val="bg1"/>
                </a:solidFill>
              </a:rPr>
              <a:t>MongoDB, known for its </a:t>
            </a:r>
            <a:r xmlns:a="http://schemas.openxmlformats.org/drawingml/2006/main">
              <a:rPr lang="en" dirty="0">
                <a:solidFill>
                  <a:schemeClr val="bg1"/>
                </a:solidFill>
              </a:rPr>
              <a:t>NoSQL </a:t>
            </a:r>
            <a:r xmlns:a="http://schemas.openxmlformats.org/drawingml/2006/main">
              <a:rPr lang="en" dirty="0">
                <a:solidFill>
                  <a:schemeClr val="bg1"/>
                </a:solidFill>
              </a:rPr>
              <a:t>capabilities </a:t>
            </a:r>
            <a:r xmlns:a="http://schemas.openxmlformats.org/drawingml/2006/main">
              <a:rPr lang="en" dirty="0">
                <a:solidFill>
                  <a:schemeClr val="bg1"/>
                </a:solidFill>
              </a:rPr>
              <a:t>, provides storage flexibility.</a:t>
            </a:r>
            <a:endParaRPr xmlns:a="http://schemas.openxmlformats.org/drawingml/2006/main" lang="en-US" sz="1400" dirty="0">
              <a:solidFill>
                <a:schemeClr val="bg1"/>
              </a:solidFill>
            </a:endParaRPr>
          </a:p>
        </p:txBody>
      </p:sp>
      <p:sp>
        <p:nvSpPr>
          <p:cNvPr id="11" name="Shape 7"/>
          <p:cNvSpPr/>
          <p:nvPr/>
        </p:nvSpPr>
        <p:spPr>
          <a:xfrm>
            <a:off x="5175290" y="2873216"/>
            <a:ext cx="4279821" cy="2469356"/>
          </a:xfrm>
          <a:prstGeom prst="roundRect">
            <a:avLst>
              <a:gd name="adj" fmla="val 4444"/>
            </a:avLst>
          </a:prstGeom>
          <a:solidFill>
            <a:srgbClr val="2A2A2D">
              <a:alpha val="95000"/>
            </a:srgbClr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290" y="2850356"/>
            <a:ext cx="4279821" cy="91440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6535" y="2604611"/>
            <a:ext cx="537329" cy="53732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207746" y="2738914"/>
            <a:ext cx="214908" cy="268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xmlns:a="http://schemas.openxmlformats.org/drawingml/2006/main" marL="0" indent="0">
              <a:lnSpc>
                <a:spcPts val="2700"/>
              </a:lnSpc>
              <a:buNone/>
            </a:pPr>
            <a:r xmlns:a="http://schemas.openxmlformats.org/drawingml/2006/main">
              <a:rPr lang="en" sz="16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xmlns:a="http://schemas.openxmlformats.org/drawingml/2006/main"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5377220" y="3321010"/>
            <a:ext cx="2238970" cy="279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xmlns:a="http://schemas.openxmlformats.org/drawingml/2006/main" marL="0" indent="0" algn="l">
              <a:lnSpc>
                <a:spcPts val="2200"/>
              </a:lnSpc>
              <a:buNone/>
            </a:pPr>
            <a:r xmlns:a="http://schemas.openxmlformats.org/drawingml/2006/main">
              <a:rPr lang="en" sz="17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MySQL</a:t>
            </a:r>
            <a:endParaRPr xmlns:a="http://schemas.openxmlformats.org/drawingml/2006/main" lang="en-US" sz="1750" dirty="0"/>
          </a:p>
        </p:txBody>
      </p:sp>
      <p:sp>
        <p:nvSpPr>
          <p:cNvPr id="16" name="Text 10"/>
          <p:cNvSpPr/>
          <p:nvPr/>
        </p:nvSpPr>
        <p:spPr>
          <a:xfrm>
            <a:off x="5377220" y="3708321"/>
            <a:ext cx="3875961" cy="1432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xmlns:a="http://schemas.openxmlformats.org/drawingml/2006/main">
              <a:lnSpc>
                <a:spcPts val="2250"/>
              </a:lnSpc>
            </a:pPr>
            <a:r xmlns:a="http://schemas.openxmlformats.org/drawingml/2006/main">
              <a:rPr lang="en" dirty="0">
                <a:solidFill>
                  <a:schemeClr val="bg1"/>
                </a:solidFill>
              </a:rPr>
              <a:t>MySQL, </a:t>
            </a:r>
            <a:r xmlns:a="http://schemas.openxmlformats.org/drawingml/2006/main">
              <a:rPr lang="en" dirty="0">
                <a:solidFill>
                  <a:schemeClr val="bg1"/>
                </a:solidFill>
              </a:rPr>
              <a:t>used for structured data, managing large data sets and enabling complex queries and relationship management for analytical consistency.</a:t>
            </a:r>
            <a:endParaRPr xmlns:a="http://schemas.openxmlformats.org/drawingml/2006/main" lang="en-US" sz="1400" dirty="0">
              <a:solidFill>
                <a:schemeClr val="bg1"/>
              </a:solidFill>
            </a:endParaRPr>
          </a:p>
        </p:txBody>
      </p:sp>
      <p:sp>
        <p:nvSpPr>
          <p:cNvPr id="17" name="Shape 11"/>
          <p:cNvSpPr/>
          <p:nvPr/>
        </p:nvSpPr>
        <p:spPr>
          <a:xfrm>
            <a:off x="9634180" y="2873216"/>
            <a:ext cx="4279821" cy="2469356"/>
          </a:xfrm>
          <a:prstGeom prst="roundRect">
            <a:avLst>
              <a:gd name="adj" fmla="val 4444"/>
            </a:avLst>
          </a:prstGeom>
          <a:solidFill>
            <a:srgbClr val="2A2A2D">
              <a:alpha val="95000"/>
            </a:srgbClr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4180" y="2850356"/>
            <a:ext cx="4279821" cy="91440"/>
          </a:xfrm>
          <a:prstGeom prst="rect">
            <a:avLst/>
          </a:prstGeom>
        </p:spPr>
      </p:pic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05426" y="2604611"/>
            <a:ext cx="537329" cy="537329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1666637" y="2738914"/>
            <a:ext cx="214908" cy="268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xmlns:a="http://schemas.openxmlformats.org/drawingml/2006/main" marL="0" indent="0">
              <a:lnSpc>
                <a:spcPts val="2700"/>
              </a:lnSpc>
              <a:buNone/>
            </a:pPr>
            <a:r xmlns:a="http://schemas.openxmlformats.org/drawingml/2006/main">
              <a:rPr lang="en" sz="16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xmlns:a="http://schemas.openxmlformats.org/drawingml/2006/main" lang="en-US" sz="1650" dirty="0"/>
          </a:p>
        </p:txBody>
      </p:sp>
      <p:sp>
        <p:nvSpPr>
          <p:cNvPr id="21" name="Text 13"/>
          <p:cNvSpPr/>
          <p:nvPr/>
        </p:nvSpPr>
        <p:spPr>
          <a:xfrm>
            <a:off x="9836110" y="3321010"/>
            <a:ext cx="2238970" cy="279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xmlns:a="http://schemas.openxmlformats.org/drawingml/2006/main" marL="0" indent="0" algn="l">
              <a:lnSpc>
                <a:spcPts val="2200"/>
              </a:lnSpc>
              <a:buNone/>
            </a:pPr>
            <a:r xmlns:a="http://schemas.openxmlformats.org/drawingml/2006/main">
              <a:rPr lang="en" sz="17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Google Sheets</a:t>
            </a:r>
            <a:endParaRPr xmlns:a="http://schemas.openxmlformats.org/drawingml/2006/main" lang="en-US" sz="1750" dirty="0"/>
          </a:p>
        </p:txBody>
      </p:sp>
      <p:sp>
        <p:nvSpPr>
          <p:cNvPr id="22" name="Text 14"/>
          <p:cNvSpPr/>
          <p:nvPr/>
        </p:nvSpPr>
        <p:spPr>
          <a:xfrm>
            <a:off x="9836110" y="3708321"/>
            <a:ext cx="3875961" cy="1432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xmlns:a="http://schemas.openxmlformats.org/drawingml/2006/main">
              <a:lnSpc>
                <a:spcPts val="2250"/>
              </a:lnSpc>
            </a:pPr>
            <a:r xmlns:a="http://schemas.openxmlformats.org/drawingml/2006/main">
              <a:rPr lang="en" dirty="0">
                <a:solidFill>
                  <a:schemeClr val="bg1"/>
                </a:solidFill>
              </a:rPr>
              <a:t>Google Sheets, </a:t>
            </a:r>
            <a:r xmlns:a="http://schemas.openxmlformats.org/drawingml/2006/main">
              <a:rPr lang="en" dirty="0">
                <a:solidFill>
                  <a:schemeClr val="bg1"/>
                </a:solidFill>
              </a:rPr>
              <a:t>used for initial data capture and real-time collaboration.</a:t>
            </a:r>
            <a:endParaRPr xmlns:a="http://schemas.openxmlformats.org/drawingml/2006/main" lang="en-US" sz="1400" dirty="0">
              <a:solidFill>
                <a:schemeClr val="bg1"/>
              </a:solidFill>
            </a:endParaRPr>
          </a:p>
        </p:txBody>
      </p:sp>
      <p:sp>
        <p:nvSpPr>
          <p:cNvPr id="23" name="Shape 15"/>
          <p:cNvSpPr/>
          <p:nvPr/>
        </p:nvSpPr>
        <p:spPr>
          <a:xfrm>
            <a:off x="716399" y="5790247"/>
            <a:ext cx="6509266" cy="1896428"/>
          </a:xfrm>
          <a:prstGeom prst="roundRect">
            <a:avLst>
              <a:gd name="adj" fmla="val 5786"/>
            </a:avLst>
          </a:prstGeom>
          <a:solidFill>
            <a:srgbClr val="2A2A2D">
              <a:alpha val="95000"/>
            </a:srgbClr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399" y="5767388"/>
            <a:ext cx="6509266" cy="91440"/>
          </a:xfrm>
          <a:prstGeom prst="rect">
            <a:avLst/>
          </a:prstGeom>
        </p:spPr>
      </p:pic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2308" y="5521642"/>
            <a:ext cx="537329" cy="537329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3863519" y="5655945"/>
            <a:ext cx="214908" cy="268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xmlns:a="http://schemas.openxmlformats.org/drawingml/2006/main" marL="0" indent="0">
              <a:lnSpc>
                <a:spcPts val="2700"/>
              </a:lnSpc>
              <a:buNone/>
            </a:pPr>
            <a:r xmlns:a="http://schemas.openxmlformats.org/drawingml/2006/main">
              <a:rPr lang="en" sz="16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</a:t>
            </a:r>
            <a:endParaRPr xmlns:a="http://schemas.openxmlformats.org/drawingml/2006/main" lang="en-US" sz="1650" dirty="0"/>
          </a:p>
        </p:txBody>
      </p:sp>
      <p:sp>
        <p:nvSpPr>
          <p:cNvPr id="27" name="Text 17"/>
          <p:cNvSpPr/>
          <p:nvPr/>
        </p:nvSpPr>
        <p:spPr>
          <a:xfrm>
            <a:off x="918329" y="6238042"/>
            <a:ext cx="2238970" cy="279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xmlns:a="http://schemas.openxmlformats.org/drawingml/2006/main" marL="0" indent="0">
              <a:lnSpc>
                <a:spcPts val="2200"/>
              </a:lnSpc>
              <a:buNone/>
            </a:pPr>
            <a:r xmlns:a="http://schemas.openxmlformats.org/drawingml/2006/main">
              <a:rPr lang="en" sz="17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OneDrive</a:t>
            </a:r>
            <a:endParaRPr xmlns:a="http://schemas.openxmlformats.org/drawingml/2006/main" lang="en-US" sz="1750" dirty="0"/>
          </a:p>
        </p:txBody>
      </p:sp>
      <p:sp>
        <p:nvSpPr>
          <p:cNvPr id="28" name="Text 18"/>
          <p:cNvSpPr/>
          <p:nvPr/>
        </p:nvSpPr>
        <p:spPr>
          <a:xfrm>
            <a:off x="918329" y="6625352"/>
            <a:ext cx="6105406" cy="859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xmlns:a="http://schemas.openxmlformats.org/drawingml/2006/main">
              <a:lnSpc>
                <a:spcPts val="2250"/>
              </a:lnSpc>
            </a:pPr>
            <a:r xmlns:a="http://schemas.openxmlformats.org/drawingml/2006/main">
              <a:rPr lang="en" dirty="0">
                <a:solidFill>
                  <a:schemeClr val="bg1"/>
                </a:solidFill>
              </a:rPr>
              <a:t>Functioned as our primary cloud storage, providing secure data backup, granular version control, and seamless file synchronization between the team, critical for project continuity and data integrity.</a:t>
            </a:r>
            <a:endParaRPr xmlns:a="http://schemas.openxmlformats.org/drawingml/2006/main" lang="en-US" sz="1400" dirty="0">
              <a:solidFill>
                <a:schemeClr val="bg1"/>
              </a:solidFill>
            </a:endParaRPr>
          </a:p>
        </p:txBody>
      </p:sp>
      <p:sp>
        <p:nvSpPr>
          <p:cNvPr id="29" name="Shape 19"/>
          <p:cNvSpPr/>
          <p:nvPr/>
        </p:nvSpPr>
        <p:spPr>
          <a:xfrm>
            <a:off x="7404735" y="5790247"/>
            <a:ext cx="6509266" cy="1896428"/>
          </a:xfrm>
          <a:prstGeom prst="roundRect">
            <a:avLst>
              <a:gd name="adj" fmla="val 5786"/>
            </a:avLst>
          </a:prstGeom>
          <a:solidFill>
            <a:srgbClr val="2A2A2D">
              <a:alpha val="95000"/>
            </a:srgbClr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4735" y="5767388"/>
            <a:ext cx="6509266" cy="91440"/>
          </a:xfrm>
          <a:prstGeom prst="rect">
            <a:avLst/>
          </a:prstGeom>
        </p:spPr>
      </p:pic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0644" y="5521642"/>
            <a:ext cx="537329" cy="537329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10551855" y="5655945"/>
            <a:ext cx="214908" cy="268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xmlns:a="http://schemas.openxmlformats.org/drawingml/2006/main" marL="0" indent="0">
              <a:lnSpc>
                <a:spcPts val="2700"/>
              </a:lnSpc>
              <a:buNone/>
            </a:pPr>
            <a:r xmlns:a="http://schemas.openxmlformats.org/drawingml/2006/main">
              <a:rPr lang="en" sz="16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5</a:t>
            </a:r>
            <a:endParaRPr xmlns:a="http://schemas.openxmlformats.org/drawingml/2006/main" lang="en-US" sz="1650" dirty="0"/>
          </a:p>
        </p:txBody>
      </p:sp>
      <p:sp>
        <p:nvSpPr>
          <p:cNvPr id="33" name="Text 21"/>
          <p:cNvSpPr/>
          <p:nvPr/>
        </p:nvSpPr>
        <p:spPr>
          <a:xfrm>
            <a:off x="7606665" y="6238042"/>
            <a:ext cx="2238970" cy="279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xmlns:a="http://schemas.openxmlformats.org/drawingml/2006/main" marL="0" indent="0">
              <a:lnSpc>
                <a:spcPts val="2200"/>
              </a:lnSpc>
              <a:buNone/>
            </a:pPr>
            <a:r xmlns:a="http://schemas.openxmlformats.org/drawingml/2006/main">
              <a:rPr lang="en" sz="17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Google Collaborate</a:t>
            </a:r>
            <a:endParaRPr xmlns:a="http://schemas.openxmlformats.org/drawingml/2006/main" lang="en-US" sz="1750" dirty="0"/>
          </a:p>
        </p:txBody>
      </p:sp>
      <p:sp>
        <p:nvSpPr>
          <p:cNvPr id="34" name="Text 22"/>
          <p:cNvSpPr/>
          <p:nvPr/>
        </p:nvSpPr>
        <p:spPr>
          <a:xfrm>
            <a:off x="7606665" y="6625352"/>
            <a:ext cx="6105406" cy="859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xmlns:a="http://schemas.openxmlformats.org/drawingml/2006/main">
              <a:lnSpc>
                <a:spcPts val="2250"/>
              </a:lnSpc>
            </a:pPr>
            <a:r xmlns:a="http://schemas.openxmlformats.org/drawingml/2006/main">
              <a:rPr lang="en" dirty="0">
                <a:solidFill>
                  <a:schemeClr val="bg1"/>
                </a:solidFill>
              </a:rPr>
              <a:t>Our cloud-based development environment, </a:t>
            </a:r>
            <a:r xmlns:a="http://schemas.openxmlformats.org/drawingml/2006/main">
              <a:rPr lang="en" dirty="0">
                <a:solidFill>
                  <a:schemeClr val="bg1"/>
                </a:solidFill>
              </a:rPr>
              <a:t>Colab , </a:t>
            </a:r>
            <a:r xmlns:a="http://schemas.openxmlformats.org/drawingml/2006/main">
              <a:rPr lang="en" dirty="0" err="1">
                <a:solidFill>
                  <a:schemeClr val="bg1"/>
                </a:solidFill>
              </a:rPr>
              <a:t>enabled efficient </a:t>
            </a:r>
            <a:r xmlns:a="http://schemas.openxmlformats.org/drawingml/2006/main">
              <a:rPr lang="en" dirty="0">
                <a:solidFill>
                  <a:schemeClr val="bg1"/>
                </a:solidFill>
              </a:rPr>
              <a:t>Python </a:t>
            </a:r>
            <a:r xmlns:a="http://schemas.openxmlformats.org/drawingml/2006/main">
              <a:rPr lang="en" dirty="0">
                <a:solidFill>
                  <a:schemeClr val="bg1"/>
                </a:solidFill>
              </a:rPr>
              <a:t>code execution </a:t>
            </a:r>
            <a:r xmlns:a="http://schemas.openxmlformats.org/drawingml/2006/main">
              <a:rPr lang="en" dirty="0">
                <a:solidFill>
                  <a:schemeClr val="bg1"/>
                </a:solidFill>
              </a:rPr>
              <a:t>, extensive data analysis, and scalable training of GPU-accelerated machine learning models </a:t>
            </a:r>
            <a:r xmlns:a="http://schemas.openxmlformats.org/drawingml/2006/main">
              <a:rPr lang="en" dirty="0">
                <a:solidFill>
                  <a:schemeClr val="bg1"/>
                </a:solidFill>
              </a:rPr>
              <a:t>.</a:t>
            </a:r>
            <a:endParaRPr xmlns:a="http://schemas.openxmlformats.org/drawingml/2006/main" lang="en-US" sz="1400" dirty="0">
              <a:solidFill>
                <a:schemeClr val="bg1"/>
              </a:solidFill>
            </a:endParaRPr>
          </a:p>
        </p:txBody>
      </p:sp>
      <p:pic>
        <p:nvPicPr>
          <p:cNvPr id="35" name="תמונה 34">
            <a:extLst>
              <a:ext uri="{FF2B5EF4-FFF2-40B4-BE49-F238E27FC236}">
                <a16:creationId xmlns:a16="http://schemas.microsoft.com/office/drawing/2014/main" id="{73F37B8D-E87D-D291-DF2F-ACAF52508C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77537" y="7549434"/>
            <a:ext cx="1852865" cy="66651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97098"/>
            <a:ext cx="552783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xmlns:a="http://schemas.openxmlformats.org/drawingml/2006/main" marL="0" indent="0" algn="l">
              <a:lnSpc>
                <a:spcPts val="2400"/>
              </a:lnSpc>
              <a:buNone/>
            </a:pPr>
            <a:r xmlns:a="http://schemas.openxmlformats.org/drawingml/2006/main">
              <a:rPr lang="en" sz="19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CHAPTER 2: VISUALIZATION &amp; INTERACTIVITY</a:t>
            </a:r>
            <a:endParaRPr xmlns:a="http://schemas.openxmlformats.org/drawingml/2006/main"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1105614"/>
            <a:ext cx="1304282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xmlns:a="http://schemas.openxmlformats.org/drawingml/2006/main" marL="0" indent="0" algn="r" defTabSz="914400" rtl="1" eaLnBrk="1" latinLnBrk="0" hangingPunct="1">
              <a:lnSpc>
                <a:spcPts val="4850"/>
              </a:lnSpc>
              <a:buNone/>
            </a:pPr>
            <a:r xmlns:a="http://schemas.openxmlformats.org/drawingml/2006/main">
              <a:rPr lang="en" sz="3900" dirty="0" err="1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Dashboards</a:t>
            </a:r>
            <a:endParaRPr xmlns:a="http://schemas.openxmlformats.org/drawingml/2006/main"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93790" y="2023348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xmlns:a="http://schemas.openxmlformats.org/drawingml/2006/main">
              <a:lnSpc>
                <a:spcPts val="2500"/>
              </a:lnSpc>
            </a:pPr>
            <a:r xmlns:a="http://schemas.openxmlformats.org/drawingml/2006/main">
              <a:rPr lang="en" dirty="0">
                <a:solidFill>
                  <a:schemeClr val="bg1"/>
                </a:solidFill>
              </a:rPr>
              <a:t>Visualizing cybersecurity threats and insights was critical for effective communication. We integrated different platforms to create dynamic, interactive dashboards and reports that turned complex data into actionable intelligence.</a:t>
            </a:r>
            <a:endParaRPr xmlns:a="http://schemas.openxmlformats.org/drawingml/2006/main" lang="en-US" sz="1550" dirty="0">
              <a:solidFill>
                <a:schemeClr val="bg1"/>
              </a:solidFill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881670"/>
            <a:ext cx="3074670" cy="1900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498026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xmlns:a="http://schemas.openxmlformats.org/drawingml/2006/main" marL="0" indent="0" algn="l">
              <a:lnSpc>
                <a:spcPts val="2400"/>
              </a:lnSpc>
              <a:buNone/>
            </a:pPr>
            <a:r xmlns:a="http://schemas.openxmlformats.org/drawingml/2006/main">
              <a:rPr lang="en" sz="19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Tableau Public</a:t>
            </a:r>
            <a:endParaRPr xmlns:a="http://schemas.openxmlformats.org/drawingml/2006/main"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793790" y="5409486"/>
            <a:ext cx="3074670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xmlns:a="http://schemas.openxmlformats.org/drawingml/2006/main">
              <a:lnSpc>
                <a:spcPts val="2500"/>
              </a:lnSpc>
            </a:pPr>
            <a:r xmlns:a="http://schemas.openxmlformats.org/drawingml/2006/main">
              <a:rPr lang="en" dirty="0">
                <a:solidFill>
                  <a:schemeClr val="bg1"/>
                </a:solidFill>
              </a:rPr>
              <a:t>Used to create interactive </a:t>
            </a:r>
            <a:r xmlns:a="http://schemas.openxmlformats.org/drawingml/2006/main">
              <a:rPr lang="en" dirty="0" err="1">
                <a:solidFill>
                  <a:schemeClr val="bg1"/>
                </a:solidFill>
              </a:rPr>
              <a:t>dashboards </a:t>
            </a:r>
            <a:r xmlns:a="http://schemas.openxmlformats.org/drawingml/2006/main">
              <a:rPr lang="en" dirty="0">
                <a:solidFill>
                  <a:schemeClr val="bg1"/>
                </a:solidFill>
              </a:rPr>
              <a:t>, for dynamic visualization of cyber threats.</a:t>
            </a:r>
            <a:endParaRPr xmlns:a="http://schemas.openxmlformats.org/drawingml/2006/main" lang="en-US" sz="1550" dirty="0">
              <a:solidFill>
                <a:schemeClr val="bg1"/>
              </a:solidFill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6467" y="2881670"/>
            <a:ext cx="3074670" cy="190023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16467" y="498026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xmlns:a="http://schemas.openxmlformats.org/drawingml/2006/main" marL="0" indent="0" algn="l">
              <a:lnSpc>
                <a:spcPts val="2400"/>
              </a:lnSpc>
              <a:buNone/>
            </a:pPr>
            <a:r xmlns:a="http://schemas.openxmlformats.org/drawingml/2006/main">
              <a:rPr lang="en" sz="19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Looker Studio</a:t>
            </a:r>
            <a:endParaRPr xmlns:a="http://schemas.openxmlformats.org/drawingml/2006/main"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4116467" y="5409486"/>
            <a:ext cx="3074670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xmlns:a="http://schemas.openxmlformats.org/drawingml/2006/main">
              <a:lnSpc>
                <a:spcPts val="2500"/>
              </a:lnSpc>
            </a:pPr>
            <a:r xmlns:a="http://schemas.openxmlformats.org/drawingml/2006/main">
              <a:rPr lang="en" dirty="0">
                <a:solidFill>
                  <a:schemeClr val="bg1"/>
                </a:solidFill>
              </a:rPr>
              <a:t>Used to produce advanced reports and dashboards with direct integration to our data sources, providing deep analytical capabilities and customizable data exploration.</a:t>
            </a:r>
            <a:endParaRPr xmlns:a="http://schemas.openxmlformats.org/drawingml/2006/main" lang="en-US" sz="1550" dirty="0">
              <a:solidFill>
                <a:schemeClr val="bg1"/>
              </a:solidFill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9144" y="2881670"/>
            <a:ext cx="3074670" cy="190023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39144" y="498026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xmlns:a="http://schemas.openxmlformats.org/drawingml/2006/main" marL="0" indent="0" algn="l">
              <a:lnSpc>
                <a:spcPts val="2400"/>
              </a:lnSpc>
              <a:buNone/>
            </a:pPr>
            <a:r xmlns:a="http://schemas.openxmlformats.org/drawingml/2006/main">
              <a:rPr lang="en" sz="19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Funnel.io</a:t>
            </a:r>
            <a:endParaRPr xmlns:a="http://schemas.openxmlformats.org/drawingml/2006/main"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7439144" y="5409486"/>
            <a:ext cx="3074670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xmlns:a="http://schemas.openxmlformats.org/drawingml/2006/main">
              <a:lnSpc>
                <a:spcPts val="2500"/>
              </a:lnSpc>
            </a:pPr>
            <a:r xmlns:a="http://schemas.openxmlformats.org/drawingml/2006/main">
              <a:rPr lang="en" dirty="0">
                <a:solidFill>
                  <a:schemeClr val="bg1"/>
                </a:solidFill>
              </a:rPr>
              <a:t>Enabled a visual display of aggregated marketing and cybersecurity data from multiple disparate sources, centralizing insights into a holistic view of campaign performance and the threat landscape.</a:t>
            </a:r>
            <a:endParaRPr xmlns:a="http://schemas.openxmlformats.org/drawingml/2006/main" lang="en-US" sz="1550" dirty="0">
              <a:solidFill>
                <a:schemeClr val="bg1"/>
              </a:solidFill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1821" y="2881670"/>
            <a:ext cx="3074789" cy="190035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761821" y="498038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xmlns:a="http://schemas.openxmlformats.org/drawingml/2006/main" marL="0" indent="0" algn="l">
              <a:lnSpc>
                <a:spcPts val="2400"/>
              </a:lnSpc>
              <a:buNone/>
            </a:pPr>
            <a:r xmlns:a="http://schemas.openxmlformats.org/drawingml/2006/main">
              <a:rPr lang="en" sz="19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Power BI</a:t>
            </a:r>
            <a:endParaRPr xmlns:a="http://schemas.openxmlformats.org/drawingml/2006/main" lang="en-US" sz="1950" dirty="0"/>
          </a:p>
        </p:txBody>
      </p:sp>
      <p:sp>
        <p:nvSpPr>
          <p:cNvPr id="16" name="Text 10"/>
          <p:cNvSpPr/>
          <p:nvPr/>
        </p:nvSpPr>
        <p:spPr>
          <a:xfrm>
            <a:off x="10761821" y="5409605"/>
            <a:ext cx="3074789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xmlns:a="http://schemas.openxmlformats.org/drawingml/2006/main">
              <a:lnSpc>
                <a:spcPts val="2500"/>
              </a:lnSpc>
            </a:pPr>
            <a:r xmlns:a="http://schemas.openxmlformats.org/drawingml/2006/main">
              <a:rPr lang="en" dirty="0">
                <a:solidFill>
                  <a:schemeClr val="bg1"/>
                </a:solidFill>
              </a:rPr>
              <a:t>Used to create highly dynamic dashboards, enabling comprehensive performance measurement, strategic decision-making, and seamless organizational integration of threat intelligence.</a:t>
            </a:r>
            <a:endParaRPr xmlns:a="http://schemas.openxmlformats.org/drawingml/2006/main" lang="en-US" sz="1550" dirty="0">
              <a:solidFill>
                <a:schemeClr val="bg1"/>
              </a:solidFill>
            </a:endParaRPr>
          </a:p>
        </p:txBody>
      </p:sp>
      <p:pic>
        <p:nvPicPr>
          <p:cNvPr id="17" name="תמונה 16">
            <a:extLst>
              <a:ext uri="{FF2B5EF4-FFF2-40B4-BE49-F238E27FC236}">
                <a16:creationId xmlns:a16="http://schemas.microsoft.com/office/drawing/2014/main" id="{B0A5D97C-B5E7-3B5F-72F4-61AA725AB7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77537" y="7549434"/>
            <a:ext cx="1852865" cy="66651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280" y="492443"/>
            <a:ext cx="5276612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xmlns:a="http://schemas.openxmlformats.org/drawingml/2006/main" marL="0" indent="0">
              <a:lnSpc>
                <a:spcPts val="2200"/>
              </a:lnSpc>
              <a:buNone/>
            </a:pPr>
            <a:r xmlns:a="http://schemas.openxmlformats.org/drawingml/2006/main">
              <a:rPr lang="en" sz="17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CHAPTER 3: DEVELOPMENT &amp; TECHNICAL CORE</a:t>
            </a:r>
            <a:endParaRPr xmlns:a="http://schemas.openxmlformats.org/drawingml/2006/main"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4066102" y="987147"/>
            <a:ext cx="9848017" cy="559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xmlns:a="http://schemas.openxmlformats.org/drawingml/2006/main" marL="0" indent="0">
              <a:lnSpc>
                <a:spcPts val="4400"/>
              </a:lnSpc>
              <a:buNone/>
            </a:pPr>
            <a:r xmlns:a="http://schemas.openxmlformats.org/drawingml/2006/main">
              <a:rPr lang="en" sz="35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Model deployment and programming</a:t>
            </a:r>
            <a:endParaRPr xmlns:a="http://schemas.openxmlformats.org/drawingml/2006/main"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716280" y="1940600"/>
            <a:ext cx="6380559" cy="1145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xmlns:a="http://schemas.openxmlformats.org/drawingml/2006/main">
              <a:lnSpc>
                <a:spcPts val="2250"/>
              </a:lnSpc>
            </a:pPr>
            <a:r xmlns:a="http://schemas.openxmlformats.org/drawingml/2006/main">
              <a:rPr lang="en" dirty="0">
                <a:solidFill>
                  <a:schemeClr val="bg1"/>
                </a:solidFill>
              </a:rPr>
              <a:t>To deploy and demonstrate our predictive models, we used robust development and interactive application platforms. These tools ensured that our solutions were not only functional but also user-friendly and easily integrated into existing workflows.</a:t>
            </a:r>
            <a:endParaRPr xmlns:a="http://schemas.openxmlformats.org/drawingml/2006/main" lang="en-US" sz="1400" dirty="0">
              <a:solidFill>
                <a:schemeClr val="bg1"/>
              </a:solidFill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80" y="3287911"/>
            <a:ext cx="6380559" cy="18911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5350" y="3466981"/>
            <a:ext cx="2350889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xmlns:a="http://schemas.openxmlformats.org/drawingml/2006/main" marL="0" indent="0">
              <a:lnSpc>
                <a:spcPts val="2200"/>
              </a:lnSpc>
              <a:buNone/>
            </a:pPr>
            <a:r xmlns:a="http://schemas.openxmlformats.org/drawingml/2006/main">
              <a:rPr lang="en" sz="17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Hugging Face (Gradio)</a:t>
            </a:r>
            <a:endParaRPr xmlns:a="http://schemas.openxmlformats.org/drawingml/2006/main"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95350" y="3925848"/>
            <a:ext cx="6022419" cy="859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xmlns:a="http://schemas.openxmlformats.org/drawingml/2006/main">
              <a:lnSpc>
                <a:spcPts val="2250"/>
              </a:lnSpc>
            </a:pPr>
            <a:r xmlns:a="http://schemas.openxmlformats.org/drawingml/2006/main">
              <a:rPr lang="en" dirty="0">
                <a:solidFill>
                  <a:schemeClr val="bg1"/>
                </a:solidFill>
              </a:rPr>
              <a:t>Essential in building intuitive web-based interfaces for our models, allowing users to effortlessly input data and receive real-time cybersecurity threat predictions.</a:t>
            </a:r>
            <a:endParaRPr xmlns:a="http://schemas.openxmlformats.org/drawingml/2006/main" lang="en-US" sz="1400" dirty="0">
              <a:solidFill>
                <a:schemeClr val="bg1"/>
              </a:solidFill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80" y="5358170"/>
            <a:ext cx="6380559" cy="217765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5350" y="5537240"/>
            <a:ext cx="2238375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xmlns:a="http://schemas.openxmlformats.org/drawingml/2006/main" marL="0" indent="0">
              <a:lnSpc>
                <a:spcPts val="2200"/>
              </a:lnSpc>
              <a:buNone/>
            </a:pPr>
            <a:r xmlns:a="http://schemas.openxmlformats.org/drawingml/2006/main">
              <a:rPr lang="en" sz="17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Flask Framework</a:t>
            </a:r>
            <a:endParaRPr xmlns:a="http://schemas.openxmlformats.org/drawingml/2006/main"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895350" y="5996107"/>
            <a:ext cx="6022419" cy="1145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xmlns:a="http://schemas.openxmlformats.org/drawingml/2006/main">
              <a:lnSpc>
                <a:spcPts val="2250"/>
              </a:lnSpc>
            </a:pPr>
            <a:r xmlns:a="http://schemas.openxmlformats.org/drawingml/2006/main">
              <a:rPr lang="en" dirty="0">
                <a:solidFill>
                  <a:schemeClr val="bg1"/>
                </a:solidFill>
              </a:rPr>
              <a:t>A lightweight </a:t>
            </a:r>
            <a:r xmlns:a="http://schemas.openxmlformats.org/drawingml/2006/main">
              <a:rPr lang="en" dirty="0">
                <a:solidFill>
                  <a:schemeClr val="bg1"/>
                </a:solidFill>
              </a:rPr>
              <a:t>Python web framework </a:t>
            </a:r>
            <a:r xmlns:a="http://schemas.openxmlformats.org/drawingml/2006/main">
              <a:rPr lang="en" dirty="0">
                <a:solidFill>
                  <a:schemeClr val="bg1"/>
                </a:solidFill>
              </a:rPr>
              <a:t>used to embed our machine learning models directly into enterprise workflows, making predictive capabilities accessible and practical for end users through a simple </a:t>
            </a:r>
            <a:r xmlns:a="http://schemas.openxmlformats.org/drawingml/2006/main">
              <a:rPr lang="en" dirty="0">
                <a:solidFill>
                  <a:schemeClr val="bg1"/>
                </a:solidFill>
              </a:rPr>
              <a:t>API </a:t>
            </a:r>
            <a:r xmlns:a="http://schemas.openxmlformats.org/drawingml/2006/main">
              <a:rPr lang="en" dirty="0">
                <a:solidFill>
                  <a:schemeClr val="bg1"/>
                </a:solidFill>
              </a:rPr>
              <a:t>.</a:t>
            </a:r>
            <a:endParaRPr xmlns:a="http://schemas.openxmlformats.org/drawingml/2006/main" lang="en-US" sz="1400" dirty="0">
              <a:solidFill>
                <a:schemeClr val="bg1"/>
              </a:solidFill>
            </a:endParaRPr>
          </a:p>
        </p:txBody>
      </p:sp>
      <p:sp>
        <p:nvSpPr>
          <p:cNvPr id="14" name="Text 10"/>
          <p:cNvSpPr/>
          <p:nvPr/>
        </p:nvSpPr>
        <p:spPr>
          <a:xfrm>
            <a:off x="7533560" y="2663154"/>
            <a:ext cx="6380559" cy="859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xmlns:a="http://schemas.openxmlformats.org/drawingml/2006/main">
              <a:lnSpc>
                <a:spcPts val="2250"/>
              </a:lnSpc>
              <a:buSzPct val="100000"/>
            </a:pPr>
            <a:r xmlns:a="http://schemas.openxmlformats.org/drawingml/2006/main">
              <a:rPr lang="en" sz="3200" dirty="0">
                <a:solidFill>
                  <a:schemeClr val="bg1"/>
                </a:solidFill>
              </a:rPr>
              <a:t>Matplotlib, Seaborn, </a:t>
            </a:r>
            <a:r xmlns:a="http://schemas.openxmlformats.org/drawingml/2006/main">
              <a:rPr lang="en" sz="3200" dirty="0" err="1">
                <a:solidFill>
                  <a:schemeClr val="bg1"/>
                </a:solidFill>
              </a:rPr>
              <a:t>Yellowbrick</a:t>
            </a:r>
            <a:endParaRPr xmlns:a="http://schemas.openxmlformats.org/drawingml/2006/main" lang="he-IL" sz="3200" dirty="0">
              <a:solidFill>
                <a:schemeClr val="bg1"/>
              </a:solidFill>
            </a:endParaRPr>
          </a:p>
          <a:p>
            <a:pPr>
              <a:lnSpc>
                <a:spcPts val="2250"/>
              </a:lnSpc>
              <a:buSzPct val="100000"/>
            </a:pPr>
            <a:endParaRPr lang="he-IL" sz="2000" dirty="0">
              <a:solidFill>
                <a:schemeClr val="bg1"/>
              </a:solidFill>
            </a:endParaRPr>
          </a:p>
          <a:p>
            <a:pPr xmlns:a="http://schemas.openxmlformats.org/drawingml/2006/main">
              <a:lnSpc>
                <a:spcPts val="2250"/>
              </a:lnSpc>
              <a:buSzPct val="100000"/>
            </a:pPr>
            <a:r xmlns:a="http://schemas.openxmlformats.org/drawingml/2006/main">
              <a:rPr lang="en" sz="2000" dirty="0">
                <a:solidFill>
                  <a:schemeClr val="bg1"/>
                </a:solidFill>
              </a:rPr>
              <a:t>Used to create detailed graphs, charts, and visual representations of data, improving exploratory analysis and model interpretation.</a:t>
            </a:r>
            <a:endParaRPr xmlns:a="http://schemas.openxmlformats.org/drawingml/2006/main" lang="en-US" sz="1600" dirty="0">
              <a:solidFill>
                <a:schemeClr val="bg1"/>
              </a:solidFill>
            </a:endParaRPr>
          </a:p>
        </p:txBody>
      </p:sp>
      <p:sp>
        <p:nvSpPr>
          <p:cNvPr id="15" name="Text 11"/>
          <p:cNvSpPr/>
          <p:nvPr/>
        </p:nvSpPr>
        <p:spPr>
          <a:xfrm>
            <a:off x="7533561" y="4928473"/>
            <a:ext cx="6380559" cy="859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xmlns:a="http://schemas.openxmlformats.org/drawingml/2006/main">
              <a:lnSpc>
                <a:spcPts val="2250"/>
              </a:lnSpc>
              <a:buSzPct val="100000"/>
            </a:pPr>
            <a:r xmlns:a="http://schemas.openxmlformats.org/drawingml/2006/main">
              <a:rPr lang="en" sz="3200" b="1" dirty="0" err="1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ydata </a:t>
            </a:r>
            <a:r xmlns:a="http://schemas.openxmlformats.org/drawingml/2006/main">
              <a:rPr lang="en" sz="3200" b="1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-profiling</a:t>
            </a:r>
            <a:endParaRPr xmlns:a="http://schemas.openxmlformats.org/drawingml/2006/main" lang="he-IL" sz="3200" b="1" dirty="0">
              <a:solidFill>
                <a:schemeClr val="bg1"/>
              </a:solidFill>
              <a:latin typeface="Instrument Sans Medium" pitchFamily="34" charset="0"/>
              <a:ea typeface="Instrument Sans Medium" pitchFamily="34" charset="-122"/>
              <a:cs typeface="Instrument Sans Medium" pitchFamily="34" charset="-120"/>
            </a:endParaRPr>
          </a:p>
          <a:p>
            <a:pPr>
              <a:lnSpc>
                <a:spcPts val="2250"/>
              </a:lnSpc>
              <a:buSzPct val="100000"/>
            </a:pPr>
            <a:endParaRPr lang="he-IL" sz="2000" dirty="0">
              <a:solidFill>
                <a:schemeClr val="bg1"/>
              </a:solidFill>
            </a:endParaRPr>
          </a:p>
          <a:p>
            <a:pPr xmlns:a="http://schemas.openxmlformats.org/drawingml/2006/main">
              <a:lnSpc>
                <a:spcPts val="2250"/>
              </a:lnSpc>
              <a:buSzPct val="100000"/>
            </a:pPr>
            <a:r xmlns:a="http://schemas.openxmlformats.org/drawingml/2006/main">
              <a:rPr lang="en" sz="2000" dirty="0">
                <a:solidFill>
                  <a:schemeClr val="bg1"/>
                </a:solidFill>
              </a:rPr>
              <a:t>Critical for generating automated and in-depth reports that included data</a:t>
            </a:r>
          </a:p>
          <a:p>
            <a:pPr xmlns:a="http://schemas.openxmlformats.org/drawingml/2006/main">
              <a:lnSpc>
                <a:spcPts val="2250"/>
              </a:lnSpc>
              <a:buSzPct val="100000"/>
            </a:pPr>
            <a:r xmlns:a="http://schemas.openxmlformats.org/drawingml/2006/main">
              <a:rPr lang="en" sz="2000" dirty="0">
                <a:solidFill>
                  <a:schemeClr val="bg1"/>
                </a:solidFill>
              </a:rPr>
              <a:t>Statistics, missing value analysis and insights into our datasets,</a:t>
            </a:r>
          </a:p>
          <a:p>
            <a:pPr xmlns:a="http://schemas.openxmlformats.org/drawingml/2006/main">
              <a:lnSpc>
                <a:spcPts val="2250"/>
              </a:lnSpc>
              <a:buSzPct val="100000"/>
            </a:pPr>
            <a:r xmlns:a="http://schemas.openxmlformats.org/drawingml/2006/main">
              <a:rPr lang="en" sz="2000" dirty="0">
                <a:solidFill>
                  <a:schemeClr val="bg1"/>
                </a:solidFill>
              </a:rPr>
              <a:t>Accelerate data understanding.</a:t>
            </a:r>
            <a:endParaRPr xmlns:a="http://schemas.openxmlformats.org/drawingml/2006/main" lang="en-US" sz="1600" dirty="0">
              <a:solidFill>
                <a:schemeClr val="bg1"/>
              </a:solidFill>
            </a:endParaRPr>
          </a:p>
        </p:txBody>
      </p:sp>
      <p:pic>
        <p:nvPicPr>
          <p:cNvPr id="16" name="תמונה 15">
            <a:extLst>
              <a:ext uri="{FF2B5EF4-FFF2-40B4-BE49-F238E27FC236}">
                <a16:creationId xmlns:a16="http://schemas.microsoft.com/office/drawing/2014/main" id="{C9E22C3D-FA68-3DB3-6D65-76DC57FEFF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77537" y="7549434"/>
            <a:ext cx="1852865" cy="66651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5195" y="537805"/>
            <a:ext cx="3314462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xmlns:a="http://schemas.openxmlformats.org/drawingml/2006/main" marL="0" indent="0" algn="l">
              <a:lnSpc>
                <a:spcPts val="1850"/>
              </a:lnSpc>
              <a:buNone/>
            </a:pPr>
            <a:r xmlns:a="http://schemas.openxmlformats.org/drawingml/2006/main">
              <a:rPr lang="en" sz="1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CHAPTER 4: ADVANCED ANALYTICS</a:t>
            </a:r>
            <a:endParaRPr xmlns:a="http://schemas.openxmlformats.org/drawingml/2006/main"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605194" y="925473"/>
            <a:ext cx="13743851" cy="472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xmlns:a="http://schemas.openxmlformats.org/drawingml/2006/main" marL="0" indent="0">
              <a:lnSpc>
                <a:spcPts val="3700"/>
              </a:lnSpc>
              <a:buNone/>
            </a:pPr>
            <a:r xmlns:a="http://schemas.openxmlformats.org/drawingml/2006/main">
              <a:rPr lang="en" sz="29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Main models</a:t>
            </a:r>
            <a:endParaRPr xmlns:a="http://schemas.openxmlformats.org/drawingml/2006/main"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05195" y="1625203"/>
            <a:ext cx="13743851" cy="1012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xmlns:a="http://schemas.openxmlformats.org/drawingml/2006/main">
              <a:lnSpc>
                <a:spcPts val="1900"/>
              </a:lnSpc>
            </a:pPr>
            <a:r xmlns:a="http://schemas.openxmlformats.org/drawingml/2006/main">
              <a:rPr lang="en" dirty="0">
                <a:solidFill>
                  <a:schemeClr val="bg1"/>
                </a:solidFill>
              </a:rPr>
              <a:t>Our cybersecurity threat prediction leveraged a diverse portfolio of advanced machine learning models, each selected for its unique strengths in handling complex data and ensuring high prediction accuracy. Parameter optimization was essential to optimize performance.</a:t>
            </a:r>
            <a:endParaRPr xmlns:a="http://schemas.openxmlformats.org/drawingml/2006/main" lang="en-US" sz="115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57189" y="2279452"/>
            <a:ext cx="1891546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xmlns:a="http://schemas.openxmlformats.org/drawingml/2006/main" marL="0" indent="0" algn="l">
              <a:lnSpc>
                <a:spcPts val="1850"/>
              </a:lnSpc>
              <a:buNone/>
            </a:pPr>
            <a:r xmlns:a="http://schemas.openxmlformats.org/drawingml/2006/main">
              <a:rPr lang="en" sz="14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CatBoost</a:t>
            </a:r>
            <a:endParaRPr xmlns:a="http://schemas.openxmlformats.org/drawingml/2006/main"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96805" y="2606635"/>
            <a:ext cx="7660334" cy="1012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xmlns:a="http://schemas.openxmlformats.org/drawingml/2006/main">
              <a:lnSpc>
                <a:spcPts val="1900"/>
              </a:lnSpc>
            </a:pPr>
            <a:r xmlns:a="http://schemas.openxmlformats.org/drawingml/2006/main">
              <a:rPr lang="en" dirty="0">
                <a:solidFill>
                  <a:schemeClr val="bg1"/>
                </a:solidFill>
              </a:rPr>
              <a:t>An ensemble learning method, specifically chosen for its original treatment of category features and resistance to overfitting, which provides high accuracy in predicting threat categories.</a:t>
            </a:r>
            <a:endParaRPr xmlns:a="http://schemas.openxmlformats.org/drawingml/2006/main" lang="en-US" sz="115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57189" y="3393281"/>
            <a:ext cx="1897737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xmlns:a="http://schemas.openxmlformats.org/drawingml/2006/main" marL="0" indent="0" algn="l">
              <a:lnSpc>
                <a:spcPts val="1850"/>
              </a:lnSpc>
              <a:buNone/>
            </a:pPr>
            <a:r xmlns:a="http://schemas.openxmlformats.org/drawingml/2006/main">
              <a:rPr lang="en" sz="14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XGBoost &amp; LightGBM</a:t>
            </a:r>
            <a:endParaRPr xmlns:a="http://schemas.openxmlformats.org/drawingml/2006/main"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96805" y="3720464"/>
            <a:ext cx="7660334" cy="506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xmlns:a="http://schemas.openxmlformats.org/drawingml/2006/main">
              <a:lnSpc>
                <a:spcPts val="1900"/>
              </a:lnSpc>
            </a:pPr>
            <a:r xmlns:a="http://schemas.openxmlformats.org/drawingml/2006/main">
              <a:rPr lang="en" dirty="0">
                <a:solidFill>
                  <a:schemeClr val="bg1"/>
                </a:solidFill>
              </a:rPr>
              <a:t>Gradient boosting frameworks known for their speed and performance with large datasets,</a:t>
            </a:r>
          </a:p>
          <a:p>
            <a:pPr xmlns:a="http://schemas.openxmlformats.org/drawingml/2006/main">
              <a:lnSpc>
                <a:spcPts val="1900"/>
              </a:lnSpc>
            </a:pPr>
            <a:r xmlns:a="http://schemas.openxmlformats.org/drawingml/2006/main">
              <a:rPr lang="en" dirty="0">
                <a:solidFill>
                  <a:schemeClr val="bg1"/>
                </a:solidFill>
              </a:rPr>
              <a:t>Providing highly accurate and effective threat prediction capabilities.</a:t>
            </a:r>
            <a:endParaRPr xmlns:a="http://schemas.openxmlformats.org/drawingml/2006/main" lang="en-US" sz="115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57189" y="4265057"/>
            <a:ext cx="1891546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xmlns:a="http://schemas.openxmlformats.org/drawingml/2006/main" marL="0" indent="0" algn="l">
              <a:lnSpc>
                <a:spcPts val="1850"/>
              </a:lnSpc>
              <a:buNone/>
            </a:pPr>
            <a:r xmlns:a="http://schemas.openxmlformats.org/drawingml/2006/main">
              <a:rPr lang="en" sz="14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Extra Trees</a:t>
            </a:r>
            <a:endParaRPr xmlns:a="http://schemas.openxmlformats.org/drawingml/2006/main"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096805" y="4592240"/>
            <a:ext cx="7660334" cy="506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xmlns:a="http://schemas.openxmlformats.org/drawingml/2006/main">
              <a:lnSpc>
                <a:spcPts val="1900"/>
              </a:lnSpc>
            </a:pPr>
            <a:r xmlns:a="http://schemas.openxmlformats.org/drawingml/2006/main">
              <a:rPr lang="en" dirty="0">
                <a:solidFill>
                  <a:schemeClr val="bg1"/>
                </a:solidFill>
              </a:rPr>
              <a:t>An ensemble technique similar to random forest, offering improved generalization capabilities and reduced variance,</a:t>
            </a:r>
          </a:p>
          <a:p>
            <a:pPr xmlns:a="http://schemas.openxmlformats.org/drawingml/2006/main">
              <a:lnSpc>
                <a:spcPts val="1900"/>
              </a:lnSpc>
            </a:pPr>
            <a:r xmlns:a="http://schemas.openxmlformats.org/drawingml/2006/main">
              <a:rPr lang="en" dirty="0">
                <a:solidFill>
                  <a:schemeClr val="bg1"/>
                </a:solidFill>
              </a:rPr>
              <a:t>Which contributes to more stable and reliable forecasts.</a:t>
            </a:r>
            <a:endParaRPr xmlns:a="http://schemas.openxmlformats.org/drawingml/2006/main" lang="en-US" sz="115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57189" y="5136833"/>
            <a:ext cx="1891546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xmlns:a="http://schemas.openxmlformats.org/drawingml/2006/main" marL="0" indent="0" algn="l">
              <a:lnSpc>
                <a:spcPts val="1850"/>
              </a:lnSpc>
              <a:buNone/>
            </a:pPr>
            <a:r xmlns:a="http://schemas.openxmlformats.org/drawingml/2006/main">
              <a:rPr lang="en" sz="14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TabNet</a:t>
            </a:r>
            <a:endParaRPr xmlns:a="http://schemas.openxmlformats.org/drawingml/2006/main"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096805" y="5464015"/>
            <a:ext cx="7660334" cy="506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xmlns:a="http://schemas.openxmlformats.org/drawingml/2006/main">
              <a:lnSpc>
                <a:spcPts val="1900"/>
              </a:lnSpc>
            </a:pPr>
            <a:r xmlns:a="http://schemas.openxmlformats.org/drawingml/2006/main">
              <a:rPr lang="en" dirty="0">
                <a:solidFill>
                  <a:schemeClr val="bg1"/>
                </a:solidFill>
              </a:rPr>
              <a:t>Modern neural network architecture adapted to tabular data, excels in interpretation ability</a:t>
            </a:r>
          </a:p>
          <a:p>
            <a:pPr xmlns:a="http://schemas.openxmlformats.org/drawingml/2006/main">
              <a:lnSpc>
                <a:spcPts val="1900"/>
              </a:lnSpc>
            </a:pPr>
            <a:r xmlns:a="http://schemas.openxmlformats.org/drawingml/2006/main">
              <a:rPr lang="en" dirty="0">
                <a:solidFill>
                  <a:schemeClr val="bg1"/>
                </a:solidFill>
              </a:rPr>
              <a:t>By identifying </a:t>
            </a:r>
            <a:r xmlns:a="http://schemas.openxmlformats.org/drawingml/2006/main">
              <a:rPr lang="en" dirty="0" err="1">
                <a:solidFill>
                  <a:schemeClr val="bg1"/>
                </a:solidFill>
              </a:rPr>
              <a:t>and optimizing </a:t>
            </a:r>
            <a:r xmlns:a="http://schemas.openxmlformats.org/drawingml/2006/main">
              <a:rPr lang="en" dirty="0">
                <a:solidFill>
                  <a:schemeClr val="bg1"/>
                </a:solidFill>
              </a:rPr>
              <a:t>key features that impact threat prediction.</a:t>
            </a:r>
            <a:endParaRPr xmlns:a="http://schemas.openxmlformats.org/drawingml/2006/main" lang="en-US" sz="115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57189" y="6008608"/>
            <a:ext cx="1891546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xmlns:a="http://schemas.openxmlformats.org/drawingml/2006/main" marL="0" indent="0" algn="l">
              <a:lnSpc>
                <a:spcPts val="1850"/>
              </a:lnSpc>
              <a:buNone/>
            </a:pPr>
            <a:r xmlns:a="http://schemas.openxmlformats.org/drawingml/2006/main">
              <a:rPr lang="en" sz="14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Random Forest</a:t>
            </a:r>
            <a:endParaRPr xmlns:a="http://schemas.openxmlformats.org/drawingml/2006/main"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96804" y="6335792"/>
            <a:ext cx="7660334" cy="48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xmlns:a="http://schemas.openxmlformats.org/drawingml/2006/main">
              <a:lnSpc>
                <a:spcPts val="1900"/>
              </a:lnSpc>
            </a:pPr>
            <a:r xmlns:a="http://schemas.openxmlformats.org/drawingml/2006/main">
              <a:rPr lang="en" dirty="0">
                <a:solidFill>
                  <a:schemeClr val="bg1"/>
                </a:solidFill>
              </a:rPr>
              <a:t>A versatile ensemble model, efficient in handling multidimensional data and very powerful for classification and regression tasks, used for basic prediction and feature importance analysis.</a:t>
            </a:r>
            <a:endParaRPr xmlns:a="http://schemas.openxmlformats.org/drawingml/2006/main" lang="en-US" sz="115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7189" y="7122438"/>
            <a:ext cx="1891546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xmlns:a="http://schemas.openxmlformats.org/drawingml/2006/main" marL="0" indent="0" algn="l">
              <a:lnSpc>
                <a:spcPts val="1850"/>
              </a:lnSpc>
              <a:buNone/>
            </a:pPr>
            <a:r xmlns:a="http://schemas.openxmlformats.org/drawingml/2006/main">
              <a:rPr lang="en" sz="14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Optuna</a:t>
            </a:r>
            <a:endParaRPr xmlns:a="http://schemas.openxmlformats.org/drawingml/2006/main"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096804" y="7449621"/>
            <a:ext cx="7660334" cy="506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xmlns:a="http://schemas.openxmlformats.org/drawingml/2006/main">
              <a:lnSpc>
                <a:spcPts val="1900"/>
              </a:lnSpc>
            </a:pPr>
            <a:r xmlns:a="http://schemas.openxmlformats.org/drawingml/2006/main">
              <a:rPr lang="en" dirty="0">
                <a:solidFill>
                  <a:schemeClr val="bg1"/>
                </a:solidFill>
              </a:rPr>
              <a:t>significantly improved automated </a:t>
            </a:r>
            <a:r xmlns:a="http://schemas.openxmlformats.org/drawingml/2006/main">
              <a:rPr lang="en" dirty="0" err="1">
                <a:solidFill>
                  <a:schemeClr val="bg1"/>
                </a:solidFill>
              </a:rPr>
              <a:t>hyperparameter </a:t>
            </a:r>
            <a:r xmlns:a="http://schemas.openxmlformats.org/drawingml/2006/main">
              <a:rPr lang="en" dirty="0">
                <a:solidFill>
                  <a:schemeClr val="bg1"/>
                </a:solidFill>
              </a:rPr>
              <a:t>optimization framework</a:t>
            </a:r>
          </a:p>
          <a:p>
            <a:pPr xmlns:a="http://schemas.openxmlformats.org/drawingml/2006/main">
              <a:lnSpc>
                <a:spcPts val="1900"/>
              </a:lnSpc>
            </a:pPr>
            <a:r xmlns:a="http://schemas.openxmlformats.org/drawingml/2006/main">
              <a:rPr lang="en" dirty="0">
                <a:solidFill>
                  <a:schemeClr val="bg1"/>
                </a:solidFill>
              </a:rPr>
              <a:t>The model performance by efficiently searching for optimal configurations across different algorithms.</a:t>
            </a:r>
            <a:endParaRPr xmlns:a="http://schemas.openxmlformats.org/drawingml/2006/main" lang="en-US" sz="1150" dirty="0">
              <a:solidFill>
                <a:schemeClr val="bg1"/>
              </a:solidFill>
            </a:endParaRPr>
          </a:p>
        </p:txBody>
      </p:sp>
      <p:pic>
        <p:nvPicPr>
          <p:cNvPr id="17" name="תמונה 16">
            <a:extLst>
              <a:ext uri="{FF2B5EF4-FFF2-40B4-BE49-F238E27FC236}">
                <a16:creationId xmlns:a16="http://schemas.microsoft.com/office/drawing/2014/main" id="{88BEC4EB-1176-9CB4-2529-6F20ABC8F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7537" y="7549434"/>
            <a:ext cx="1852865" cy="66651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9" name="תמונה 18">
            <a:extLst>
              <a:ext uri="{FF2B5EF4-FFF2-40B4-BE49-F238E27FC236}">
                <a16:creationId xmlns:a16="http://schemas.microsoft.com/office/drawing/2014/main" id="{51EFD9C0-F104-F379-0407-DB44492429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6044" y="2396893"/>
            <a:ext cx="4966678" cy="49666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52718-7259-257E-3DDA-4C7E72810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B34B4AE-C505-69E0-3267-8A8F7923ACED}"/>
              </a:ext>
            </a:extLst>
          </p:cNvPr>
          <p:cNvSpPr/>
          <p:nvPr/>
        </p:nvSpPr>
        <p:spPr>
          <a:xfrm>
            <a:off x="548539" y="305339"/>
            <a:ext cx="3314462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xmlns:a="http://schemas.openxmlformats.org/drawingml/2006/main" marL="0" indent="0" algn="l">
              <a:lnSpc>
                <a:spcPts val="1850"/>
              </a:lnSpc>
              <a:buNone/>
            </a:pPr>
            <a:r xmlns:a="http://schemas.openxmlformats.org/drawingml/2006/main">
              <a:rPr lang="en" sz="1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CHAPTER 4: ADVANCED ANALYTICS</a:t>
            </a:r>
            <a:endParaRPr xmlns:a="http://schemas.openxmlformats.org/drawingml/2006/main" lang="en-US" sz="14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67AA90E-77DA-1768-9E68-E4498230AFF6}"/>
              </a:ext>
            </a:extLst>
          </p:cNvPr>
          <p:cNvSpPr/>
          <p:nvPr/>
        </p:nvSpPr>
        <p:spPr>
          <a:xfrm>
            <a:off x="1017376" y="744313"/>
            <a:ext cx="7098506" cy="472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xmlns:a="http://schemas.openxmlformats.org/drawingml/2006/main" marL="0" indent="0" algn="l" defTabSz="914400" rtl="0" eaLnBrk="1" latinLnBrk="0" hangingPunct="1">
              <a:lnSpc>
                <a:spcPts val="3700"/>
              </a:lnSpc>
              <a:buNone/>
            </a:pPr>
            <a:r xmlns:a="http://schemas.openxmlformats.org/drawingml/2006/main">
              <a:rPr lang="en" sz="2950" dirty="0">
                <a:solidFill>
                  <a:srgbClr val="CBCCCE"/>
                </a:solidFill>
                <a:latin typeface="Instrument Sans Semi Bold" pitchFamily="34" charset="0"/>
              </a:rPr>
              <a:t>Link</a:t>
            </a:r>
            <a:endParaRPr xmlns:a="http://schemas.openxmlformats.org/drawingml/2006/main" lang="en-US" sz="2950" dirty="0"/>
          </a:p>
        </p:txBody>
      </p:sp>
      <p:pic>
        <p:nvPicPr>
          <p:cNvPr id="17" name="תמונה 16">
            <a:extLst>
              <a:ext uri="{FF2B5EF4-FFF2-40B4-BE49-F238E27FC236}">
                <a16:creationId xmlns:a16="http://schemas.microsoft.com/office/drawing/2014/main" id="{B262F69F-0547-671F-FAF8-28E1620C1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7537" y="7549434"/>
            <a:ext cx="1852865" cy="66651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5" name="קבוצה 4">
            <a:extLst>
              <a:ext uri="{FF2B5EF4-FFF2-40B4-BE49-F238E27FC236}">
                <a16:creationId xmlns:a16="http://schemas.microsoft.com/office/drawing/2014/main" id="{0DB29ACE-E5CC-DC87-1B2D-A4D7AB0448F4}"/>
              </a:ext>
            </a:extLst>
          </p:cNvPr>
          <p:cNvGrpSpPr/>
          <p:nvPr/>
        </p:nvGrpSpPr>
        <p:grpSpPr>
          <a:xfrm>
            <a:off x="1017376" y="1378058"/>
            <a:ext cx="12186872" cy="6504635"/>
            <a:chOff x="1000187" y="1493848"/>
            <a:chExt cx="12186872" cy="6504635"/>
          </a:xfrm>
        </p:grpSpPr>
        <p:grpSp>
          <p:nvGrpSpPr>
            <p:cNvPr id="33" name="קבוצה 32">
              <a:extLst>
                <a:ext uri="{FF2B5EF4-FFF2-40B4-BE49-F238E27FC236}">
                  <a16:creationId xmlns:a16="http://schemas.microsoft.com/office/drawing/2014/main" id="{7146B72C-EED8-E372-6109-0B5345ED15BF}"/>
                </a:ext>
              </a:extLst>
            </p:cNvPr>
            <p:cNvGrpSpPr/>
            <p:nvPr/>
          </p:nvGrpSpPr>
          <p:grpSpPr>
            <a:xfrm>
              <a:off x="1000187" y="1493848"/>
              <a:ext cx="12186872" cy="6504635"/>
              <a:chOff x="970356" y="1738826"/>
              <a:chExt cx="12186872" cy="6504635"/>
            </a:xfrm>
          </p:grpSpPr>
          <p:pic>
            <p:nvPicPr>
              <p:cNvPr id="20" name="תמונה 19">
                <a:hlinkClick r:id="rId4"/>
                <a:extLst>
                  <a:ext uri="{FF2B5EF4-FFF2-40B4-BE49-F238E27FC236}">
                    <a16:creationId xmlns:a16="http://schemas.microsoft.com/office/drawing/2014/main" id="{E7ED7E50-69CA-D2B0-01BE-7DC9059A69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54448" y="1738826"/>
                <a:ext cx="2880000" cy="1255829"/>
              </a:xfrm>
              <a:prstGeom prst="rect">
                <a:avLst/>
              </a:prstGeom>
            </p:spPr>
          </p:pic>
          <p:pic>
            <p:nvPicPr>
              <p:cNvPr id="21" name="תמונה 20">
                <a:hlinkClick r:id="rId6"/>
                <a:extLst>
                  <a:ext uri="{FF2B5EF4-FFF2-40B4-BE49-F238E27FC236}">
                    <a16:creationId xmlns:a16="http://schemas.microsoft.com/office/drawing/2014/main" id="{CF5F4D3C-CE7C-2C1E-F767-7EC14B45A4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15838" y="1738826"/>
                <a:ext cx="2880000" cy="1255829"/>
              </a:xfrm>
              <a:prstGeom prst="rect">
                <a:avLst/>
              </a:prstGeom>
            </p:spPr>
          </p:pic>
          <p:pic>
            <p:nvPicPr>
              <p:cNvPr id="18" name="תמונה 17">
                <a:hlinkClick r:id="rId8"/>
                <a:extLst>
                  <a:ext uri="{FF2B5EF4-FFF2-40B4-BE49-F238E27FC236}">
                    <a16:creationId xmlns:a16="http://schemas.microsoft.com/office/drawing/2014/main" id="{150F3B64-9D2C-7AA6-8F0B-EC9DE64E86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87545" y="1738826"/>
                <a:ext cx="2971799" cy="1255829"/>
              </a:xfrm>
              <a:prstGeom prst="rect">
                <a:avLst/>
              </a:prstGeom>
            </p:spPr>
          </p:pic>
          <p:pic>
            <p:nvPicPr>
              <p:cNvPr id="22" name="תמונה 21">
                <a:hlinkClick r:id="rId10"/>
                <a:extLst>
                  <a:ext uri="{FF2B5EF4-FFF2-40B4-BE49-F238E27FC236}">
                    <a16:creationId xmlns:a16="http://schemas.microsoft.com/office/drawing/2014/main" id="{EC20DD5C-11BE-AB56-9F87-50FC36CEFB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87545" y="3197171"/>
                <a:ext cx="2971797" cy="1594237"/>
              </a:xfrm>
              <a:prstGeom prst="rect">
                <a:avLst/>
              </a:prstGeom>
            </p:spPr>
          </p:pic>
          <p:pic>
            <p:nvPicPr>
              <p:cNvPr id="23" name="תמונה 22">
                <a:hlinkClick r:id="rId12"/>
                <a:extLst>
                  <a:ext uri="{FF2B5EF4-FFF2-40B4-BE49-F238E27FC236}">
                    <a16:creationId xmlns:a16="http://schemas.microsoft.com/office/drawing/2014/main" id="{FD12232C-A768-5BE3-CB3D-80E161828A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231085" y="5013186"/>
                <a:ext cx="2880000" cy="1560216"/>
              </a:xfrm>
              <a:prstGeom prst="rect">
                <a:avLst/>
              </a:prstGeom>
            </p:spPr>
          </p:pic>
          <p:pic>
            <p:nvPicPr>
              <p:cNvPr id="24" name="תמונה 23">
                <a:hlinkClick r:id="rId14"/>
                <a:extLst>
                  <a:ext uri="{FF2B5EF4-FFF2-40B4-BE49-F238E27FC236}">
                    <a16:creationId xmlns:a16="http://schemas.microsoft.com/office/drawing/2014/main" id="{3CC37011-8A34-CD8F-E876-1D8A88DAF0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215838" y="3197172"/>
                <a:ext cx="2880000" cy="1643419"/>
              </a:xfrm>
              <a:prstGeom prst="rect">
                <a:avLst/>
              </a:prstGeom>
            </p:spPr>
          </p:pic>
          <p:pic>
            <p:nvPicPr>
              <p:cNvPr id="26" name="תמונה 25">
                <a:hlinkClick r:id="rId16"/>
                <a:extLst>
                  <a:ext uri="{FF2B5EF4-FFF2-40B4-BE49-F238E27FC236}">
                    <a16:creationId xmlns:a16="http://schemas.microsoft.com/office/drawing/2014/main" id="{571EBC63-4ABE-B60E-5CDA-44C4CE8D3D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277228" y="3172579"/>
                <a:ext cx="2880000" cy="1643419"/>
              </a:xfrm>
              <a:prstGeom prst="rect">
                <a:avLst/>
              </a:prstGeom>
            </p:spPr>
          </p:pic>
          <p:pic>
            <p:nvPicPr>
              <p:cNvPr id="27" name="תמונה 26">
                <a:hlinkClick r:id="rId18"/>
                <a:extLst>
                  <a:ext uri="{FF2B5EF4-FFF2-40B4-BE49-F238E27FC236}">
                    <a16:creationId xmlns:a16="http://schemas.microsoft.com/office/drawing/2014/main" id="{4A301426-9931-C08D-047D-3710B26C42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262927" y="4998428"/>
                <a:ext cx="2880000" cy="1643419"/>
              </a:xfrm>
              <a:prstGeom prst="rect">
                <a:avLst/>
              </a:prstGeom>
            </p:spPr>
          </p:pic>
          <p:pic>
            <p:nvPicPr>
              <p:cNvPr id="28" name="תמונה 27">
                <a:hlinkClick r:id="rId20"/>
                <a:extLst>
                  <a:ext uri="{FF2B5EF4-FFF2-40B4-BE49-F238E27FC236}">
                    <a16:creationId xmlns:a16="http://schemas.microsoft.com/office/drawing/2014/main" id="{8411CEDB-071F-8E03-D80D-365203BBC5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199244" y="4971585"/>
                <a:ext cx="2880000" cy="1643419"/>
              </a:xfrm>
              <a:prstGeom prst="rect">
                <a:avLst/>
              </a:prstGeom>
            </p:spPr>
          </p:pic>
          <p:pic>
            <p:nvPicPr>
              <p:cNvPr id="29" name="תמונה 28">
                <a:hlinkClick r:id="rId22"/>
                <a:extLst>
                  <a:ext uri="{FF2B5EF4-FFF2-40B4-BE49-F238E27FC236}">
                    <a16:creationId xmlns:a16="http://schemas.microsoft.com/office/drawing/2014/main" id="{C236AE39-1393-63A2-8AC1-BC095BCB39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87545" y="4971585"/>
                <a:ext cx="2971798" cy="1643419"/>
              </a:xfrm>
              <a:prstGeom prst="rect">
                <a:avLst/>
              </a:prstGeom>
            </p:spPr>
          </p:pic>
          <p:pic>
            <p:nvPicPr>
              <p:cNvPr id="30" name="תמונה 29">
                <a:hlinkClick r:id="rId24"/>
                <a:extLst>
                  <a:ext uri="{FF2B5EF4-FFF2-40B4-BE49-F238E27FC236}">
                    <a16:creationId xmlns:a16="http://schemas.microsoft.com/office/drawing/2014/main" id="{0D611B90-9F3A-E100-509D-905CFC5100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/>
              <a:srcRect t="19386"/>
              <a:stretch>
                <a:fillRect/>
              </a:stretch>
            </p:blipFill>
            <p:spPr>
              <a:xfrm>
                <a:off x="970356" y="6795181"/>
                <a:ext cx="3006175" cy="1448280"/>
              </a:xfrm>
              <a:prstGeom prst="rect">
                <a:avLst/>
              </a:prstGeom>
            </p:spPr>
          </p:pic>
          <p:pic>
            <p:nvPicPr>
              <p:cNvPr id="31" name="תמונה 30">
                <a:hlinkClick r:id="rId26"/>
                <a:extLst>
                  <a:ext uri="{FF2B5EF4-FFF2-40B4-BE49-F238E27FC236}">
                    <a16:creationId xmlns:a16="http://schemas.microsoft.com/office/drawing/2014/main" id="{6C7FEA4A-A312-1C78-C863-743DC62F7A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154448" y="3186001"/>
                <a:ext cx="2880000" cy="1594237"/>
              </a:xfrm>
              <a:prstGeom prst="rect">
                <a:avLst/>
              </a:prstGeom>
            </p:spPr>
          </p:pic>
          <p:pic>
            <p:nvPicPr>
              <p:cNvPr id="32" name="תמונה 31">
                <a:hlinkClick r:id="rId27"/>
                <a:extLst>
                  <a:ext uri="{FF2B5EF4-FFF2-40B4-BE49-F238E27FC236}">
                    <a16:creationId xmlns:a16="http://schemas.microsoft.com/office/drawing/2014/main" id="{E3A91AA0-391E-4D13-5AEB-B99DE83465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244040" y="6795181"/>
                <a:ext cx="2790408" cy="1419391"/>
              </a:xfrm>
              <a:prstGeom prst="rect">
                <a:avLst/>
              </a:prstGeom>
            </p:spPr>
          </p:pic>
        </p:grpSp>
        <p:pic>
          <p:nvPicPr>
            <p:cNvPr id="4" name="תמונה 3">
              <a:extLst>
                <a:ext uri="{FF2B5EF4-FFF2-40B4-BE49-F238E27FC236}">
                  <a16:creationId xmlns:a16="http://schemas.microsoft.com/office/drawing/2014/main" id="{68F05F38-C474-E738-4E93-7C9017502A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rcRect b="7256"/>
            <a:stretch>
              <a:fillRect/>
            </a:stretch>
          </p:blipFill>
          <p:spPr>
            <a:xfrm>
              <a:off x="10307059" y="1493848"/>
              <a:ext cx="2865697" cy="12558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27817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976</Words>
  <Application>Microsoft Macintosh PowerPoint</Application>
  <PresentationFormat>מותאם אישית</PresentationFormat>
  <Paragraphs>112</Paragraphs>
  <Slides>7</Slides>
  <Notes>7</Notes>
  <HiddenSlides>0</HiddenSlides>
  <MMClips>1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7</vt:i4>
      </vt:variant>
    </vt:vector>
  </HeadingPairs>
  <TitlesOfParts>
    <vt:vector size="11" baseType="lpstr">
      <vt:lpstr>Instrument Sans Medium</vt:lpstr>
      <vt:lpstr>Instrument Sans Semi Bold</vt:lpstr>
      <vt:lpstr>Arial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סהר חיים יעקב</cp:lastModifiedBy>
  <cp:revision>5</cp:revision>
  <dcterms:created xsi:type="dcterms:W3CDTF">2025-08-16T13:22:57Z</dcterms:created>
  <dcterms:modified xsi:type="dcterms:W3CDTF">2025-08-18T14:29:26Z</dcterms:modified>
</cp:coreProperties>
</file>